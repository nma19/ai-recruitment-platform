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x="18288000" cy="10287000"/>
  <p:notesSz cx="6858000" cy="9144000"/>
  <p:embeddedFontLst>
    <p:embeddedFont>
      <p:font typeface="Roca Two Bold" charset="1" panose="00000800000000000000"/>
      <p:regular r:id="rId44"/>
    </p:embeddedFont>
    <p:embeddedFont>
      <p:font typeface="Roca Two" charset="1" panose="00000500000000000000"/>
      <p:regular r:id="rId45"/>
    </p:embeddedFont>
    <p:embeddedFont>
      <p:font typeface="IBM Plex Sans" charset="1" panose="020B0503050203000203"/>
      <p:regular r:id="rId46"/>
    </p:embeddedFont>
    <p:embeddedFont>
      <p:font typeface="Aptos Bold" charset="1" panose="020B0004020202020204"/>
      <p:regular r:id="rId47"/>
    </p:embeddedFont>
    <p:embeddedFont>
      <p:font typeface="IBM Plex Sans Bold" charset="1" panose="020B0803050203000203"/>
      <p:regular r:id="rId48"/>
    </p:embeddedFont>
    <p:embeddedFont>
      <p:font typeface="Canva Sans Bold" charset="1" panose="020B0803030501040103"/>
      <p:regular r:id="rId49"/>
    </p:embeddedFont>
    <p:embeddedFont>
      <p:font typeface="TT Fors Bold" charset="1" panose="020B0003030001020000"/>
      <p:regular r:id="rId50"/>
    </p:embeddedFont>
    <p:embeddedFont>
      <p:font typeface="Glacial Indifference Bold" charset="1" panose="00000800000000000000"/>
      <p:regular r:id="rId51"/>
    </p:embeddedFont>
    <p:embeddedFont>
      <p:font typeface="Glacial Indifference" charset="1" panose="00000000000000000000"/>
      <p:regular r:id="rId5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51" Target="fonts/font51.fntdata" Type="http://schemas.openxmlformats.org/officeDocument/2006/relationships/font"/><Relationship Id="rId52" Target="fonts/font52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35.png" Type="http://schemas.openxmlformats.org/officeDocument/2006/relationships/image"/><Relationship Id="rId4" Target="../media/image36.svg" Type="http://schemas.openxmlformats.org/officeDocument/2006/relationships/image"/><Relationship Id="rId5" Target="../media/image37.png" Type="http://schemas.openxmlformats.org/officeDocument/2006/relationships/image"/><Relationship Id="rId6" Target="../media/image38.svg" Type="http://schemas.openxmlformats.org/officeDocument/2006/relationships/image"/><Relationship Id="rId7" Target="../media/image39.png" Type="http://schemas.openxmlformats.org/officeDocument/2006/relationships/image"/><Relationship Id="rId8" Target="../media/image40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2.png" Type="http://schemas.openxmlformats.org/officeDocument/2006/relationships/image"/><Relationship Id="rId4" Target="../media/image43.svg" Type="http://schemas.openxmlformats.org/officeDocument/2006/relationships/image"/><Relationship Id="rId5" Target="../media/image44.png" Type="http://schemas.openxmlformats.org/officeDocument/2006/relationships/image"/><Relationship Id="rId6" Target="../media/image45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jpe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7.png" Type="http://schemas.openxmlformats.org/officeDocument/2006/relationships/image"/><Relationship Id="rId4" Target="../media/image48.svg" Type="http://schemas.openxmlformats.org/officeDocument/2006/relationships/image"/><Relationship Id="rId5" Target="../media/image49.png" Type="http://schemas.openxmlformats.org/officeDocument/2006/relationships/image"/><Relationship Id="rId6" Target="../media/image50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1.png" Type="http://schemas.openxmlformats.org/officeDocument/2006/relationships/image"/><Relationship Id="rId3" Target="../media/image3.jpeg" Type="http://schemas.openxmlformats.org/officeDocument/2006/relationships/image"/><Relationship Id="rId4" Target="../media/image52.png" Type="http://schemas.openxmlformats.org/officeDocument/2006/relationships/image"/><Relationship Id="rId5" Target="../media/image53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4.png" Type="http://schemas.openxmlformats.org/officeDocument/2006/relationships/image"/><Relationship Id="rId4" Target="../media/image55.svg" Type="http://schemas.openxmlformats.org/officeDocument/2006/relationships/image"/><Relationship Id="rId5" Target="../media/image56.png" Type="http://schemas.openxmlformats.org/officeDocument/2006/relationships/image"/><Relationship Id="rId6" Target="../media/image57.svg" Type="http://schemas.openxmlformats.org/officeDocument/2006/relationships/image"/><Relationship Id="rId7" Target="../media/image58.png" Type="http://schemas.openxmlformats.org/officeDocument/2006/relationships/image"/><Relationship Id="rId8" Target="../media/image59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0.jpe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1.jpeg" Type="http://schemas.openxmlformats.org/officeDocument/2006/relationships/image"/><Relationship Id="rId3" Target="../media/VAHNcME4dXg.mp4" Type="http://schemas.openxmlformats.org/officeDocument/2006/relationships/video"/><Relationship Id="rId4" Target="../media/VAHNcME4dXg.mp4" Type="http://schemas.microsoft.com/office/2007/relationships/media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62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1.png" Type="http://schemas.openxmlformats.org/officeDocument/2006/relationships/image"/><Relationship Id="rId11" Target="../media/image72.svg" Type="http://schemas.openxmlformats.org/officeDocument/2006/relationships/image"/><Relationship Id="rId12" Target="../media/image73.png" Type="http://schemas.openxmlformats.org/officeDocument/2006/relationships/image"/><Relationship Id="rId13" Target="../media/image74.svg" Type="http://schemas.openxmlformats.org/officeDocument/2006/relationships/image"/><Relationship Id="rId14" Target="../media/image75.png" Type="http://schemas.openxmlformats.org/officeDocument/2006/relationships/image"/><Relationship Id="rId15" Target="../media/image76.svg" Type="http://schemas.openxmlformats.org/officeDocument/2006/relationships/image"/><Relationship Id="rId16" Target="../media/image77.png" Type="http://schemas.openxmlformats.org/officeDocument/2006/relationships/image"/><Relationship Id="rId17" Target="../media/image78.svg" Type="http://schemas.openxmlformats.org/officeDocument/2006/relationships/image"/><Relationship Id="rId18" Target="../media/image79.png" Type="http://schemas.openxmlformats.org/officeDocument/2006/relationships/image"/><Relationship Id="rId19" Target="../media/image80.svg" Type="http://schemas.openxmlformats.org/officeDocument/2006/relationships/image"/><Relationship Id="rId2" Target="../media/image63.png" Type="http://schemas.openxmlformats.org/officeDocument/2006/relationships/image"/><Relationship Id="rId3" Target="../media/image64.svg" Type="http://schemas.openxmlformats.org/officeDocument/2006/relationships/image"/><Relationship Id="rId4" Target="../media/image65.png" Type="http://schemas.openxmlformats.org/officeDocument/2006/relationships/image"/><Relationship Id="rId5" Target="../media/image66.svg" Type="http://schemas.openxmlformats.org/officeDocument/2006/relationships/image"/><Relationship Id="rId6" Target="../media/image67.png" Type="http://schemas.openxmlformats.org/officeDocument/2006/relationships/image"/><Relationship Id="rId7" Target="../media/image68.svg" Type="http://schemas.openxmlformats.org/officeDocument/2006/relationships/image"/><Relationship Id="rId8" Target="../media/image69.png" Type="http://schemas.openxmlformats.org/officeDocument/2006/relationships/image"/><Relationship Id="rId9" Target="../media/image70.sv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81.png" Type="http://schemas.openxmlformats.org/officeDocument/2006/relationships/image"/><Relationship Id="rId4" Target="../embeddings/oleObject1.bin" Type="http://schemas.openxmlformats.org/officeDocument/2006/relationships/oleObject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2.png" Type="http://schemas.openxmlformats.org/officeDocument/2006/relationships/image"/><Relationship Id="rId3" Target="../media/image83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2.png" Type="http://schemas.openxmlformats.org/officeDocument/2006/relationships/image"/><Relationship Id="rId3" Target="../media/image83.png" Type="http://schemas.openxmlformats.org/officeDocument/2006/relationships/image"/><Relationship Id="rId4" Target="../media/image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6324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-2753"/>
            <a:ext cx="18288000" cy="10287000"/>
            <a:chOff x="0" y="0"/>
            <a:chExt cx="2438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147253" y="-1117178"/>
            <a:ext cx="6257925" cy="6257925"/>
            <a:chOff x="0" y="0"/>
            <a:chExt cx="8343900" cy="83439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343900" cy="8343900"/>
            </a:xfrm>
            <a:custGeom>
              <a:avLst/>
              <a:gdLst/>
              <a:ahLst/>
              <a:cxnLst/>
              <a:rect r="r" b="b" t="t" l="l"/>
              <a:pathLst>
                <a:path h="8343900" w="8343900">
                  <a:moveTo>
                    <a:pt x="0" y="4171950"/>
                  </a:moveTo>
                  <a:cubicBezTo>
                    <a:pt x="0" y="1867789"/>
                    <a:pt x="1867789" y="0"/>
                    <a:pt x="4171950" y="0"/>
                  </a:cubicBezTo>
                  <a:cubicBezTo>
                    <a:pt x="6476111" y="0"/>
                    <a:pt x="8343900" y="1867789"/>
                    <a:pt x="8343900" y="4171950"/>
                  </a:cubicBezTo>
                  <a:cubicBezTo>
                    <a:pt x="8343900" y="6476111"/>
                    <a:pt x="6476111" y="8343900"/>
                    <a:pt x="4171950" y="8343900"/>
                  </a:cubicBezTo>
                  <a:cubicBezTo>
                    <a:pt x="1867789" y="8343900"/>
                    <a:pt x="0" y="6476111"/>
                    <a:pt x="0" y="4171950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  <a:ln w="38100" cap="sq">
              <a:solidFill>
                <a:srgbClr val="E8743C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3886631" y="719061"/>
            <a:ext cx="4048125" cy="4048125"/>
            <a:chOff x="0" y="0"/>
            <a:chExt cx="5397500" cy="5397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97500" cy="5397500"/>
            </a:xfrm>
            <a:custGeom>
              <a:avLst/>
              <a:gdLst/>
              <a:ahLst/>
              <a:cxnLst/>
              <a:rect r="r" b="b" t="t" l="l"/>
              <a:pathLst>
                <a:path h="5397500" w="5397500">
                  <a:moveTo>
                    <a:pt x="0" y="2698750"/>
                  </a:moveTo>
                  <a:cubicBezTo>
                    <a:pt x="0" y="1208278"/>
                    <a:pt x="1208278" y="0"/>
                    <a:pt x="2698750" y="0"/>
                  </a:cubicBezTo>
                  <a:cubicBezTo>
                    <a:pt x="4189222" y="0"/>
                    <a:pt x="5397500" y="1208278"/>
                    <a:pt x="5397500" y="2698750"/>
                  </a:cubicBezTo>
                  <a:cubicBezTo>
                    <a:pt x="5397500" y="4189222"/>
                    <a:pt x="4189222" y="5397500"/>
                    <a:pt x="2698750" y="5397500"/>
                  </a:cubicBezTo>
                  <a:cubicBezTo>
                    <a:pt x="1208278" y="5397500"/>
                    <a:pt x="0" y="4189222"/>
                    <a:pt x="0" y="2698750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  <a:ln w="28576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2348321" y="2743124"/>
            <a:ext cx="1182448" cy="1182448"/>
          </a:xfrm>
          <a:custGeom>
            <a:avLst/>
            <a:gdLst/>
            <a:ahLst/>
            <a:cxnLst/>
            <a:rect r="r" b="b" t="t" l="l"/>
            <a:pathLst>
              <a:path h="1182448" w="1182448">
                <a:moveTo>
                  <a:pt x="0" y="0"/>
                </a:moveTo>
                <a:lnTo>
                  <a:pt x="1182448" y="0"/>
                </a:lnTo>
                <a:lnTo>
                  <a:pt x="1182448" y="1182448"/>
                </a:lnTo>
                <a:lnTo>
                  <a:pt x="0" y="11824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3" id="13"/>
          <p:cNvGrpSpPr/>
          <p:nvPr/>
        </p:nvGrpSpPr>
        <p:grpSpPr>
          <a:xfrm rot="0">
            <a:off x="1558734" y="3788271"/>
            <a:ext cx="6544035" cy="2170137"/>
            <a:chOff x="0" y="0"/>
            <a:chExt cx="8725381" cy="289351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725375" cy="2893514"/>
            </a:xfrm>
            <a:custGeom>
              <a:avLst/>
              <a:gdLst/>
              <a:ahLst/>
              <a:cxnLst/>
              <a:rect r="r" b="b" t="t" l="l"/>
              <a:pathLst>
                <a:path h="2893514" w="8725375">
                  <a:moveTo>
                    <a:pt x="0" y="0"/>
                  </a:moveTo>
                  <a:lnTo>
                    <a:pt x="8725375" y="0"/>
                  </a:lnTo>
                  <a:lnTo>
                    <a:pt x="8725375" y="2893514"/>
                  </a:lnTo>
                  <a:lnTo>
                    <a:pt x="0" y="289351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329" r="23781" b="2076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8725381" cy="28935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903"/>
                </a:lnSpc>
              </a:pPr>
              <a:r>
                <a:rPr lang="en-US" b="true" sz="9919" spc="-247">
                  <a:solidFill>
                    <a:srgbClr val="FFFFFF"/>
                  </a:solidFill>
                  <a:latin typeface="Roca Two Bold"/>
                  <a:ea typeface="Roca Two Bold"/>
                  <a:cs typeface="Roca Two Bold"/>
                  <a:sym typeface="Roca Two Bold"/>
                </a:rPr>
                <a:t>RequAI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28700" y="5662165"/>
            <a:ext cx="11875741" cy="975345"/>
            <a:chOff x="0" y="0"/>
            <a:chExt cx="15834322" cy="13004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834320" cy="1300460"/>
            </a:xfrm>
            <a:custGeom>
              <a:avLst/>
              <a:gdLst/>
              <a:ahLst/>
              <a:cxnLst/>
              <a:rect r="r" b="b" t="t" l="l"/>
              <a:pathLst>
                <a:path h="1300460" w="15834320">
                  <a:moveTo>
                    <a:pt x="0" y="0"/>
                  </a:moveTo>
                  <a:lnTo>
                    <a:pt x="15834320" y="0"/>
                  </a:lnTo>
                  <a:lnTo>
                    <a:pt x="15834320" y="1300460"/>
                  </a:lnTo>
                  <a:lnTo>
                    <a:pt x="0" y="13004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0138" r="0" b="-17435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15834322" cy="1300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352"/>
                </a:lnSpc>
              </a:pPr>
              <a:r>
                <a:rPr lang="en-US" sz="4460">
                  <a:solidFill>
                    <a:srgbClr val="F3F5F6"/>
                  </a:solidFill>
                  <a:latin typeface="Roca Two"/>
                  <a:ea typeface="Roca Two"/>
                  <a:cs typeface="Roca Two"/>
                  <a:sym typeface="Roca Two"/>
                </a:rPr>
                <a:t>A Smart Recruitment Assistant —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28700" y="6353146"/>
            <a:ext cx="12916833" cy="975345"/>
            <a:chOff x="0" y="0"/>
            <a:chExt cx="17222445" cy="13004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7222451" cy="1300460"/>
            </a:xfrm>
            <a:custGeom>
              <a:avLst/>
              <a:gdLst/>
              <a:ahLst/>
              <a:cxnLst/>
              <a:rect r="r" b="b" t="t" l="l"/>
              <a:pathLst>
                <a:path h="1300460" w="17222451">
                  <a:moveTo>
                    <a:pt x="0" y="0"/>
                  </a:moveTo>
                  <a:lnTo>
                    <a:pt x="17222451" y="0"/>
                  </a:lnTo>
                  <a:lnTo>
                    <a:pt x="17222451" y="1300460"/>
                  </a:lnTo>
                  <a:lnTo>
                    <a:pt x="0" y="13004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0937" r="0" b="-19515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7222445" cy="1300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352"/>
                </a:lnSpc>
              </a:pPr>
              <a:r>
                <a:rPr lang="en-US" sz="4460">
                  <a:solidFill>
                    <a:srgbClr val="F3F5F6"/>
                  </a:solidFill>
                  <a:latin typeface="Roca Two"/>
                  <a:ea typeface="Roca Two"/>
                  <a:cs typeface="Roca Two"/>
                  <a:sym typeface="Roca Two"/>
                </a:rPr>
                <a:t>Chatbot Extension for Wassit Online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97156" y="7908427"/>
            <a:ext cx="3429133" cy="440253"/>
            <a:chOff x="0" y="0"/>
            <a:chExt cx="4572178" cy="58700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572179" cy="587004"/>
            </a:xfrm>
            <a:custGeom>
              <a:avLst/>
              <a:gdLst/>
              <a:ahLst/>
              <a:cxnLst/>
              <a:rect r="r" b="b" t="t" l="l"/>
              <a:pathLst>
                <a:path h="587004" w="4572179">
                  <a:moveTo>
                    <a:pt x="0" y="0"/>
                  </a:moveTo>
                  <a:lnTo>
                    <a:pt x="4572179" y="0"/>
                  </a:lnTo>
                  <a:lnTo>
                    <a:pt x="4572179" y="587004"/>
                  </a:lnTo>
                  <a:lnTo>
                    <a:pt x="0" y="5870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4989" r="0" b="-8854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4572178" cy="5870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3"/>
                </a:lnSpc>
              </a:pPr>
              <a:r>
                <a:rPr lang="en-US" sz="2019" spc="503">
                  <a:solidFill>
                    <a:srgbClr val="8B99A7"/>
                  </a:solidFill>
                  <a:latin typeface="Roca Two"/>
                  <a:ea typeface="Roca Two"/>
                  <a:cs typeface="Roca Two"/>
                  <a:sym typeface="Roca Two"/>
                </a:rPr>
                <a:t>PRESENTED BY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97156" y="8395249"/>
            <a:ext cx="4186980" cy="476250"/>
            <a:chOff x="0" y="0"/>
            <a:chExt cx="5582641" cy="635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582643" cy="635000"/>
            </a:xfrm>
            <a:custGeom>
              <a:avLst/>
              <a:gdLst/>
              <a:ahLst/>
              <a:cxnLst/>
              <a:rect r="r" b="b" t="t" l="l"/>
              <a:pathLst>
                <a:path h="635000" w="5582643">
                  <a:moveTo>
                    <a:pt x="0" y="0"/>
                  </a:moveTo>
                  <a:lnTo>
                    <a:pt x="5582643" y="0"/>
                  </a:lnTo>
                  <a:lnTo>
                    <a:pt x="5582643" y="635000"/>
                  </a:lnTo>
                  <a:lnTo>
                    <a:pt x="0" y="635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1303" r="0" b="-12130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5582641" cy="63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55"/>
                </a:lnSpc>
              </a:pPr>
              <a:r>
                <a:rPr lang="en-US" sz="2879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Benameur Khaoula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97156" y="8943975"/>
            <a:ext cx="5059175" cy="476250"/>
            <a:chOff x="0" y="0"/>
            <a:chExt cx="6745567" cy="635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745565" cy="635000"/>
            </a:xfrm>
            <a:custGeom>
              <a:avLst/>
              <a:gdLst/>
              <a:ahLst/>
              <a:cxnLst/>
              <a:rect r="r" b="b" t="t" l="l"/>
              <a:pathLst>
                <a:path h="635000" w="6745565">
                  <a:moveTo>
                    <a:pt x="0" y="0"/>
                  </a:moveTo>
                  <a:lnTo>
                    <a:pt x="6745565" y="0"/>
                  </a:lnTo>
                  <a:lnTo>
                    <a:pt x="6745565" y="635000"/>
                  </a:lnTo>
                  <a:lnTo>
                    <a:pt x="0" y="635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6988" r="0" b="-15698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6745567" cy="63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55"/>
                </a:lnSpc>
              </a:pPr>
              <a:r>
                <a:rPr lang="en-US" sz="2879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Nedjem Mohamed Anis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815308" y="7908427"/>
            <a:ext cx="3617195" cy="440253"/>
            <a:chOff x="0" y="0"/>
            <a:chExt cx="4822927" cy="58700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822925" cy="587004"/>
            </a:xfrm>
            <a:custGeom>
              <a:avLst/>
              <a:gdLst/>
              <a:ahLst/>
              <a:cxnLst/>
              <a:rect r="r" b="b" t="t" l="l"/>
              <a:pathLst>
                <a:path h="587004" w="4822925">
                  <a:moveTo>
                    <a:pt x="0" y="0"/>
                  </a:moveTo>
                  <a:lnTo>
                    <a:pt x="4822925" y="0"/>
                  </a:lnTo>
                  <a:lnTo>
                    <a:pt x="4822925" y="587004"/>
                  </a:lnTo>
                  <a:lnTo>
                    <a:pt x="0" y="5870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3312" r="0" b="-9687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4822927" cy="5870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3"/>
                </a:lnSpc>
              </a:pPr>
              <a:r>
                <a:rPr lang="en-US" sz="2019" spc="503">
                  <a:solidFill>
                    <a:srgbClr val="8B99A7"/>
                  </a:solidFill>
                  <a:latin typeface="Roca Two"/>
                  <a:ea typeface="Roca Two"/>
                  <a:cs typeface="Roca Two"/>
                  <a:sym typeface="Roca Two"/>
                </a:rPr>
                <a:t>SUPERVISED BY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5815308" y="8395249"/>
            <a:ext cx="4520536" cy="476250"/>
            <a:chOff x="0" y="0"/>
            <a:chExt cx="6027382" cy="635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027381" cy="635000"/>
            </a:xfrm>
            <a:custGeom>
              <a:avLst/>
              <a:gdLst/>
              <a:ahLst/>
              <a:cxnLst/>
              <a:rect r="r" b="b" t="t" l="l"/>
              <a:pathLst>
                <a:path h="635000" w="6027381">
                  <a:moveTo>
                    <a:pt x="0" y="0"/>
                  </a:moveTo>
                  <a:lnTo>
                    <a:pt x="6027381" y="0"/>
                  </a:lnTo>
                  <a:lnTo>
                    <a:pt x="6027381" y="635000"/>
                  </a:lnTo>
                  <a:lnTo>
                    <a:pt x="0" y="635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4950" r="0" b="-13495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6027382" cy="63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55"/>
                </a:lnSpc>
              </a:pPr>
              <a:r>
                <a:rPr lang="en-US" sz="2879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Dr. Telghamti Samira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5325277" y="8953500"/>
            <a:ext cx="2539527" cy="631271"/>
            <a:chOff x="0" y="0"/>
            <a:chExt cx="3386036" cy="84169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386038" cy="841693"/>
            </a:xfrm>
            <a:custGeom>
              <a:avLst/>
              <a:gdLst/>
              <a:ahLst/>
              <a:cxnLst/>
              <a:rect r="r" b="b" t="t" l="l"/>
              <a:pathLst>
                <a:path h="841693" w="3386038">
                  <a:moveTo>
                    <a:pt x="0" y="0"/>
                  </a:moveTo>
                  <a:lnTo>
                    <a:pt x="3386038" y="0"/>
                  </a:lnTo>
                  <a:lnTo>
                    <a:pt x="3386038" y="841693"/>
                  </a:lnTo>
                  <a:lnTo>
                    <a:pt x="0" y="84169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418" r="0" b="-15353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3386036" cy="851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55"/>
                </a:lnSpc>
              </a:pPr>
              <a:r>
                <a:rPr lang="en-US" sz="2879">
                  <a:solidFill>
                    <a:srgbClr val="E8743B"/>
                  </a:solidFill>
                  <a:latin typeface="Roca Two"/>
                  <a:ea typeface="Roca Two"/>
                  <a:cs typeface="Roca Two"/>
                  <a:sym typeface="Roca Two"/>
                </a:rPr>
                <a:t>June 2026</a:t>
              </a:r>
            </a:p>
          </p:txBody>
        </p:sp>
      </p:grpSp>
      <p:sp>
        <p:nvSpPr>
          <p:cNvPr name="Freeform 40" id="40" descr="preencoded.png"/>
          <p:cNvSpPr/>
          <p:nvPr/>
        </p:nvSpPr>
        <p:spPr>
          <a:xfrm flipH="false" flipV="false" rot="0">
            <a:off x="1095375" y="7560469"/>
            <a:ext cx="16097250" cy="1905000"/>
          </a:xfrm>
          <a:custGeom>
            <a:avLst/>
            <a:gdLst/>
            <a:ahLst/>
            <a:cxnLst/>
            <a:rect r="r" b="b" t="t" l="l"/>
            <a:pathLst>
              <a:path h="1905000" w="16097250">
                <a:moveTo>
                  <a:pt x="0" y="0"/>
                </a:moveTo>
                <a:lnTo>
                  <a:pt x="16097250" y="0"/>
                </a:lnTo>
                <a:lnTo>
                  <a:pt x="16097250" y="1905000"/>
                </a:lnTo>
                <a:lnTo>
                  <a:pt x="0" y="19050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8493294" y="2743124"/>
            <a:ext cx="1189569" cy="1196677"/>
          </a:xfrm>
          <a:custGeom>
            <a:avLst/>
            <a:gdLst/>
            <a:ahLst/>
            <a:cxnLst/>
            <a:rect r="r" b="b" t="t" l="l"/>
            <a:pathLst>
              <a:path h="1196677" w="1189569">
                <a:moveTo>
                  <a:pt x="0" y="0"/>
                </a:moveTo>
                <a:lnTo>
                  <a:pt x="1189569" y="0"/>
                </a:lnTo>
                <a:lnTo>
                  <a:pt x="1189569" y="1196677"/>
                </a:lnTo>
                <a:lnTo>
                  <a:pt x="0" y="11966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5416719" y="2743124"/>
            <a:ext cx="1196677" cy="1196677"/>
          </a:xfrm>
          <a:custGeom>
            <a:avLst/>
            <a:gdLst/>
            <a:ahLst/>
            <a:cxnLst/>
            <a:rect r="r" b="b" t="t" l="l"/>
            <a:pathLst>
              <a:path h="1196677" w="1196677">
                <a:moveTo>
                  <a:pt x="0" y="0"/>
                </a:moveTo>
                <a:lnTo>
                  <a:pt x="1196677" y="0"/>
                </a:lnTo>
                <a:lnTo>
                  <a:pt x="1196677" y="1196677"/>
                </a:lnTo>
                <a:lnTo>
                  <a:pt x="0" y="119667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1569869" y="2785172"/>
            <a:ext cx="1182448" cy="1182448"/>
          </a:xfrm>
          <a:custGeom>
            <a:avLst/>
            <a:gdLst/>
            <a:ahLst/>
            <a:cxnLst/>
            <a:rect r="r" b="b" t="t" l="l"/>
            <a:pathLst>
              <a:path h="1182448" w="1182448">
                <a:moveTo>
                  <a:pt x="0" y="0"/>
                </a:moveTo>
                <a:lnTo>
                  <a:pt x="1182449" y="0"/>
                </a:lnTo>
                <a:lnTo>
                  <a:pt x="1182449" y="1182448"/>
                </a:lnTo>
                <a:lnTo>
                  <a:pt x="0" y="118244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4646444" y="2770944"/>
            <a:ext cx="1196677" cy="1196677"/>
          </a:xfrm>
          <a:custGeom>
            <a:avLst/>
            <a:gdLst/>
            <a:ahLst/>
            <a:cxnLst/>
            <a:rect r="r" b="b" t="t" l="l"/>
            <a:pathLst>
              <a:path h="1196677" w="1196677">
                <a:moveTo>
                  <a:pt x="0" y="0"/>
                </a:moveTo>
                <a:lnTo>
                  <a:pt x="1196677" y="0"/>
                </a:lnTo>
                <a:lnTo>
                  <a:pt x="1196677" y="1196676"/>
                </a:lnTo>
                <a:lnTo>
                  <a:pt x="0" y="119667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1274311" y="628574"/>
            <a:ext cx="15645179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9"/>
              </a:lnSpc>
            </a:pPr>
            <a:r>
              <a:rPr lang="en-US" b="true" sz="2999">
                <a:solidFill>
                  <a:srgbClr val="FAE3D8"/>
                </a:solidFill>
                <a:latin typeface="Aptos Bold"/>
                <a:ea typeface="Aptos Bold"/>
                <a:cs typeface="Aptos Bold"/>
                <a:sym typeface="Aptos Bold"/>
              </a:rPr>
              <a:t>UNIVERSITY OF CONSTANTINE 2 – ABDELHAMID MEHRI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21411" y="1113594"/>
            <a:ext cx="15645179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9"/>
              </a:lnSpc>
            </a:pPr>
            <a:r>
              <a:rPr lang="en-US" b="true" sz="2999">
                <a:solidFill>
                  <a:srgbClr val="FAE3D8"/>
                </a:solidFill>
                <a:latin typeface="Aptos Bold"/>
                <a:ea typeface="Aptos Bold"/>
                <a:cs typeface="Aptos Bold"/>
                <a:sym typeface="Aptos Bold"/>
              </a:rPr>
              <a:t>FACULTY OF NEW TECHNOLOGIES  OF INFORMATION AND COMMUNICATION (NTIC)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74311" y="1621260"/>
            <a:ext cx="15645179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9"/>
              </a:lnSpc>
            </a:pPr>
            <a:r>
              <a:rPr lang="en-US" b="true" sz="2999">
                <a:solidFill>
                  <a:srgbClr val="FAE3D8"/>
                </a:solidFill>
                <a:latin typeface="Aptos Bold"/>
                <a:ea typeface="Aptos Bold"/>
                <a:cs typeface="Aptos Bold"/>
                <a:sym typeface="Aptos Bold"/>
              </a:rPr>
              <a:t>DEPARTMENT OF SOFTWARE TECHNOLOGIES AND INFORMATION SYSTEMS (TLSI) </a:t>
            </a:r>
          </a:p>
          <a:p>
            <a:pPr algn="ctr">
              <a:lnSpc>
                <a:spcPts val="3299"/>
              </a:lnSpc>
            </a:pPr>
            <a:r>
              <a:rPr lang="en-US" b="true" sz="2999">
                <a:solidFill>
                  <a:srgbClr val="FAE3D8"/>
                </a:solidFill>
                <a:latin typeface="Aptos Bold"/>
                <a:ea typeface="Aptos Bold"/>
                <a:cs typeface="Aptos Bold"/>
                <a:sym typeface="Aptos Bold"/>
              </a:rPr>
              <a:t>DEPARTMENT OF FUNDAMENTAL COMPUTER SCIENCE AND ITS APPLICATIONS (IFA)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6954500" y="9591675"/>
            <a:ext cx="762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6E7A86"/>
                </a:solidFill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6954500" y="9496425"/>
            <a:ext cx="7620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6E7A86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2" y="0"/>
            <a:ext cx="219075" cy="10287000"/>
            <a:chOff x="0" y="0"/>
            <a:chExt cx="2921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21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92100">
                  <a:moveTo>
                    <a:pt x="0" y="0"/>
                  </a:moveTo>
                  <a:lnTo>
                    <a:pt x="292100" y="0"/>
                  </a:lnTo>
                  <a:lnTo>
                    <a:pt x="2921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743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58706" y="796233"/>
            <a:ext cx="9498101" cy="1319418"/>
            <a:chOff x="0" y="0"/>
            <a:chExt cx="12664135" cy="175922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664142" cy="1759223"/>
            </a:xfrm>
            <a:custGeom>
              <a:avLst/>
              <a:gdLst/>
              <a:ahLst/>
              <a:cxnLst/>
              <a:rect r="r" b="b" t="t" l="l"/>
              <a:pathLst>
                <a:path h="1759223" w="12664142">
                  <a:moveTo>
                    <a:pt x="0" y="0"/>
                  </a:moveTo>
                  <a:lnTo>
                    <a:pt x="12664142" y="0"/>
                  </a:lnTo>
                  <a:lnTo>
                    <a:pt x="12664142" y="1759223"/>
                  </a:lnTo>
                  <a:lnTo>
                    <a:pt x="0" y="175922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3088" r="0" b="-7744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9525"/>
              <a:ext cx="12664135" cy="17496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47"/>
                </a:lnSpc>
              </a:pPr>
              <a:r>
                <a:rPr lang="en-US" b="true" sz="6040" spc="-151">
                  <a:solidFill>
                    <a:srgbClr val="16324F"/>
                  </a:solidFill>
                  <a:latin typeface="Roca Two Bold"/>
                  <a:ea typeface="Roca Two Bold"/>
                  <a:cs typeface="Roca Two Bold"/>
                  <a:sym typeface="Roca Two Bold"/>
                </a:rPr>
                <a:t>Presentation Outline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97156" y="2554786"/>
            <a:ext cx="668226" cy="688147"/>
            <a:chOff x="0" y="0"/>
            <a:chExt cx="890968" cy="9175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90965" cy="917529"/>
            </a:xfrm>
            <a:custGeom>
              <a:avLst/>
              <a:gdLst/>
              <a:ahLst/>
              <a:cxnLst/>
              <a:rect r="r" b="b" t="t" l="l"/>
              <a:pathLst>
                <a:path h="917529" w="890965">
                  <a:moveTo>
                    <a:pt x="0" y="0"/>
                  </a:moveTo>
                  <a:lnTo>
                    <a:pt x="890965" y="0"/>
                  </a:lnTo>
                  <a:lnTo>
                    <a:pt x="890965" y="917529"/>
                  </a:lnTo>
                  <a:lnTo>
                    <a:pt x="0" y="9175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8758" t="0" r="-48758" b="2525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890968" cy="9080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92"/>
                </a:lnSpc>
              </a:pPr>
              <a:r>
                <a:rPr lang="en-US" sz="3160">
                  <a:solidFill>
                    <a:srgbClr val="E8743B"/>
                  </a:solidFill>
                  <a:latin typeface="Roca Two"/>
                  <a:ea typeface="Roca Two"/>
                  <a:cs typeface="Roca Two"/>
                  <a:sym typeface="Roca Two"/>
                </a:rPr>
                <a:t>01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102796" y="2527402"/>
            <a:ext cx="5463931" cy="710629"/>
            <a:chOff x="0" y="0"/>
            <a:chExt cx="7285241" cy="94750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285234" cy="947505"/>
            </a:xfrm>
            <a:custGeom>
              <a:avLst/>
              <a:gdLst/>
              <a:ahLst/>
              <a:cxnLst/>
              <a:rect r="r" b="b" t="t" l="l"/>
              <a:pathLst>
                <a:path h="947505" w="7285234">
                  <a:moveTo>
                    <a:pt x="0" y="0"/>
                  </a:moveTo>
                  <a:lnTo>
                    <a:pt x="7285234" y="0"/>
                  </a:lnTo>
                  <a:lnTo>
                    <a:pt x="7285234" y="947505"/>
                  </a:lnTo>
                  <a:lnTo>
                    <a:pt x="0" y="94750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9607" r="0" b="-9002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7285241" cy="947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52"/>
                </a:lnSpc>
              </a:pPr>
              <a:r>
                <a:rPr lang="en-US" sz="3460">
                  <a:solidFill>
                    <a:srgbClr val="1A273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Introduction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692583" y="2554786"/>
            <a:ext cx="762838" cy="688147"/>
            <a:chOff x="0" y="0"/>
            <a:chExt cx="1017118" cy="91752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17112" cy="917529"/>
            </a:xfrm>
            <a:custGeom>
              <a:avLst/>
              <a:gdLst/>
              <a:ahLst/>
              <a:cxnLst/>
              <a:rect r="r" b="b" t="t" l="l"/>
              <a:pathLst>
                <a:path h="917529" w="1017112">
                  <a:moveTo>
                    <a:pt x="0" y="0"/>
                  </a:moveTo>
                  <a:lnTo>
                    <a:pt x="1017112" y="0"/>
                  </a:lnTo>
                  <a:lnTo>
                    <a:pt x="1017112" y="917529"/>
                  </a:lnTo>
                  <a:lnTo>
                    <a:pt x="0" y="9175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6509" t="0" r="-36510" b="2525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9525"/>
              <a:ext cx="1017118" cy="9080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92"/>
                </a:lnSpc>
              </a:pPr>
              <a:r>
                <a:rPr lang="en-US" sz="3160">
                  <a:solidFill>
                    <a:srgbClr val="E8743B"/>
                  </a:solidFill>
                  <a:latin typeface="Roca Two"/>
                  <a:ea typeface="Roca Two"/>
                  <a:cs typeface="Roca Two"/>
                  <a:sym typeface="Roca Two"/>
                </a:rPr>
                <a:t>05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698213" y="2527402"/>
            <a:ext cx="7333107" cy="710629"/>
            <a:chOff x="0" y="0"/>
            <a:chExt cx="9777476" cy="94750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777472" cy="947505"/>
            </a:xfrm>
            <a:custGeom>
              <a:avLst/>
              <a:gdLst/>
              <a:ahLst/>
              <a:cxnLst/>
              <a:rect r="r" b="b" t="t" l="l"/>
              <a:pathLst>
                <a:path h="947505" w="9777472">
                  <a:moveTo>
                    <a:pt x="0" y="0"/>
                  </a:moveTo>
                  <a:lnTo>
                    <a:pt x="9777472" y="0"/>
                  </a:lnTo>
                  <a:lnTo>
                    <a:pt x="9777472" y="947505"/>
                  </a:lnTo>
                  <a:lnTo>
                    <a:pt x="0" y="94750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0858" r="0" b="-14128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9777476" cy="947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52"/>
                </a:lnSpc>
              </a:pPr>
              <a:r>
                <a:rPr lang="en-US" sz="3460">
                  <a:solidFill>
                    <a:srgbClr val="1A273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Eva</a:t>
              </a:r>
              <a:r>
                <a:rPr lang="en-US" sz="3460">
                  <a:solidFill>
                    <a:srgbClr val="1A273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luation &amp; Results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97156" y="3778006"/>
            <a:ext cx="764962" cy="688147"/>
            <a:chOff x="0" y="0"/>
            <a:chExt cx="1019950" cy="91752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19949" cy="917529"/>
            </a:xfrm>
            <a:custGeom>
              <a:avLst/>
              <a:gdLst/>
              <a:ahLst/>
              <a:cxnLst/>
              <a:rect r="r" b="b" t="t" l="l"/>
              <a:pathLst>
                <a:path h="917529" w="1019949">
                  <a:moveTo>
                    <a:pt x="0" y="0"/>
                  </a:moveTo>
                  <a:lnTo>
                    <a:pt x="1019949" y="0"/>
                  </a:lnTo>
                  <a:lnTo>
                    <a:pt x="1019949" y="917529"/>
                  </a:lnTo>
                  <a:lnTo>
                    <a:pt x="0" y="9175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6269" t="0" r="-36269" b="2525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9525"/>
              <a:ext cx="1019950" cy="9080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92"/>
                </a:lnSpc>
              </a:pPr>
              <a:r>
                <a:rPr lang="en-US" sz="3160">
                  <a:solidFill>
                    <a:srgbClr val="E8743B"/>
                  </a:solidFill>
                  <a:latin typeface="Roca Two"/>
                  <a:ea typeface="Roca Two"/>
                  <a:cs typeface="Roca Two"/>
                  <a:sym typeface="Roca Two"/>
                </a:rPr>
                <a:t>02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102796" y="3750621"/>
            <a:ext cx="5631094" cy="710629"/>
            <a:chOff x="0" y="0"/>
            <a:chExt cx="7508126" cy="94750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508120" cy="947505"/>
            </a:xfrm>
            <a:custGeom>
              <a:avLst/>
              <a:gdLst/>
              <a:ahLst/>
              <a:cxnLst/>
              <a:rect r="r" b="b" t="t" l="l"/>
              <a:pathLst>
                <a:path h="947505" w="7508120">
                  <a:moveTo>
                    <a:pt x="0" y="0"/>
                  </a:moveTo>
                  <a:lnTo>
                    <a:pt x="7508120" y="0"/>
                  </a:lnTo>
                  <a:lnTo>
                    <a:pt x="7508120" y="947505"/>
                  </a:lnTo>
                  <a:lnTo>
                    <a:pt x="0" y="94750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190" r="0" b="-94612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7508126" cy="947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52"/>
                </a:lnSpc>
              </a:pPr>
              <a:r>
                <a:rPr lang="en-US" sz="3460">
                  <a:solidFill>
                    <a:srgbClr val="1A273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Stat</a:t>
              </a:r>
              <a:r>
                <a:rPr lang="en-US" sz="3460">
                  <a:solidFill>
                    <a:srgbClr val="1A273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 of the Art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692583" y="3778006"/>
            <a:ext cx="769610" cy="688147"/>
            <a:chOff x="0" y="0"/>
            <a:chExt cx="1026147" cy="91752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26141" cy="917529"/>
            </a:xfrm>
            <a:custGeom>
              <a:avLst/>
              <a:gdLst/>
              <a:ahLst/>
              <a:cxnLst/>
              <a:rect r="r" b="b" t="t" l="l"/>
              <a:pathLst>
                <a:path h="917529" w="1026141">
                  <a:moveTo>
                    <a:pt x="0" y="0"/>
                  </a:moveTo>
                  <a:lnTo>
                    <a:pt x="1026141" y="0"/>
                  </a:lnTo>
                  <a:lnTo>
                    <a:pt x="1026141" y="917529"/>
                  </a:lnTo>
                  <a:lnTo>
                    <a:pt x="0" y="9175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5748" t="0" r="-35749" b="2525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9525"/>
              <a:ext cx="1026147" cy="9080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92"/>
                </a:lnSpc>
              </a:pPr>
              <a:r>
                <a:rPr lang="en-US" sz="3160">
                  <a:solidFill>
                    <a:srgbClr val="E8743B"/>
                  </a:solidFill>
                  <a:latin typeface="Roca Two"/>
                  <a:ea typeface="Roca Two"/>
                  <a:cs typeface="Roca Two"/>
                  <a:sym typeface="Roca Two"/>
                </a:rPr>
                <a:t>06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698213" y="3750621"/>
            <a:ext cx="6356433" cy="710629"/>
            <a:chOff x="0" y="0"/>
            <a:chExt cx="8475243" cy="94750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475245" cy="947505"/>
            </a:xfrm>
            <a:custGeom>
              <a:avLst/>
              <a:gdLst/>
              <a:ahLst/>
              <a:cxnLst/>
              <a:rect r="r" b="b" t="t" l="l"/>
              <a:pathLst>
                <a:path h="947505" w="8475245">
                  <a:moveTo>
                    <a:pt x="0" y="0"/>
                  </a:moveTo>
                  <a:lnTo>
                    <a:pt x="8475245" y="0"/>
                  </a:lnTo>
                  <a:lnTo>
                    <a:pt x="8475245" y="947505"/>
                  </a:lnTo>
                  <a:lnTo>
                    <a:pt x="0" y="94750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4078" r="0" b="-11450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8475243" cy="947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52"/>
                </a:lnSpc>
              </a:pPr>
              <a:r>
                <a:rPr lang="en-US" sz="3460">
                  <a:solidFill>
                    <a:srgbClr val="1A273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Implementation &amp; Stack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97156" y="5001216"/>
            <a:ext cx="765543" cy="688147"/>
            <a:chOff x="0" y="0"/>
            <a:chExt cx="1020724" cy="91752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20723" cy="917529"/>
            </a:xfrm>
            <a:custGeom>
              <a:avLst/>
              <a:gdLst/>
              <a:ahLst/>
              <a:cxnLst/>
              <a:rect r="r" b="b" t="t" l="l"/>
              <a:pathLst>
                <a:path h="917529" w="1020723">
                  <a:moveTo>
                    <a:pt x="0" y="0"/>
                  </a:moveTo>
                  <a:lnTo>
                    <a:pt x="1020723" y="0"/>
                  </a:lnTo>
                  <a:lnTo>
                    <a:pt x="1020723" y="917529"/>
                  </a:lnTo>
                  <a:lnTo>
                    <a:pt x="0" y="9175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6204" t="0" r="-36204" b="2525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9525"/>
              <a:ext cx="1020724" cy="9080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92"/>
                </a:lnSpc>
              </a:pPr>
              <a:r>
                <a:rPr lang="en-US" sz="3160">
                  <a:solidFill>
                    <a:srgbClr val="E8743B"/>
                  </a:solidFill>
                  <a:latin typeface="Roca Two"/>
                  <a:ea typeface="Roca Two"/>
                  <a:cs typeface="Roca Two"/>
                  <a:sym typeface="Roca Two"/>
                </a:rPr>
                <a:t>03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102796" y="4973841"/>
            <a:ext cx="3982288" cy="710629"/>
            <a:chOff x="0" y="0"/>
            <a:chExt cx="5309718" cy="94750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309712" cy="947505"/>
            </a:xfrm>
            <a:custGeom>
              <a:avLst/>
              <a:gdLst/>
              <a:ahLst/>
              <a:cxnLst/>
              <a:rect r="r" b="b" t="t" l="l"/>
              <a:pathLst>
                <a:path h="947505" w="5309712">
                  <a:moveTo>
                    <a:pt x="0" y="0"/>
                  </a:moveTo>
                  <a:lnTo>
                    <a:pt x="5309712" y="0"/>
                  </a:lnTo>
                  <a:lnTo>
                    <a:pt x="5309712" y="947505"/>
                  </a:lnTo>
                  <a:lnTo>
                    <a:pt x="0" y="94750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981" r="0" b="-4940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5309718" cy="947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52"/>
                </a:lnSpc>
              </a:pPr>
              <a:r>
                <a:rPr lang="en-US" sz="3460">
                  <a:solidFill>
                    <a:srgbClr val="1A273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Propos</a:t>
              </a:r>
              <a:r>
                <a:rPr lang="en-US" sz="3460">
                  <a:solidFill>
                    <a:srgbClr val="1A273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ed Solution 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692583" y="5001216"/>
            <a:ext cx="735168" cy="688147"/>
            <a:chOff x="0" y="0"/>
            <a:chExt cx="980224" cy="91752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80221" cy="917529"/>
            </a:xfrm>
            <a:custGeom>
              <a:avLst/>
              <a:gdLst/>
              <a:ahLst/>
              <a:cxnLst/>
              <a:rect r="r" b="b" t="t" l="l"/>
              <a:pathLst>
                <a:path h="917529" w="980221">
                  <a:moveTo>
                    <a:pt x="0" y="0"/>
                  </a:moveTo>
                  <a:lnTo>
                    <a:pt x="980221" y="0"/>
                  </a:lnTo>
                  <a:lnTo>
                    <a:pt x="980221" y="917529"/>
                  </a:lnTo>
                  <a:lnTo>
                    <a:pt x="0" y="9175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765" t="0" r="-39766" b="25255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9525"/>
              <a:ext cx="980224" cy="9080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92"/>
                </a:lnSpc>
              </a:pPr>
              <a:r>
                <a:rPr lang="en-US" sz="3160">
                  <a:solidFill>
                    <a:srgbClr val="E8743B"/>
                  </a:solidFill>
                  <a:latin typeface="Roca Two"/>
                  <a:ea typeface="Roca Two"/>
                  <a:cs typeface="Roca Two"/>
                  <a:sym typeface="Roca Two"/>
                </a:rPr>
                <a:t>07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698213" y="4973841"/>
            <a:ext cx="5365252" cy="710629"/>
            <a:chOff x="0" y="0"/>
            <a:chExt cx="7153669" cy="94750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153672" cy="947505"/>
            </a:xfrm>
            <a:custGeom>
              <a:avLst/>
              <a:gdLst/>
              <a:ahLst/>
              <a:cxnLst/>
              <a:rect r="r" b="b" t="t" l="l"/>
              <a:pathLst>
                <a:path h="947505" w="7153672">
                  <a:moveTo>
                    <a:pt x="0" y="0"/>
                  </a:moveTo>
                  <a:lnTo>
                    <a:pt x="7153672" y="0"/>
                  </a:lnTo>
                  <a:lnTo>
                    <a:pt x="7153672" y="947505"/>
                  </a:lnTo>
                  <a:lnTo>
                    <a:pt x="0" y="94750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6901" r="0" b="-87323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7153669" cy="947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52"/>
                </a:lnSpc>
              </a:pPr>
              <a:r>
                <a:rPr lang="en-US" sz="3460">
                  <a:solidFill>
                    <a:srgbClr val="1A273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Startup aspect​ 1275 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2097138" y="6458988"/>
            <a:ext cx="5713362" cy="710629"/>
            <a:chOff x="0" y="0"/>
            <a:chExt cx="7617816" cy="94750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617809" cy="947505"/>
            </a:xfrm>
            <a:custGeom>
              <a:avLst/>
              <a:gdLst/>
              <a:ahLst/>
              <a:cxnLst/>
              <a:rect r="r" b="b" t="t" l="l"/>
              <a:pathLst>
                <a:path h="947505" w="7617809">
                  <a:moveTo>
                    <a:pt x="0" y="0"/>
                  </a:moveTo>
                  <a:lnTo>
                    <a:pt x="7617809" y="0"/>
                  </a:lnTo>
                  <a:lnTo>
                    <a:pt x="7617809" y="947505"/>
                  </a:lnTo>
                  <a:lnTo>
                    <a:pt x="0" y="94750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6073" r="6620" b="-8649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7617816" cy="947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52"/>
                </a:lnSpc>
              </a:pPr>
              <a:r>
                <a:rPr lang="en-US" sz="3460">
                  <a:solidFill>
                    <a:srgbClr val="1A273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Tw</a:t>
              </a:r>
              <a:r>
                <a:rPr lang="en-US" sz="3460">
                  <a:solidFill>
                    <a:srgbClr val="1A273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o-Approach Methodology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097156" y="6553648"/>
            <a:ext cx="776573" cy="688147"/>
            <a:chOff x="0" y="0"/>
            <a:chExt cx="1035431" cy="91752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35427" cy="917529"/>
            </a:xfrm>
            <a:custGeom>
              <a:avLst/>
              <a:gdLst/>
              <a:ahLst/>
              <a:cxnLst/>
              <a:rect r="r" b="b" t="t" l="l"/>
              <a:pathLst>
                <a:path h="917529" w="1035427">
                  <a:moveTo>
                    <a:pt x="0" y="0"/>
                  </a:moveTo>
                  <a:lnTo>
                    <a:pt x="1035427" y="0"/>
                  </a:lnTo>
                  <a:lnTo>
                    <a:pt x="1035427" y="917529"/>
                  </a:lnTo>
                  <a:lnTo>
                    <a:pt x="0" y="9175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4979" t="0" r="-34980" b="2525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9525"/>
              <a:ext cx="1035431" cy="9080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92"/>
                </a:lnSpc>
              </a:pPr>
              <a:r>
                <a:rPr lang="en-US" sz="3160">
                  <a:solidFill>
                    <a:srgbClr val="E8743B"/>
                  </a:solidFill>
                  <a:latin typeface="Roca Two"/>
                  <a:ea typeface="Roca Two"/>
                  <a:cs typeface="Roca Two"/>
                  <a:sym typeface="Roca Two"/>
                </a:rPr>
                <a:t>04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692583" y="6553648"/>
            <a:ext cx="775411" cy="688147"/>
            <a:chOff x="0" y="0"/>
            <a:chExt cx="1033882" cy="917529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33880" cy="917529"/>
            </a:xfrm>
            <a:custGeom>
              <a:avLst/>
              <a:gdLst/>
              <a:ahLst/>
              <a:cxnLst/>
              <a:rect r="r" b="b" t="t" l="l"/>
              <a:pathLst>
                <a:path h="917529" w="1033880">
                  <a:moveTo>
                    <a:pt x="0" y="0"/>
                  </a:moveTo>
                  <a:lnTo>
                    <a:pt x="1033880" y="0"/>
                  </a:lnTo>
                  <a:lnTo>
                    <a:pt x="1033880" y="917529"/>
                  </a:lnTo>
                  <a:lnTo>
                    <a:pt x="0" y="9175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5107" t="0" r="-35107" b="25255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9525"/>
              <a:ext cx="1033882" cy="9080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92"/>
                </a:lnSpc>
              </a:pPr>
              <a:r>
                <a:rPr lang="en-US" sz="3160">
                  <a:solidFill>
                    <a:srgbClr val="E8743B"/>
                  </a:solidFill>
                  <a:latin typeface="Roca Two"/>
                  <a:ea typeface="Roca Two"/>
                  <a:cs typeface="Roca Two"/>
                  <a:sym typeface="Roca Two"/>
                </a:rPr>
                <a:t>08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698213" y="6526111"/>
            <a:ext cx="6744938" cy="571500"/>
            <a:chOff x="0" y="0"/>
            <a:chExt cx="8993251" cy="7620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993248" cy="762000"/>
            </a:xfrm>
            <a:custGeom>
              <a:avLst/>
              <a:gdLst/>
              <a:ahLst/>
              <a:cxnLst/>
              <a:rect r="r" b="b" t="t" l="l"/>
              <a:pathLst>
                <a:path h="762000" w="8993248">
                  <a:moveTo>
                    <a:pt x="0" y="0"/>
                  </a:moveTo>
                  <a:lnTo>
                    <a:pt x="8993248" y="0"/>
                  </a:lnTo>
                  <a:lnTo>
                    <a:pt x="8993248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9965" r="0" b="-179965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8993251" cy="762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52"/>
                </a:lnSpc>
              </a:pPr>
              <a:r>
                <a:rPr lang="en-US" sz="3460">
                  <a:solidFill>
                    <a:srgbClr val="1A273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Conclusion &amp; Future Work</a:t>
              </a:r>
            </a:p>
          </p:txBody>
        </p:sp>
      </p:grpSp>
      <p:sp>
        <p:nvSpPr>
          <p:cNvPr name="Freeform 57" id="57" descr="preencoded.png"/>
          <p:cNvSpPr/>
          <p:nvPr/>
        </p:nvSpPr>
        <p:spPr>
          <a:xfrm flipH="false" flipV="false" rot="0">
            <a:off x="9693621" y="6158065"/>
            <a:ext cx="7496175" cy="1533525"/>
          </a:xfrm>
          <a:custGeom>
            <a:avLst/>
            <a:gdLst/>
            <a:ahLst/>
            <a:cxnLst/>
            <a:rect r="r" b="b" t="t" l="l"/>
            <a:pathLst>
              <a:path h="1533525" w="7496175">
                <a:moveTo>
                  <a:pt x="0" y="0"/>
                </a:moveTo>
                <a:lnTo>
                  <a:pt x="7496175" y="0"/>
                </a:lnTo>
                <a:lnTo>
                  <a:pt x="7496175" y="1533525"/>
                </a:lnTo>
                <a:lnTo>
                  <a:pt x="0" y="15335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246" r="0" b="-246"/>
            </a:stretch>
          </a:blipFill>
        </p:spPr>
      </p:sp>
      <p:sp>
        <p:nvSpPr>
          <p:cNvPr name="TextBox 58" id="58"/>
          <p:cNvSpPr txBox="true"/>
          <p:nvPr/>
        </p:nvSpPr>
        <p:spPr>
          <a:xfrm rot="0">
            <a:off x="16954500" y="9496425"/>
            <a:ext cx="7620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6E7A86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046891" y="3204909"/>
            <a:ext cx="10194219" cy="3877182"/>
            <a:chOff x="0" y="0"/>
            <a:chExt cx="4426114" cy="16833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26118" cy="1683390"/>
            </a:xfrm>
            <a:custGeom>
              <a:avLst/>
              <a:gdLst/>
              <a:ahLst/>
              <a:cxnLst/>
              <a:rect r="r" b="b" t="t" l="l"/>
              <a:pathLst>
                <a:path h="1683390" w="4426118">
                  <a:moveTo>
                    <a:pt x="0" y="0"/>
                  </a:moveTo>
                  <a:lnTo>
                    <a:pt x="4426118" y="0"/>
                  </a:lnTo>
                  <a:lnTo>
                    <a:pt x="4426118" y="1683390"/>
                  </a:lnTo>
                  <a:lnTo>
                    <a:pt x="0" y="16833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135" r="-109054" b="-4406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4426114" cy="1683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551"/>
                </a:lnSpc>
              </a:pPr>
              <a:r>
                <a:rPr lang="en-US" b="true" sz="10459" spc="-261">
                  <a:solidFill>
                    <a:srgbClr val="16324F"/>
                  </a:solidFill>
                  <a:latin typeface="Roca Two Bold"/>
                  <a:ea typeface="Roca Two Bold"/>
                  <a:cs typeface="Roca Two Bold"/>
                  <a:sym typeface="Roca Two Bold"/>
                </a:rPr>
                <a:t>INTRODUCTION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6954500" y="9496425"/>
            <a:ext cx="7620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6E7A86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58706" y="796233"/>
            <a:ext cx="9340806" cy="1262543"/>
            <a:chOff x="0" y="0"/>
            <a:chExt cx="12454407" cy="16833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454413" cy="1683390"/>
            </a:xfrm>
            <a:custGeom>
              <a:avLst/>
              <a:gdLst/>
              <a:ahLst/>
              <a:cxnLst/>
              <a:rect r="r" b="b" t="t" l="l"/>
              <a:pathLst>
                <a:path h="1683390" w="12454413">
                  <a:moveTo>
                    <a:pt x="0" y="0"/>
                  </a:moveTo>
                  <a:lnTo>
                    <a:pt x="12454413" y="0"/>
                  </a:lnTo>
                  <a:lnTo>
                    <a:pt x="12454413" y="1683390"/>
                  </a:lnTo>
                  <a:lnTo>
                    <a:pt x="0" y="16833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7191" r="0" b="-8112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2454407" cy="1692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911"/>
                </a:lnSpc>
              </a:pPr>
              <a:r>
                <a:rPr lang="en-US" b="true" sz="5759" spc="-143">
                  <a:solidFill>
                    <a:srgbClr val="16324F"/>
                  </a:solidFill>
                  <a:latin typeface="Roca Two Bold"/>
                  <a:ea typeface="Roca Two Bold"/>
                  <a:cs typeface="Roca Two Bold"/>
                  <a:sym typeface="Roca Two Bold"/>
                </a:rPr>
                <a:t>Context &amp; Motivation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13752" y="3305175"/>
            <a:ext cx="5057775" cy="3676650"/>
            <a:chOff x="0" y="0"/>
            <a:chExt cx="6743700" cy="4902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743700" cy="4902200"/>
            </a:xfrm>
            <a:custGeom>
              <a:avLst/>
              <a:gdLst/>
              <a:ahLst/>
              <a:cxnLst/>
              <a:rect r="r" b="b" t="t" l="l"/>
              <a:pathLst>
                <a:path h="4902200" w="674370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6451092" y="0"/>
                  </a:lnTo>
                  <a:cubicBezTo>
                    <a:pt x="6612636" y="0"/>
                    <a:pt x="6743700" y="131064"/>
                    <a:pt x="6743700" y="292608"/>
                  </a:cubicBezTo>
                  <a:lnTo>
                    <a:pt x="6743700" y="4609592"/>
                  </a:lnTo>
                  <a:cubicBezTo>
                    <a:pt x="6743700" y="4771136"/>
                    <a:pt x="6612636" y="4902200"/>
                    <a:pt x="6451092" y="4902200"/>
                  </a:cubicBezTo>
                  <a:lnTo>
                    <a:pt x="292608" y="4902200"/>
                  </a:lnTo>
                  <a:cubicBezTo>
                    <a:pt x="131064" y="4902200"/>
                    <a:pt x="0" y="4771136"/>
                    <a:pt x="0" y="460959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521304" y="5143500"/>
            <a:ext cx="3896382" cy="1031748"/>
            <a:chOff x="0" y="0"/>
            <a:chExt cx="5195176" cy="137566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195173" cy="1375664"/>
            </a:xfrm>
            <a:custGeom>
              <a:avLst/>
              <a:gdLst/>
              <a:ahLst/>
              <a:cxnLst/>
              <a:rect r="r" b="b" t="t" l="l"/>
              <a:pathLst>
                <a:path h="1375664" w="5195173">
                  <a:moveTo>
                    <a:pt x="0" y="0"/>
                  </a:moveTo>
                  <a:lnTo>
                    <a:pt x="5195173" y="0"/>
                  </a:lnTo>
                  <a:lnTo>
                    <a:pt x="5195173" y="1375664"/>
                  </a:lnTo>
                  <a:lnTo>
                    <a:pt x="0" y="1375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505" r="0" b="333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5195176" cy="13756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55"/>
                </a:lnSpc>
              </a:pPr>
              <a:r>
                <a:rPr lang="en-US" sz="2879">
                  <a:solidFill>
                    <a:srgbClr val="1A273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Employment services </a:t>
              </a:r>
              <a:r>
                <a:rPr lang="en-US" sz="2879">
                  <a:solidFill>
                    <a:srgbClr val="1A273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are increasingly online.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730660" y="3305175"/>
            <a:ext cx="5057775" cy="3676650"/>
            <a:chOff x="0" y="0"/>
            <a:chExt cx="6743700" cy="4902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743700" cy="4902200"/>
            </a:xfrm>
            <a:custGeom>
              <a:avLst/>
              <a:gdLst/>
              <a:ahLst/>
              <a:cxnLst/>
              <a:rect r="r" b="b" t="t" l="l"/>
              <a:pathLst>
                <a:path h="4902200" w="674370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6451092" y="0"/>
                  </a:lnTo>
                  <a:cubicBezTo>
                    <a:pt x="6612636" y="0"/>
                    <a:pt x="6743700" y="131064"/>
                    <a:pt x="6743700" y="292608"/>
                  </a:cubicBezTo>
                  <a:lnTo>
                    <a:pt x="6743700" y="4609592"/>
                  </a:lnTo>
                  <a:cubicBezTo>
                    <a:pt x="6743700" y="4771136"/>
                    <a:pt x="6612636" y="4902200"/>
                    <a:pt x="6451092" y="4902200"/>
                  </a:cubicBezTo>
                  <a:lnTo>
                    <a:pt x="292608" y="4902200"/>
                  </a:lnTo>
                  <a:cubicBezTo>
                    <a:pt x="131064" y="4902200"/>
                    <a:pt x="0" y="4771136"/>
                    <a:pt x="0" y="460959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93106" y="3647780"/>
            <a:ext cx="4152778" cy="1477423"/>
            <a:chOff x="0" y="0"/>
            <a:chExt cx="5537038" cy="196989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537042" cy="1969897"/>
            </a:xfrm>
            <a:custGeom>
              <a:avLst/>
              <a:gdLst/>
              <a:ahLst/>
              <a:cxnLst/>
              <a:rect r="r" b="b" t="t" l="l"/>
              <a:pathLst>
                <a:path h="1969897" w="5537042">
                  <a:moveTo>
                    <a:pt x="0" y="0"/>
                  </a:moveTo>
                  <a:lnTo>
                    <a:pt x="5537042" y="0"/>
                  </a:lnTo>
                  <a:lnTo>
                    <a:pt x="5537042" y="1969897"/>
                  </a:lnTo>
                  <a:lnTo>
                    <a:pt x="0" y="19698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118" r="-23144" b="-677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5537038" cy="1969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00"/>
                </a:lnSpc>
              </a:pPr>
              <a:r>
                <a:rPr lang="en-US" sz="3500">
                  <a:solidFill>
                    <a:srgbClr val="16324F"/>
                  </a:solidFill>
                  <a:latin typeface="Roca Two"/>
                  <a:ea typeface="Roca Two"/>
                  <a:cs typeface="Roca Two"/>
                  <a:sym typeface="Roca Two"/>
                </a:rPr>
                <a:t>Digital Transf</a:t>
              </a:r>
              <a:r>
                <a:rPr lang="en-US" sz="3500">
                  <a:solidFill>
                    <a:srgbClr val="16324F"/>
                  </a:solidFill>
                  <a:latin typeface="Roca Two"/>
                  <a:ea typeface="Roca Two"/>
                  <a:cs typeface="Roca Two"/>
                  <a:sym typeface="Roca Two"/>
                </a:rPr>
                <a:t>ormation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884437" y="4768005"/>
            <a:ext cx="4750222" cy="1908048"/>
            <a:chOff x="0" y="0"/>
            <a:chExt cx="6333630" cy="25440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33623" cy="2544064"/>
            </a:xfrm>
            <a:custGeom>
              <a:avLst/>
              <a:gdLst/>
              <a:ahLst/>
              <a:cxnLst/>
              <a:rect r="r" b="b" t="t" l="l"/>
              <a:pathLst>
                <a:path h="2544064" w="6333623">
                  <a:moveTo>
                    <a:pt x="0" y="0"/>
                  </a:moveTo>
                  <a:lnTo>
                    <a:pt x="6333623" y="0"/>
                  </a:lnTo>
                  <a:lnTo>
                    <a:pt x="6333623" y="2544064"/>
                  </a:lnTo>
                  <a:lnTo>
                    <a:pt x="0" y="2544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038" r="45333" b="6100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6333630" cy="2544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55"/>
                </a:lnSpc>
              </a:pPr>
              <a:r>
                <a:rPr lang="en-US" sz="2879">
                  <a:solidFill>
                    <a:srgbClr val="1A273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Wassit Onlin</a:t>
              </a:r>
              <a:r>
                <a:rPr lang="en-US" sz="2879">
                  <a:solidFill>
                    <a:srgbClr val="1A273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e: ANEM’s web platform connecting job seekers, employers, and employment services.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247569" y="3305175"/>
            <a:ext cx="5057775" cy="3676650"/>
            <a:chOff x="0" y="0"/>
            <a:chExt cx="6743700" cy="4902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743700" cy="4902200"/>
            </a:xfrm>
            <a:custGeom>
              <a:avLst/>
              <a:gdLst/>
              <a:ahLst/>
              <a:cxnLst/>
              <a:rect r="r" b="b" t="t" l="l"/>
              <a:pathLst>
                <a:path h="4902200" w="674370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6451092" y="0"/>
                  </a:lnTo>
                  <a:cubicBezTo>
                    <a:pt x="6612636" y="0"/>
                    <a:pt x="6743700" y="131064"/>
                    <a:pt x="6743700" y="292608"/>
                  </a:cubicBezTo>
                  <a:lnTo>
                    <a:pt x="6743700" y="4609592"/>
                  </a:lnTo>
                  <a:cubicBezTo>
                    <a:pt x="6743700" y="4771136"/>
                    <a:pt x="6612636" y="4902200"/>
                    <a:pt x="6451092" y="4902200"/>
                  </a:cubicBezTo>
                  <a:lnTo>
                    <a:pt x="292608" y="4902200"/>
                  </a:lnTo>
                  <a:cubicBezTo>
                    <a:pt x="131064" y="4902200"/>
                    <a:pt x="0" y="4771136"/>
                    <a:pt x="0" y="460959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555122" y="3547024"/>
            <a:ext cx="2649426" cy="1578178"/>
            <a:chOff x="0" y="0"/>
            <a:chExt cx="3532568" cy="210423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532565" cy="2104238"/>
            </a:xfrm>
            <a:custGeom>
              <a:avLst/>
              <a:gdLst/>
              <a:ahLst/>
              <a:cxnLst/>
              <a:rect r="r" b="b" t="t" l="l"/>
              <a:pathLst>
                <a:path h="2104238" w="3532565">
                  <a:moveTo>
                    <a:pt x="0" y="0"/>
                  </a:moveTo>
                  <a:lnTo>
                    <a:pt x="3532565" y="0"/>
                  </a:lnTo>
                  <a:lnTo>
                    <a:pt x="3532565" y="2104238"/>
                  </a:lnTo>
                  <a:lnTo>
                    <a:pt x="0" y="21042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274" t="0" r="-6274" b="2636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3532568" cy="21042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>
                  <a:solidFill>
                    <a:srgbClr val="16324F"/>
                  </a:solidFill>
                  <a:latin typeface="Roca Two"/>
                  <a:ea typeface="Roca Two"/>
                  <a:cs typeface="Roca Two"/>
                  <a:sym typeface="Roca Two"/>
                </a:rPr>
                <a:t>24/7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555122" y="4768005"/>
            <a:ext cx="3021863" cy="476250"/>
            <a:chOff x="0" y="0"/>
            <a:chExt cx="4029151" cy="635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029155" cy="635000"/>
            </a:xfrm>
            <a:custGeom>
              <a:avLst/>
              <a:gdLst/>
              <a:ahLst/>
              <a:cxnLst/>
              <a:rect r="r" b="b" t="t" l="l"/>
              <a:pathLst>
                <a:path h="635000" w="4029155">
                  <a:moveTo>
                    <a:pt x="0" y="0"/>
                  </a:moveTo>
                  <a:lnTo>
                    <a:pt x="4029155" y="0"/>
                  </a:lnTo>
                  <a:lnTo>
                    <a:pt x="4029155" y="635000"/>
                  </a:lnTo>
                  <a:lnTo>
                    <a:pt x="0" y="635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634" r="0" b="-73634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4029151" cy="63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55"/>
                </a:lnSpc>
              </a:pPr>
              <a:r>
                <a:rPr lang="en-US" sz="2879">
                  <a:solidFill>
                    <a:srgbClr val="1A273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Guidance gap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2555122" y="5362432"/>
            <a:ext cx="4780378" cy="1293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6"/>
              </a:lnSpc>
            </a:pPr>
            <a:r>
              <a:rPr lang="en-US" sz="2440">
                <a:solidFill>
                  <a:srgbClr val="6E7A86"/>
                </a:solidFill>
                <a:latin typeface="IBM Plex Sans"/>
                <a:ea typeface="IBM Plex Sans"/>
                <a:cs typeface="IBM Plex Sans"/>
                <a:sym typeface="IBM Plex Sans"/>
              </a:rPr>
              <a:t>No conversational help to</a:t>
            </a:r>
          </a:p>
          <a:p>
            <a:pPr algn="l">
              <a:lnSpc>
                <a:spcPts val="3366"/>
              </a:lnSpc>
            </a:pPr>
            <a:r>
              <a:rPr lang="en-US" sz="2440">
                <a:solidFill>
                  <a:srgbClr val="6E7A86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interpret needs or answer</a:t>
            </a:r>
          </a:p>
          <a:p>
            <a:pPr algn="l">
              <a:lnSpc>
                <a:spcPts val="3366"/>
              </a:lnSpc>
            </a:pPr>
            <a:r>
              <a:rPr lang="en-US" sz="2440">
                <a:solidFill>
                  <a:srgbClr val="6E7A86"/>
                </a:solidFill>
                <a:latin typeface="IBM Plex Sans"/>
                <a:ea typeface="IBM Plex Sans"/>
                <a:cs typeface="IBM Plex Sans"/>
                <a:sym typeface="IBM Plex Sans"/>
              </a:rPr>
              <a:t>ANEM questions.</a:t>
            </a:r>
          </a:p>
        </p:txBody>
      </p:sp>
      <p:sp>
        <p:nvSpPr>
          <p:cNvPr name="Freeform 29" id="29" descr="preencoded.png"/>
          <p:cNvSpPr/>
          <p:nvPr/>
        </p:nvSpPr>
        <p:spPr>
          <a:xfrm flipH="false" flipV="false" rot="0">
            <a:off x="12247569" y="3305175"/>
            <a:ext cx="5057775" cy="3676650"/>
          </a:xfrm>
          <a:custGeom>
            <a:avLst/>
            <a:gdLst/>
            <a:ahLst/>
            <a:cxnLst/>
            <a:rect r="r" b="b" t="t" l="l"/>
            <a:pathLst>
              <a:path h="3676650" w="5057775">
                <a:moveTo>
                  <a:pt x="0" y="0"/>
                </a:moveTo>
                <a:lnTo>
                  <a:pt x="5057775" y="0"/>
                </a:lnTo>
                <a:lnTo>
                  <a:pt x="5057775" y="3676650"/>
                </a:lnTo>
                <a:lnTo>
                  <a:pt x="0" y="36766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35" r="0" b="-35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6954500" y="9496425"/>
            <a:ext cx="7620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6E7A86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4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4918430" y="98141"/>
            <a:ext cx="5596141" cy="891916"/>
            <a:chOff x="0" y="0"/>
            <a:chExt cx="7461521" cy="1189222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7461521" cy="1189222"/>
              <a:chOff x="0" y="0"/>
              <a:chExt cx="2150813" cy="342798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2150813" cy="342798"/>
              </a:xfrm>
              <a:custGeom>
                <a:avLst/>
                <a:gdLst/>
                <a:ahLst/>
                <a:cxnLst/>
                <a:rect r="r" b="b" t="t" l="l"/>
                <a:pathLst>
                  <a:path h="342798" w="2150813">
                    <a:moveTo>
                      <a:pt x="138344" y="0"/>
                    </a:moveTo>
                    <a:lnTo>
                      <a:pt x="2012469" y="0"/>
                    </a:lnTo>
                    <a:cubicBezTo>
                      <a:pt x="2049160" y="0"/>
                      <a:pt x="2084348" y="14575"/>
                      <a:pt x="2110293" y="40520"/>
                    </a:cubicBezTo>
                    <a:cubicBezTo>
                      <a:pt x="2136237" y="66465"/>
                      <a:pt x="2150813" y="101653"/>
                      <a:pt x="2150813" y="138344"/>
                    </a:cubicBezTo>
                    <a:lnTo>
                      <a:pt x="2150813" y="204454"/>
                    </a:lnTo>
                    <a:cubicBezTo>
                      <a:pt x="2150813" y="241145"/>
                      <a:pt x="2136237" y="276333"/>
                      <a:pt x="2110293" y="302278"/>
                    </a:cubicBezTo>
                    <a:cubicBezTo>
                      <a:pt x="2084348" y="328222"/>
                      <a:pt x="2049160" y="342798"/>
                      <a:pt x="2012469" y="342798"/>
                    </a:cubicBezTo>
                    <a:lnTo>
                      <a:pt x="138344" y="342798"/>
                    </a:lnTo>
                    <a:cubicBezTo>
                      <a:pt x="101653" y="342798"/>
                      <a:pt x="66465" y="328222"/>
                      <a:pt x="40520" y="302278"/>
                    </a:cubicBezTo>
                    <a:cubicBezTo>
                      <a:pt x="14575" y="276333"/>
                      <a:pt x="0" y="241145"/>
                      <a:pt x="0" y="204454"/>
                    </a:cubicBezTo>
                    <a:lnTo>
                      <a:pt x="0" y="138344"/>
                    </a:lnTo>
                    <a:cubicBezTo>
                      <a:pt x="0" y="101653"/>
                      <a:pt x="14575" y="66465"/>
                      <a:pt x="40520" y="40520"/>
                    </a:cubicBezTo>
                    <a:cubicBezTo>
                      <a:pt x="66465" y="14575"/>
                      <a:pt x="101653" y="0"/>
                      <a:pt x="1383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57150" cap="rnd">
                <a:solidFill>
                  <a:srgbClr val="034088"/>
                </a:solidFill>
                <a:prstDash val="solid"/>
                <a:round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66675"/>
                <a:ext cx="2150813" cy="4094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180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434493" y="191758"/>
              <a:ext cx="6592536" cy="741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50"/>
                </a:lnSpc>
                <a:spcBef>
                  <a:spcPct val="0"/>
                </a:spcBef>
              </a:pPr>
              <a:r>
                <a:rPr lang="en-US" b="true" sz="3321">
                  <a:solidFill>
                    <a:srgbClr val="16324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INTROCUTION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884437" y="3597402"/>
            <a:ext cx="5209356" cy="1477423"/>
            <a:chOff x="0" y="0"/>
            <a:chExt cx="6945808" cy="196989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945812" cy="1969897"/>
            </a:xfrm>
            <a:custGeom>
              <a:avLst/>
              <a:gdLst/>
              <a:ahLst/>
              <a:cxnLst/>
              <a:rect r="r" b="b" t="t" l="l"/>
              <a:pathLst>
                <a:path h="1969897" w="6945812">
                  <a:moveTo>
                    <a:pt x="0" y="0"/>
                  </a:moveTo>
                  <a:lnTo>
                    <a:pt x="6945812" y="0"/>
                  </a:lnTo>
                  <a:lnTo>
                    <a:pt x="6945812" y="1969897"/>
                  </a:lnTo>
                  <a:lnTo>
                    <a:pt x="0" y="19698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118" r="1831" b="-677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6945808" cy="1969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00"/>
                </a:lnSpc>
              </a:pPr>
              <a:r>
                <a:rPr lang="en-US" sz="3500">
                  <a:solidFill>
                    <a:srgbClr val="16324F"/>
                  </a:solidFill>
                  <a:latin typeface="Roca Two"/>
                  <a:ea typeface="Roca Two"/>
                  <a:cs typeface="Roca Two"/>
                  <a:sym typeface="Roca Two"/>
                </a:rPr>
                <a:t>Algerian Empl</a:t>
              </a:r>
              <a:r>
                <a:rPr lang="en-US" sz="3500">
                  <a:solidFill>
                    <a:srgbClr val="16324F"/>
                  </a:solidFill>
                  <a:latin typeface="Roca Two"/>
                  <a:ea typeface="Roca Two"/>
                  <a:cs typeface="Roca Two"/>
                  <a:sym typeface="Roca Two"/>
                </a:rPr>
                <a:t>oyment Context 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ED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718565" y="5242273"/>
            <a:ext cx="3740009" cy="3286125"/>
          </a:xfrm>
          <a:custGeom>
            <a:avLst/>
            <a:gdLst/>
            <a:ahLst/>
            <a:cxnLst/>
            <a:rect r="r" b="b" t="t" l="l"/>
            <a:pathLst>
              <a:path h="3286125" w="3740009">
                <a:moveTo>
                  <a:pt x="0" y="0"/>
                </a:moveTo>
                <a:lnTo>
                  <a:pt x="3740009" y="0"/>
                </a:lnTo>
                <a:lnTo>
                  <a:pt x="3740009" y="3286125"/>
                </a:lnTo>
                <a:lnTo>
                  <a:pt x="0" y="32861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935" t="-15137" r="-5529" b="-15137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333553" y="5242273"/>
            <a:ext cx="3286125" cy="3286125"/>
          </a:xfrm>
          <a:custGeom>
            <a:avLst/>
            <a:gdLst/>
            <a:ahLst/>
            <a:cxnLst/>
            <a:rect r="r" b="b" t="t" l="l"/>
            <a:pathLst>
              <a:path h="3286125" w="3286125">
                <a:moveTo>
                  <a:pt x="0" y="0"/>
                </a:moveTo>
                <a:lnTo>
                  <a:pt x="3286125" y="0"/>
                </a:lnTo>
                <a:lnTo>
                  <a:pt x="3286125" y="3286125"/>
                </a:lnTo>
                <a:lnTo>
                  <a:pt x="0" y="32861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9402" r="-104400" b="-44997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819857" y="5242273"/>
            <a:ext cx="3286125" cy="3286125"/>
          </a:xfrm>
          <a:custGeom>
            <a:avLst/>
            <a:gdLst/>
            <a:ahLst/>
            <a:cxnLst/>
            <a:rect r="r" b="b" t="t" l="l"/>
            <a:pathLst>
              <a:path h="3286125" w="3286125">
                <a:moveTo>
                  <a:pt x="0" y="0"/>
                </a:moveTo>
                <a:lnTo>
                  <a:pt x="3286125" y="0"/>
                </a:lnTo>
                <a:lnTo>
                  <a:pt x="3286125" y="3286125"/>
                </a:lnTo>
                <a:lnTo>
                  <a:pt x="0" y="32861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8477" r="-104400" b="-45923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133819" y="5578272"/>
            <a:ext cx="3464191" cy="2822960"/>
          </a:xfrm>
          <a:custGeom>
            <a:avLst/>
            <a:gdLst/>
            <a:ahLst/>
            <a:cxnLst/>
            <a:rect r="r" b="b" t="t" l="l"/>
            <a:pathLst>
              <a:path h="2822960" w="3464191">
                <a:moveTo>
                  <a:pt x="0" y="0"/>
                </a:moveTo>
                <a:lnTo>
                  <a:pt x="3464191" y="0"/>
                </a:lnTo>
                <a:lnTo>
                  <a:pt x="3464191" y="2822960"/>
                </a:lnTo>
                <a:lnTo>
                  <a:pt x="0" y="28229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471" t="-106607" r="-36333" b="-10358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538454" y="2764775"/>
            <a:ext cx="4074188" cy="2220012"/>
            <a:chOff x="0" y="0"/>
            <a:chExt cx="1073037" cy="58469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3037" cy="584694"/>
            </a:xfrm>
            <a:custGeom>
              <a:avLst/>
              <a:gdLst/>
              <a:ahLst/>
              <a:cxnLst/>
              <a:rect r="r" b="b" t="t" l="l"/>
              <a:pathLst>
                <a:path h="584694" w="1073037">
                  <a:moveTo>
                    <a:pt x="96912" y="0"/>
                  </a:moveTo>
                  <a:lnTo>
                    <a:pt x="976125" y="0"/>
                  </a:lnTo>
                  <a:cubicBezTo>
                    <a:pt x="1001828" y="0"/>
                    <a:pt x="1026478" y="10210"/>
                    <a:pt x="1044652" y="28385"/>
                  </a:cubicBezTo>
                  <a:cubicBezTo>
                    <a:pt x="1062827" y="46559"/>
                    <a:pt x="1073037" y="71209"/>
                    <a:pt x="1073037" y="96912"/>
                  </a:cubicBezTo>
                  <a:lnTo>
                    <a:pt x="1073037" y="487782"/>
                  </a:lnTo>
                  <a:cubicBezTo>
                    <a:pt x="1073037" y="541305"/>
                    <a:pt x="1029648" y="584694"/>
                    <a:pt x="976125" y="584694"/>
                  </a:cubicBezTo>
                  <a:lnTo>
                    <a:pt x="96912" y="584694"/>
                  </a:lnTo>
                  <a:cubicBezTo>
                    <a:pt x="43389" y="584694"/>
                    <a:pt x="0" y="541305"/>
                    <a:pt x="0" y="487782"/>
                  </a:cubicBezTo>
                  <a:lnTo>
                    <a:pt x="0" y="96912"/>
                  </a:lnTo>
                  <a:cubicBezTo>
                    <a:pt x="0" y="43389"/>
                    <a:pt x="43389" y="0"/>
                    <a:pt x="96912" y="0"/>
                  </a:cubicBezTo>
                  <a:close/>
                </a:path>
              </a:pathLst>
            </a:custGeom>
            <a:solidFill>
              <a:srgbClr val="D9D0C2">
                <a:alpha val="29804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73037" cy="622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917422" y="2764775"/>
            <a:ext cx="4074188" cy="2220012"/>
            <a:chOff x="0" y="0"/>
            <a:chExt cx="1073037" cy="58469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73037" cy="584694"/>
            </a:xfrm>
            <a:custGeom>
              <a:avLst/>
              <a:gdLst/>
              <a:ahLst/>
              <a:cxnLst/>
              <a:rect r="r" b="b" t="t" l="l"/>
              <a:pathLst>
                <a:path h="584694" w="1073037">
                  <a:moveTo>
                    <a:pt x="96912" y="0"/>
                  </a:moveTo>
                  <a:lnTo>
                    <a:pt x="976125" y="0"/>
                  </a:lnTo>
                  <a:cubicBezTo>
                    <a:pt x="1001828" y="0"/>
                    <a:pt x="1026478" y="10210"/>
                    <a:pt x="1044652" y="28385"/>
                  </a:cubicBezTo>
                  <a:cubicBezTo>
                    <a:pt x="1062827" y="46559"/>
                    <a:pt x="1073037" y="71209"/>
                    <a:pt x="1073037" y="96912"/>
                  </a:cubicBezTo>
                  <a:lnTo>
                    <a:pt x="1073037" y="487782"/>
                  </a:lnTo>
                  <a:cubicBezTo>
                    <a:pt x="1073037" y="541305"/>
                    <a:pt x="1029648" y="584694"/>
                    <a:pt x="976125" y="584694"/>
                  </a:cubicBezTo>
                  <a:lnTo>
                    <a:pt x="96912" y="584694"/>
                  </a:lnTo>
                  <a:cubicBezTo>
                    <a:pt x="43389" y="584694"/>
                    <a:pt x="0" y="541305"/>
                    <a:pt x="0" y="487782"/>
                  </a:cubicBezTo>
                  <a:lnTo>
                    <a:pt x="0" y="96912"/>
                  </a:lnTo>
                  <a:cubicBezTo>
                    <a:pt x="0" y="43389"/>
                    <a:pt x="43389" y="0"/>
                    <a:pt x="96912" y="0"/>
                  </a:cubicBezTo>
                  <a:close/>
                </a:path>
              </a:pathLst>
            </a:custGeom>
            <a:solidFill>
              <a:srgbClr val="D9D0C2">
                <a:alpha val="29804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73037" cy="622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296390" y="2764775"/>
            <a:ext cx="4074188" cy="2220012"/>
            <a:chOff x="0" y="0"/>
            <a:chExt cx="1073037" cy="58469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3037" cy="584694"/>
            </a:xfrm>
            <a:custGeom>
              <a:avLst/>
              <a:gdLst/>
              <a:ahLst/>
              <a:cxnLst/>
              <a:rect r="r" b="b" t="t" l="l"/>
              <a:pathLst>
                <a:path h="584694" w="1073037">
                  <a:moveTo>
                    <a:pt x="96912" y="0"/>
                  </a:moveTo>
                  <a:lnTo>
                    <a:pt x="976125" y="0"/>
                  </a:lnTo>
                  <a:cubicBezTo>
                    <a:pt x="1001828" y="0"/>
                    <a:pt x="1026478" y="10210"/>
                    <a:pt x="1044652" y="28385"/>
                  </a:cubicBezTo>
                  <a:cubicBezTo>
                    <a:pt x="1062827" y="46559"/>
                    <a:pt x="1073037" y="71209"/>
                    <a:pt x="1073037" y="96912"/>
                  </a:cubicBezTo>
                  <a:lnTo>
                    <a:pt x="1073037" y="487782"/>
                  </a:lnTo>
                  <a:cubicBezTo>
                    <a:pt x="1073037" y="541305"/>
                    <a:pt x="1029648" y="584694"/>
                    <a:pt x="976125" y="584694"/>
                  </a:cubicBezTo>
                  <a:lnTo>
                    <a:pt x="96912" y="584694"/>
                  </a:lnTo>
                  <a:cubicBezTo>
                    <a:pt x="43389" y="584694"/>
                    <a:pt x="0" y="541305"/>
                    <a:pt x="0" y="487782"/>
                  </a:cubicBezTo>
                  <a:lnTo>
                    <a:pt x="0" y="96912"/>
                  </a:lnTo>
                  <a:cubicBezTo>
                    <a:pt x="0" y="43389"/>
                    <a:pt x="43389" y="0"/>
                    <a:pt x="96912" y="0"/>
                  </a:cubicBezTo>
                  <a:close/>
                </a:path>
              </a:pathLst>
            </a:custGeom>
            <a:solidFill>
              <a:srgbClr val="D9D0C2">
                <a:alpha val="29804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73037" cy="622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675359" y="2764775"/>
            <a:ext cx="4074188" cy="2220012"/>
            <a:chOff x="0" y="0"/>
            <a:chExt cx="1073037" cy="58469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73037" cy="584694"/>
            </a:xfrm>
            <a:custGeom>
              <a:avLst/>
              <a:gdLst/>
              <a:ahLst/>
              <a:cxnLst/>
              <a:rect r="r" b="b" t="t" l="l"/>
              <a:pathLst>
                <a:path h="584694" w="1073037">
                  <a:moveTo>
                    <a:pt x="96912" y="0"/>
                  </a:moveTo>
                  <a:lnTo>
                    <a:pt x="976125" y="0"/>
                  </a:lnTo>
                  <a:cubicBezTo>
                    <a:pt x="1001828" y="0"/>
                    <a:pt x="1026478" y="10210"/>
                    <a:pt x="1044652" y="28385"/>
                  </a:cubicBezTo>
                  <a:cubicBezTo>
                    <a:pt x="1062827" y="46559"/>
                    <a:pt x="1073037" y="71209"/>
                    <a:pt x="1073037" y="96912"/>
                  </a:cubicBezTo>
                  <a:lnTo>
                    <a:pt x="1073037" y="487782"/>
                  </a:lnTo>
                  <a:cubicBezTo>
                    <a:pt x="1073037" y="541305"/>
                    <a:pt x="1029648" y="584694"/>
                    <a:pt x="976125" y="584694"/>
                  </a:cubicBezTo>
                  <a:lnTo>
                    <a:pt x="96912" y="584694"/>
                  </a:lnTo>
                  <a:cubicBezTo>
                    <a:pt x="43389" y="584694"/>
                    <a:pt x="0" y="541305"/>
                    <a:pt x="0" y="487782"/>
                  </a:cubicBezTo>
                  <a:lnTo>
                    <a:pt x="0" y="96912"/>
                  </a:lnTo>
                  <a:cubicBezTo>
                    <a:pt x="0" y="43389"/>
                    <a:pt x="43389" y="0"/>
                    <a:pt x="96912" y="0"/>
                  </a:cubicBezTo>
                  <a:close/>
                </a:path>
              </a:pathLst>
            </a:custGeom>
            <a:solidFill>
              <a:srgbClr val="D9D0C2">
                <a:alpha val="29804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73037" cy="622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714580" y="2846919"/>
            <a:ext cx="3492199" cy="2702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b="true" sz="3100">
                <a:solidFill>
                  <a:srgbClr val="16324F"/>
                </a:solidFill>
                <a:latin typeface="Roca Two Bold"/>
                <a:ea typeface="Roca Two Bold"/>
                <a:cs typeface="Roca Two Bold"/>
                <a:sym typeface="Roca Two Bold"/>
              </a:rPr>
              <a:t>Manual input</a:t>
            </a:r>
          </a:p>
          <a:p>
            <a:pPr algn="ctr">
              <a:lnSpc>
                <a:spcPts val="4340"/>
              </a:lnSpc>
            </a:pPr>
            <a:r>
              <a:rPr lang="en-US" b="true" sz="3100">
                <a:solidFill>
                  <a:srgbClr val="16324F"/>
                </a:solidFill>
                <a:latin typeface="Roca Two Bold"/>
                <a:ea typeface="Roca Two Bold"/>
                <a:cs typeface="Roca Two Bold"/>
                <a:sym typeface="Roca Two Bold"/>
              </a:rPr>
              <a:t> and</a:t>
            </a:r>
          </a:p>
          <a:p>
            <a:pPr algn="ctr">
              <a:lnSpc>
                <a:spcPts val="4340"/>
              </a:lnSpc>
            </a:pPr>
            <a:r>
              <a:rPr lang="en-US" b="true" sz="3100">
                <a:solidFill>
                  <a:srgbClr val="16324F"/>
                </a:solidFill>
                <a:latin typeface="Roca Two Bold"/>
                <a:ea typeface="Roca Two Bold"/>
                <a:cs typeface="Roca Two Bold"/>
                <a:sym typeface="Roca Two Bold"/>
              </a:rPr>
              <a:t>K</a:t>
            </a:r>
            <a:r>
              <a:rPr lang="en-US" b="true" sz="3100">
                <a:solidFill>
                  <a:srgbClr val="16324F"/>
                </a:solidFill>
                <a:latin typeface="Roca Two Bold"/>
                <a:ea typeface="Roca Two Bold"/>
                <a:cs typeface="Roca Two Bold"/>
                <a:sym typeface="Roca Two Bold"/>
              </a:rPr>
              <a:t>eyword-based search</a:t>
            </a:r>
          </a:p>
          <a:p>
            <a:pPr algn="ctr">
              <a:lnSpc>
                <a:spcPts val="4340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5204117" y="2825152"/>
            <a:ext cx="3492199" cy="215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b="true" sz="3100">
                <a:solidFill>
                  <a:srgbClr val="16324F"/>
                </a:solidFill>
                <a:latin typeface="Roca Two Bold"/>
                <a:ea typeface="Roca Two Bold"/>
                <a:cs typeface="Roca Two Bold"/>
                <a:sym typeface="Roca Two Bold"/>
              </a:rPr>
              <a:t>Inaccurate results</a:t>
            </a:r>
          </a:p>
          <a:p>
            <a:pPr algn="ctr">
              <a:lnSpc>
                <a:spcPts val="4340"/>
              </a:lnSpc>
            </a:pPr>
            <a:r>
              <a:rPr lang="en-US" b="true" sz="3100">
                <a:solidFill>
                  <a:srgbClr val="16324F"/>
                </a:solidFill>
                <a:latin typeface="Roca Two Bold"/>
                <a:ea typeface="Roca Two Bold"/>
                <a:cs typeface="Roca Two Bold"/>
                <a:sym typeface="Roca Two Bold"/>
              </a:rPr>
              <a:t>and </a:t>
            </a:r>
          </a:p>
          <a:p>
            <a:pPr algn="ctr">
              <a:lnSpc>
                <a:spcPts val="4340"/>
              </a:lnSpc>
            </a:pPr>
            <a:r>
              <a:rPr lang="en-US" b="true" sz="3100">
                <a:solidFill>
                  <a:srgbClr val="16324F"/>
                </a:solidFill>
                <a:latin typeface="Roca Two Bold"/>
                <a:ea typeface="Roca Two Bold"/>
                <a:cs typeface="Roca Two Bold"/>
                <a:sym typeface="Roca Two Bold"/>
              </a:rPr>
              <a:t>Weak profile-job matching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591685" y="3033088"/>
            <a:ext cx="3492199" cy="1616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b="true" sz="3100">
                <a:solidFill>
                  <a:srgbClr val="16324F"/>
                </a:solidFill>
                <a:latin typeface="Roca Two Bold"/>
                <a:ea typeface="Roca Two Bold"/>
                <a:cs typeface="Roca Two Bold"/>
                <a:sym typeface="Roca Two Bold"/>
              </a:rPr>
              <a:t>Limited understanding of user needs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961128" y="3157752"/>
            <a:ext cx="3492199" cy="107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b="true" sz="3100">
                <a:solidFill>
                  <a:srgbClr val="16324F"/>
                </a:solidFill>
                <a:latin typeface="Roca Two Bold"/>
                <a:ea typeface="Roca Two Bold"/>
                <a:cs typeface="Roca Two Bold"/>
                <a:sym typeface="Roca Two Bold"/>
              </a:rPr>
              <a:t>missed opportunities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19508" y="819662"/>
            <a:ext cx="6478132" cy="1262543"/>
            <a:chOff x="0" y="0"/>
            <a:chExt cx="8637509" cy="168339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637515" cy="1683390"/>
            </a:xfrm>
            <a:custGeom>
              <a:avLst/>
              <a:gdLst/>
              <a:ahLst/>
              <a:cxnLst/>
              <a:rect r="r" b="b" t="t" l="l"/>
              <a:pathLst>
                <a:path h="1683390" w="8637515">
                  <a:moveTo>
                    <a:pt x="0" y="0"/>
                  </a:moveTo>
                  <a:lnTo>
                    <a:pt x="8637515" y="0"/>
                  </a:lnTo>
                  <a:lnTo>
                    <a:pt x="8637515" y="1683390"/>
                  </a:lnTo>
                  <a:lnTo>
                    <a:pt x="0" y="168339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5542" r="-32538" b="-6947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8637509" cy="1692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911"/>
                </a:lnSpc>
              </a:pPr>
              <a:r>
                <a:rPr lang="en-US" b="true" sz="5759" spc="-143">
                  <a:solidFill>
                    <a:srgbClr val="16324F"/>
                  </a:solidFill>
                  <a:latin typeface="Roca Two Bold"/>
                  <a:ea typeface="Roca Two Bold"/>
                  <a:cs typeface="Roca Two Bold"/>
                  <a:sym typeface="Roca Two Bold"/>
                </a:rPr>
                <a:t>Problem Statement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6954500" y="9496425"/>
            <a:ext cx="7620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6E7A86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5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4918430" y="98141"/>
            <a:ext cx="5596141" cy="891916"/>
            <a:chOff x="0" y="0"/>
            <a:chExt cx="7461521" cy="1189222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7461521" cy="1189222"/>
              <a:chOff x="0" y="0"/>
              <a:chExt cx="2150813" cy="342798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2150813" cy="342798"/>
              </a:xfrm>
              <a:custGeom>
                <a:avLst/>
                <a:gdLst/>
                <a:ahLst/>
                <a:cxnLst/>
                <a:rect r="r" b="b" t="t" l="l"/>
                <a:pathLst>
                  <a:path h="342798" w="2150813">
                    <a:moveTo>
                      <a:pt x="138344" y="0"/>
                    </a:moveTo>
                    <a:lnTo>
                      <a:pt x="2012469" y="0"/>
                    </a:lnTo>
                    <a:cubicBezTo>
                      <a:pt x="2049160" y="0"/>
                      <a:pt x="2084348" y="14575"/>
                      <a:pt x="2110293" y="40520"/>
                    </a:cubicBezTo>
                    <a:cubicBezTo>
                      <a:pt x="2136237" y="66465"/>
                      <a:pt x="2150813" y="101653"/>
                      <a:pt x="2150813" y="138344"/>
                    </a:cubicBezTo>
                    <a:lnTo>
                      <a:pt x="2150813" y="204454"/>
                    </a:lnTo>
                    <a:cubicBezTo>
                      <a:pt x="2150813" y="241145"/>
                      <a:pt x="2136237" y="276333"/>
                      <a:pt x="2110293" y="302278"/>
                    </a:cubicBezTo>
                    <a:cubicBezTo>
                      <a:pt x="2084348" y="328222"/>
                      <a:pt x="2049160" y="342798"/>
                      <a:pt x="2012469" y="342798"/>
                    </a:cubicBezTo>
                    <a:lnTo>
                      <a:pt x="138344" y="342798"/>
                    </a:lnTo>
                    <a:cubicBezTo>
                      <a:pt x="101653" y="342798"/>
                      <a:pt x="66465" y="328222"/>
                      <a:pt x="40520" y="302278"/>
                    </a:cubicBezTo>
                    <a:cubicBezTo>
                      <a:pt x="14575" y="276333"/>
                      <a:pt x="0" y="241145"/>
                      <a:pt x="0" y="204454"/>
                    </a:cubicBezTo>
                    <a:lnTo>
                      <a:pt x="0" y="138344"/>
                    </a:lnTo>
                    <a:cubicBezTo>
                      <a:pt x="0" y="101653"/>
                      <a:pt x="14575" y="66465"/>
                      <a:pt x="40520" y="40520"/>
                    </a:cubicBezTo>
                    <a:cubicBezTo>
                      <a:pt x="66465" y="14575"/>
                      <a:pt x="101653" y="0"/>
                      <a:pt x="1383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57150" cap="rnd">
                <a:solidFill>
                  <a:srgbClr val="034088"/>
                </a:solidFill>
                <a:prstDash val="solid"/>
                <a:round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66675"/>
                <a:ext cx="2150813" cy="4094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180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434493" y="191758"/>
              <a:ext cx="6592536" cy="741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50"/>
                </a:lnSpc>
                <a:spcBef>
                  <a:spcPct val="0"/>
                </a:spcBef>
              </a:pPr>
              <a:r>
                <a:rPr lang="en-US" b="true" sz="3321">
                  <a:solidFill>
                    <a:srgbClr val="16324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INTROCUTION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31947" y="544099"/>
            <a:ext cx="4700854" cy="1262543"/>
            <a:chOff x="0" y="0"/>
            <a:chExt cx="6267806" cy="16833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67808" cy="1683390"/>
            </a:xfrm>
            <a:custGeom>
              <a:avLst/>
              <a:gdLst/>
              <a:ahLst/>
              <a:cxnLst/>
              <a:rect r="r" b="b" t="t" l="l"/>
              <a:pathLst>
                <a:path h="1683390" w="6267808">
                  <a:moveTo>
                    <a:pt x="0" y="0"/>
                  </a:moveTo>
                  <a:lnTo>
                    <a:pt x="6267808" y="0"/>
                  </a:lnTo>
                  <a:lnTo>
                    <a:pt x="6267808" y="1683390"/>
                  </a:lnTo>
                  <a:lnTo>
                    <a:pt x="0" y="16833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582" r="0" b="-951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6267806" cy="1692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911"/>
                </a:lnSpc>
              </a:pPr>
              <a:r>
                <a:rPr lang="en-US" b="true" sz="5759" spc="-143">
                  <a:solidFill>
                    <a:srgbClr val="16324F"/>
                  </a:solidFill>
                  <a:latin typeface="Roca Two Bold"/>
                  <a:ea typeface="Roca Two Bold"/>
                  <a:cs typeface="Roca Two Bold"/>
                  <a:sym typeface="Roca Two Bold"/>
                </a:rPr>
                <a:t>Objectives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6954500" y="9496425"/>
            <a:ext cx="7620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6E7A86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6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390994" y="1895388"/>
            <a:ext cx="6549918" cy="2253892"/>
            <a:chOff x="0" y="0"/>
            <a:chExt cx="1554143" cy="5347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54143" cy="534796"/>
            </a:xfrm>
            <a:custGeom>
              <a:avLst/>
              <a:gdLst/>
              <a:ahLst/>
              <a:cxnLst/>
              <a:rect r="r" b="b" t="t" l="l"/>
              <a:pathLst>
                <a:path h="534796" w="1554143">
                  <a:moveTo>
                    <a:pt x="60281" y="0"/>
                  </a:moveTo>
                  <a:lnTo>
                    <a:pt x="1493862" y="0"/>
                  </a:lnTo>
                  <a:cubicBezTo>
                    <a:pt x="1527154" y="0"/>
                    <a:pt x="1554143" y="26989"/>
                    <a:pt x="1554143" y="60281"/>
                  </a:cubicBezTo>
                  <a:lnTo>
                    <a:pt x="1554143" y="474515"/>
                  </a:lnTo>
                  <a:cubicBezTo>
                    <a:pt x="1554143" y="507807"/>
                    <a:pt x="1527154" y="534796"/>
                    <a:pt x="1493862" y="534796"/>
                  </a:cubicBezTo>
                  <a:lnTo>
                    <a:pt x="60281" y="534796"/>
                  </a:lnTo>
                  <a:cubicBezTo>
                    <a:pt x="26989" y="534796"/>
                    <a:pt x="0" y="507807"/>
                    <a:pt x="0" y="474515"/>
                  </a:cubicBezTo>
                  <a:lnTo>
                    <a:pt x="0" y="60281"/>
                  </a:lnTo>
                  <a:cubicBezTo>
                    <a:pt x="0" y="26989"/>
                    <a:pt x="26989" y="0"/>
                    <a:pt x="60281" y="0"/>
                  </a:cubicBezTo>
                  <a:close/>
                </a:path>
              </a:pathLst>
            </a:custGeom>
            <a:solidFill>
              <a:srgbClr val="D9D0C2">
                <a:alpha val="53725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54143" cy="572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390994" y="7290158"/>
            <a:ext cx="6549918" cy="2253892"/>
            <a:chOff x="0" y="0"/>
            <a:chExt cx="1554143" cy="5347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54143" cy="534796"/>
            </a:xfrm>
            <a:custGeom>
              <a:avLst/>
              <a:gdLst/>
              <a:ahLst/>
              <a:cxnLst/>
              <a:rect r="r" b="b" t="t" l="l"/>
              <a:pathLst>
                <a:path h="534796" w="1554143">
                  <a:moveTo>
                    <a:pt x="60281" y="0"/>
                  </a:moveTo>
                  <a:lnTo>
                    <a:pt x="1493862" y="0"/>
                  </a:lnTo>
                  <a:cubicBezTo>
                    <a:pt x="1527154" y="0"/>
                    <a:pt x="1554143" y="26989"/>
                    <a:pt x="1554143" y="60281"/>
                  </a:cubicBezTo>
                  <a:lnTo>
                    <a:pt x="1554143" y="474515"/>
                  </a:lnTo>
                  <a:cubicBezTo>
                    <a:pt x="1554143" y="507807"/>
                    <a:pt x="1527154" y="534796"/>
                    <a:pt x="1493862" y="534796"/>
                  </a:cubicBezTo>
                  <a:lnTo>
                    <a:pt x="60281" y="534796"/>
                  </a:lnTo>
                  <a:cubicBezTo>
                    <a:pt x="26989" y="534796"/>
                    <a:pt x="0" y="507807"/>
                    <a:pt x="0" y="474515"/>
                  </a:cubicBezTo>
                  <a:lnTo>
                    <a:pt x="0" y="60281"/>
                  </a:lnTo>
                  <a:cubicBezTo>
                    <a:pt x="0" y="26989"/>
                    <a:pt x="26989" y="0"/>
                    <a:pt x="60281" y="0"/>
                  </a:cubicBezTo>
                  <a:close/>
                </a:path>
              </a:pathLst>
            </a:custGeom>
            <a:solidFill>
              <a:srgbClr val="D9D0C2">
                <a:alpha val="53725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54143" cy="572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347254" y="1916036"/>
            <a:ext cx="6549751" cy="2253892"/>
            <a:chOff x="0" y="0"/>
            <a:chExt cx="1554104" cy="53479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54104" cy="534796"/>
            </a:xfrm>
            <a:custGeom>
              <a:avLst/>
              <a:gdLst/>
              <a:ahLst/>
              <a:cxnLst/>
              <a:rect r="r" b="b" t="t" l="l"/>
              <a:pathLst>
                <a:path h="534796" w="1554104">
                  <a:moveTo>
                    <a:pt x="60283" y="0"/>
                  </a:moveTo>
                  <a:lnTo>
                    <a:pt x="1493821" y="0"/>
                  </a:lnTo>
                  <a:cubicBezTo>
                    <a:pt x="1509809" y="0"/>
                    <a:pt x="1525142" y="6351"/>
                    <a:pt x="1536447" y="17656"/>
                  </a:cubicBezTo>
                  <a:cubicBezTo>
                    <a:pt x="1547753" y="28962"/>
                    <a:pt x="1554104" y="44295"/>
                    <a:pt x="1554104" y="60283"/>
                  </a:cubicBezTo>
                  <a:lnTo>
                    <a:pt x="1554104" y="474513"/>
                  </a:lnTo>
                  <a:cubicBezTo>
                    <a:pt x="1554104" y="507807"/>
                    <a:pt x="1527114" y="534796"/>
                    <a:pt x="1493821" y="534796"/>
                  </a:cubicBezTo>
                  <a:lnTo>
                    <a:pt x="60283" y="534796"/>
                  </a:lnTo>
                  <a:cubicBezTo>
                    <a:pt x="44295" y="534796"/>
                    <a:pt x="28962" y="528445"/>
                    <a:pt x="17656" y="517140"/>
                  </a:cubicBezTo>
                  <a:cubicBezTo>
                    <a:pt x="6351" y="505835"/>
                    <a:pt x="0" y="490501"/>
                    <a:pt x="0" y="474513"/>
                  </a:cubicBezTo>
                  <a:lnTo>
                    <a:pt x="0" y="60283"/>
                  </a:lnTo>
                  <a:cubicBezTo>
                    <a:pt x="0" y="44295"/>
                    <a:pt x="6351" y="28962"/>
                    <a:pt x="17656" y="17656"/>
                  </a:cubicBezTo>
                  <a:cubicBezTo>
                    <a:pt x="28962" y="6351"/>
                    <a:pt x="44295" y="0"/>
                    <a:pt x="60283" y="0"/>
                  </a:cubicBezTo>
                  <a:close/>
                </a:path>
              </a:pathLst>
            </a:custGeom>
            <a:solidFill>
              <a:srgbClr val="D9D0C2">
                <a:alpha val="53725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54104" cy="572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390994" y="4592773"/>
            <a:ext cx="6549918" cy="2253892"/>
            <a:chOff x="0" y="0"/>
            <a:chExt cx="1554143" cy="5347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54143" cy="534796"/>
            </a:xfrm>
            <a:custGeom>
              <a:avLst/>
              <a:gdLst/>
              <a:ahLst/>
              <a:cxnLst/>
              <a:rect r="r" b="b" t="t" l="l"/>
              <a:pathLst>
                <a:path h="534796" w="1554143">
                  <a:moveTo>
                    <a:pt x="60281" y="0"/>
                  </a:moveTo>
                  <a:lnTo>
                    <a:pt x="1493862" y="0"/>
                  </a:lnTo>
                  <a:cubicBezTo>
                    <a:pt x="1527154" y="0"/>
                    <a:pt x="1554143" y="26989"/>
                    <a:pt x="1554143" y="60281"/>
                  </a:cubicBezTo>
                  <a:lnTo>
                    <a:pt x="1554143" y="474515"/>
                  </a:lnTo>
                  <a:cubicBezTo>
                    <a:pt x="1554143" y="507807"/>
                    <a:pt x="1527154" y="534796"/>
                    <a:pt x="1493862" y="534796"/>
                  </a:cubicBezTo>
                  <a:lnTo>
                    <a:pt x="60281" y="534796"/>
                  </a:lnTo>
                  <a:cubicBezTo>
                    <a:pt x="26989" y="534796"/>
                    <a:pt x="0" y="507807"/>
                    <a:pt x="0" y="474515"/>
                  </a:cubicBezTo>
                  <a:lnTo>
                    <a:pt x="0" y="60281"/>
                  </a:lnTo>
                  <a:cubicBezTo>
                    <a:pt x="0" y="26989"/>
                    <a:pt x="26989" y="0"/>
                    <a:pt x="60281" y="0"/>
                  </a:cubicBezTo>
                  <a:close/>
                </a:path>
              </a:pathLst>
            </a:custGeom>
            <a:solidFill>
              <a:srgbClr val="D9D0C2">
                <a:alpha val="53725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54143" cy="572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347254" y="4580365"/>
            <a:ext cx="6549751" cy="2253892"/>
            <a:chOff x="0" y="0"/>
            <a:chExt cx="1554104" cy="53479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54104" cy="534796"/>
            </a:xfrm>
            <a:custGeom>
              <a:avLst/>
              <a:gdLst/>
              <a:ahLst/>
              <a:cxnLst/>
              <a:rect r="r" b="b" t="t" l="l"/>
              <a:pathLst>
                <a:path h="534796" w="1554104">
                  <a:moveTo>
                    <a:pt x="60283" y="0"/>
                  </a:moveTo>
                  <a:lnTo>
                    <a:pt x="1493821" y="0"/>
                  </a:lnTo>
                  <a:cubicBezTo>
                    <a:pt x="1509809" y="0"/>
                    <a:pt x="1525142" y="6351"/>
                    <a:pt x="1536447" y="17656"/>
                  </a:cubicBezTo>
                  <a:cubicBezTo>
                    <a:pt x="1547753" y="28962"/>
                    <a:pt x="1554104" y="44295"/>
                    <a:pt x="1554104" y="60283"/>
                  </a:cubicBezTo>
                  <a:lnTo>
                    <a:pt x="1554104" y="474513"/>
                  </a:lnTo>
                  <a:cubicBezTo>
                    <a:pt x="1554104" y="507807"/>
                    <a:pt x="1527114" y="534796"/>
                    <a:pt x="1493821" y="534796"/>
                  </a:cubicBezTo>
                  <a:lnTo>
                    <a:pt x="60283" y="534796"/>
                  </a:lnTo>
                  <a:cubicBezTo>
                    <a:pt x="44295" y="534796"/>
                    <a:pt x="28962" y="528445"/>
                    <a:pt x="17656" y="517140"/>
                  </a:cubicBezTo>
                  <a:cubicBezTo>
                    <a:pt x="6351" y="505835"/>
                    <a:pt x="0" y="490501"/>
                    <a:pt x="0" y="474513"/>
                  </a:cubicBezTo>
                  <a:lnTo>
                    <a:pt x="0" y="60283"/>
                  </a:lnTo>
                  <a:cubicBezTo>
                    <a:pt x="0" y="44295"/>
                    <a:pt x="6351" y="28962"/>
                    <a:pt x="17656" y="17656"/>
                  </a:cubicBezTo>
                  <a:cubicBezTo>
                    <a:pt x="28962" y="6351"/>
                    <a:pt x="44295" y="0"/>
                    <a:pt x="60283" y="0"/>
                  </a:cubicBezTo>
                  <a:close/>
                </a:path>
              </a:pathLst>
            </a:custGeom>
            <a:solidFill>
              <a:srgbClr val="D9D0C2">
                <a:alpha val="53725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554104" cy="572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347254" y="7244695"/>
            <a:ext cx="6549751" cy="2253892"/>
            <a:chOff x="0" y="0"/>
            <a:chExt cx="1554104" cy="53479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54104" cy="534796"/>
            </a:xfrm>
            <a:custGeom>
              <a:avLst/>
              <a:gdLst/>
              <a:ahLst/>
              <a:cxnLst/>
              <a:rect r="r" b="b" t="t" l="l"/>
              <a:pathLst>
                <a:path h="534796" w="1554104">
                  <a:moveTo>
                    <a:pt x="60283" y="0"/>
                  </a:moveTo>
                  <a:lnTo>
                    <a:pt x="1493821" y="0"/>
                  </a:lnTo>
                  <a:cubicBezTo>
                    <a:pt x="1509809" y="0"/>
                    <a:pt x="1525142" y="6351"/>
                    <a:pt x="1536447" y="17656"/>
                  </a:cubicBezTo>
                  <a:cubicBezTo>
                    <a:pt x="1547753" y="28962"/>
                    <a:pt x="1554104" y="44295"/>
                    <a:pt x="1554104" y="60283"/>
                  </a:cubicBezTo>
                  <a:lnTo>
                    <a:pt x="1554104" y="474513"/>
                  </a:lnTo>
                  <a:cubicBezTo>
                    <a:pt x="1554104" y="507807"/>
                    <a:pt x="1527114" y="534796"/>
                    <a:pt x="1493821" y="534796"/>
                  </a:cubicBezTo>
                  <a:lnTo>
                    <a:pt x="60283" y="534796"/>
                  </a:lnTo>
                  <a:cubicBezTo>
                    <a:pt x="44295" y="534796"/>
                    <a:pt x="28962" y="528445"/>
                    <a:pt x="17656" y="517140"/>
                  </a:cubicBezTo>
                  <a:cubicBezTo>
                    <a:pt x="6351" y="505835"/>
                    <a:pt x="0" y="490501"/>
                    <a:pt x="0" y="474513"/>
                  </a:cubicBezTo>
                  <a:lnTo>
                    <a:pt x="0" y="60283"/>
                  </a:lnTo>
                  <a:cubicBezTo>
                    <a:pt x="0" y="44295"/>
                    <a:pt x="6351" y="28962"/>
                    <a:pt x="17656" y="17656"/>
                  </a:cubicBezTo>
                  <a:cubicBezTo>
                    <a:pt x="28962" y="6351"/>
                    <a:pt x="44295" y="0"/>
                    <a:pt x="60283" y="0"/>
                  </a:cubicBezTo>
                  <a:close/>
                </a:path>
              </a:pathLst>
            </a:custGeom>
            <a:solidFill>
              <a:srgbClr val="D9D0C2">
                <a:alpha val="53725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554104" cy="572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0545988" y="2116046"/>
            <a:ext cx="4152285" cy="1787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17"/>
              </a:lnSpc>
            </a:pPr>
            <a:r>
              <a:rPr lang="en-US" sz="3440" b="true">
                <a:solidFill>
                  <a:srgbClr val="16324F"/>
                </a:solidFill>
                <a:latin typeface="Roca Two Bold"/>
                <a:ea typeface="Roca Two Bold"/>
                <a:cs typeface="Roca Two Bold"/>
                <a:sym typeface="Roca Two Bold"/>
              </a:rPr>
              <a:t>Allow users to ask questions in natural language.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533484" y="4780376"/>
            <a:ext cx="4264938" cy="1787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17"/>
              </a:lnSpc>
            </a:pPr>
            <a:r>
              <a:rPr lang="en-US" sz="3440" b="true">
                <a:solidFill>
                  <a:srgbClr val="16324F"/>
                </a:solidFill>
                <a:latin typeface="Roca Two Bold"/>
                <a:ea typeface="Roca Two Bold"/>
                <a:cs typeface="Roca Two Bold"/>
                <a:sym typeface="Roca Two Bold"/>
              </a:rPr>
              <a:t>Clear guidance  about  employment procedures.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321271" y="8092809"/>
            <a:ext cx="4601718" cy="581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17"/>
              </a:lnSpc>
            </a:pPr>
            <a:r>
              <a:rPr lang="en-US" sz="3440" b="true">
                <a:solidFill>
                  <a:srgbClr val="16324F"/>
                </a:solidFill>
                <a:latin typeface="Roca Two Bold"/>
                <a:ea typeface="Roca Two Bold"/>
                <a:cs typeface="Roca Two Bold"/>
                <a:sym typeface="Roca Two Bold"/>
              </a:rPr>
              <a:t>Deployable extension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827527" y="2093315"/>
            <a:ext cx="5676852" cy="1787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17"/>
              </a:lnSpc>
            </a:pPr>
            <a:r>
              <a:rPr lang="en-US" sz="3440" b="true">
                <a:solidFill>
                  <a:srgbClr val="16324F"/>
                </a:solidFill>
                <a:latin typeface="Roca Two Bold"/>
                <a:ea typeface="Roca Two Bold"/>
                <a:cs typeface="Roca Two Bold"/>
                <a:sym typeface="Roca Two Bold"/>
              </a:rPr>
              <a:t>Provide a more interactive and personalized recruitment experience.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340514" y="7467437"/>
            <a:ext cx="4650879" cy="1787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17"/>
              </a:lnSpc>
            </a:pPr>
            <a:r>
              <a:rPr lang="en-US" sz="3440" b="true">
                <a:solidFill>
                  <a:srgbClr val="16324F"/>
                </a:solidFill>
                <a:latin typeface="Roca Two Bold"/>
                <a:ea typeface="Roca Two Bold"/>
                <a:cs typeface="Roca Two Bold"/>
                <a:sym typeface="Roca Two Bold"/>
              </a:rPr>
              <a:t>Job recommendations through profile-job matching.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545988" y="5094104"/>
            <a:ext cx="4148559" cy="1184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17"/>
              </a:lnSpc>
            </a:pPr>
            <a:r>
              <a:rPr lang="en-US" sz="3440" b="true">
                <a:solidFill>
                  <a:srgbClr val="16324F"/>
                </a:solidFill>
                <a:latin typeface="Roca Two Bold"/>
                <a:ea typeface="Roca Two Bold"/>
                <a:cs typeface="Roca Two Bold"/>
                <a:sym typeface="Roca Two Bold"/>
              </a:rPr>
              <a:t>Support CV/profile analysis.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4918430" y="98141"/>
            <a:ext cx="5596141" cy="891916"/>
            <a:chOff x="0" y="0"/>
            <a:chExt cx="7461521" cy="1189222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7461521" cy="1189222"/>
              <a:chOff x="0" y="0"/>
              <a:chExt cx="2150813" cy="342798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2150813" cy="342798"/>
              </a:xfrm>
              <a:custGeom>
                <a:avLst/>
                <a:gdLst/>
                <a:ahLst/>
                <a:cxnLst/>
                <a:rect r="r" b="b" t="t" l="l"/>
                <a:pathLst>
                  <a:path h="342798" w="2150813">
                    <a:moveTo>
                      <a:pt x="138344" y="0"/>
                    </a:moveTo>
                    <a:lnTo>
                      <a:pt x="2012469" y="0"/>
                    </a:lnTo>
                    <a:cubicBezTo>
                      <a:pt x="2049160" y="0"/>
                      <a:pt x="2084348" y="14575"/>
                      <a:pt x="2110293" y="40520"/>
                    </a:cubicBezTo>
                    <a:cubicBezTo>
                      <a:pt x="2136237" y="66465"/>
                      <a:pt x="2150813" y="101653"/>
                      <a:pt x="2150813" y="138344"/>
                    </a:cubicBezTo>
                    <a:lnTo>
                      <a:pt x="2150813" y="204454"/>
                    </a:lnTo>
                    <a:cubicBezTo>
                      <a:pt x="2150813" y="241145"/>
                      <a:pt x="2136237" y="276333"/>
                      <a:pt x="2110293" y="302278"/>
                    </a:cubicBezTo>
                    <a:cubicBezTo>
                      <a:pt x="2084348" y="328222"/>
                      <a:pt x="2049160" y="342798"/>
                      <a:pt x="2012469" y="342798"/>
                    </a:cubicBezTo>
                    <a:lnTo>
                      <a:pt x="138344" y="342798"/>
                    </a:lnTo>
                    <a:cubicBezTo>
                      <a:pt x="101653" y="342798"/>
                      <a:pt x="66465" y="328222"/>
                      <a:pt x="40520" y="302278"/>
                    </a:cubicBezTo>
                    <a:cubicBezTo>
                      <a:pt x="14575" y="276333"/>
                      <a:pt x="0" y="241145"/>
                      <a:pt x="0" y="204454"/>
                    </a:cubicBezTo>
                    <a:lnTo>
                      <a:pt x="0" y="138344"/>
                    </a:lnTo>
                    <a:cubicBezTo>
                      <a:pt x="0" y="101653"/>
                      <a:pt x="14575" y="66465"/>
                      <a:pt x="40520" y="40520"/>
                    </a:cubicBezTo>
                    <a:cubicBezTo>
                      <a:pt x="66465" y="14575"/>
                      <a:pt x="101653" y="0"/>
                      <a:pt x="1383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57150" cap="rnd">
                <a:solidFill>
                  <a:srgbClr val="034088"/>
                </a:solidFill>
                <a:prstDash val="solid"/>
                <a:round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66675"/>
                <a:ext cx="2150813" cy="4094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180"/>
                  </a:lnSpc>
                </a:pPr>
              </a:p>
            </p:txBody>
          </p:sp>
        </p:grpSp>
        <p:sp>
          <p:nvSpPr>
            <p:cNvPr name="TextBox 36" id="36"/>
            <p:cNvSpPr txBox="true"/>
            <p:nvPr/>
          </p:nvSpPr>
          <p:spPr>
            <a:xfrm rot="0">
              <a:off x="434493" y="191758"/>
              <a:ext cx="6592536" cy="741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50"/>
                </a:lnSpc>
                <a:spcBef>
                  <a:spcPct val="0"/>
                </a:spcBef>
              </a:pPr>
              <a:r>
                <a:rPr lang="en-US" b="true" sz="3321">
                  <a:solidFill>
                    <a:srgbClr val="16324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INTROCUTION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508739" y="3204909"/>
            <a:ext cx="9270523" cy="3877182"/>
            <a:chOff x="0" y="0"/>
            <a:chExt cx="4025065" cy="16833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25069" cy="1683390"/>
            </a:xfrm>
            <a:custGeom>
              <a:avLst/>
              <a:gdLst/>
              <a:ahLst/>
              <a:cxnLst/>
              <a:rect r="r" b="b" t="t" l="l"/>
              <a:pathLst>
                <a:path h="1683390" w="4025069">
                  <a:moveTo>
                    <a:pt x="0" y="0"/>
                  </a:moveTo>
                  <a:lnTo>
                    <a:pt x="4025069" y="0"/>
                  </a:lnTo>
                  <a:lnTo>
                    <a:pt x="4025069" y="1683390"/>
                  </a:lnTo>
                  <a:lnTo>
                    <a:pt x="0" y="16833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135" r="-129884" b="-4406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4025065" cy="1683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551"/>
                </a:lnSpc>
              </a:pPr>
              <a:r>
                <a:rPr lang="en-US" b="true" sz="10459" spc="-261">
                  <a:solidFill>
                    <a:srgbClr val="16324F"/>
                  </a:solidFill>
                  <a:latin typeface="Roca Two Bold"/>
                  <a:ea typeface="Roca Two Bold"/>
                  <a:cs typeface="Roca Two Bold"/>
                  <a:sym typeface="Roca Two Bold"/>
                </a:rPr>
                <a:t>State of the Art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6954500" y="9496425"/>
            <a:ext cx="7620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6E7A86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ED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6954500" y="9496425"/>
            <a:ext cx="7620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6E7A86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8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273191" y="2507985"/>
            <a:ext cx="7093399" cy="7308443"/>
            <a:chOff x="0" y="0"/>
            <a:chExt cx="9457865" cy="9744591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6854517"/>
              <a:ext cx="9116462" cy="2890074"/>
              <a:chOff x="0" y="0"/>
              <a:chExt cx="1773852" cy="56234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773852" cy="562341"/>
              </a:xfrm>
              <a:custGeom>
                <a:avLst/>
                <a:gdLst/>
                <a:ahLst/>
                <a:cxnLst/>
                <a:rect r="r" b="b" t="t" l="l"/>
                <a:pathLst>
                  <a:path h="562341" w="1773852">
                    <a:moveTo>
                      <a:pt x="82836" y="0"/>
                    </a:moveTo>
                    <a:lnTo>
                      <a:pt x="1691016" y="0"/>
                    </a:lnTo>
                    <a:cubicBezTo>
                      <a:pt x="1712986" y="0"/>
                      <a:pt x="1734055" y="8727"/>
                      <a:pt x="1749590" y="24262"/>
                    </a:cubicBezTo>
                    <a:cubicBezTo>
                      <a:pt x="1765125" y="39797"/>
                      <a:pt x="1773852" y="60867"/>
                      <a:pt x="1773852" y="82836"/>
                    </a:cubicBezTo>
                    <a:lnTo>
                      <a:pt x="1773852" y="479505"/>
                    </a:lnTo>
                    <a:cubicBezTo>
                      <a:pt x="1773852" y="501475"/>
                      <a:pt x="1765125" y="522545"/>
                      <a:pt x="1749590" y="538079"/>
                    </a:cubicBezTo>
                    <a:cubicBezTo>
                      <a:pt x="1734055" y="553614"/>
                      <a:pt x="1712986" y="562341"/>
                      <a:pt x="1691016" y="562341"/>
                    </a:cubicBezTo>
                    <a:lnTo>
                      <a:pt x="82836" y="562341"/>
                    </a:lnTo>
                    <a:cubicBezTo>
                      <a:pt x="60867" y="562341"/>
                      <a:pt x="39797" y="553614"/>
                      <a:pt x="24262" y="538079"/>
                    </a:cubicBezTo>
                    <a:cubicBezTo>
                      <a:pt x="8727" y="522545"/>
                      <a:pt x="0" y="501475"/>
                      <a:pt x="0" y="479505"/>
                    </a:cubicBezTo>
                    <a:lnTo>
                      <a:pt x="0" y="82836"/>
                    </a:lnTo>
                    <a:cubicBezTo>
                      <a:pt x="0" y="60867"/>
                      <a:pt x="8727" y="39797"/>
                      <a:pt x="24262" y="24262"/>
                    </a:cubicBezTo>
                    <a:cubicBezTo>
                      <a:pt x="39797" y="8727"/>
                      <a:pt x="60867" y="0"/>
                      <a:pt x="82836" y="0"/>
                    </a:cubicBezTo>
                    <a:close/>
                  </a:path>
                </a:pathLst>
              </a:custGeom>
              <a:solidFill>
                <a:srgbClr val="FF3131">
                  <a:alpha val="29804"/>
                </a:srgbClr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1773852" cy="600441"/>
              </a:xfrm>
              <a:prstGeom prst="rect">
                <a:avLst/>
              </a:prstGeom>
            </p:spPr>
            <p:txBody>
              <a:bodyPr anchor="ctr" rtlCol="false" tIns="43258" lIns="43258" bIns="43258" rIns="432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7933085" y="6307568"/>
              <a:ext cx="1524780" cy="1524780"/>
            </a:xfrm>
            <a:custGeom>
              <a:avLst/>
              <a:gdLst/>
              <a:ahLst/>
              <a:cxnLst/>
              <a:rect r="r" b="b" t="t" l="l"/>
              <a:pathLst>
                <a:path h="1524780" w="1524780">
                  <a:moveTo>
                    <a:pt x="0" y="0"/>
                  </a:moveTo>
                  <a:lnTo>
                    <a:pt x="1524780" y="0"/>
                  </a:lnTo>
                  <a:lnTo>
                    <a:pt x="1524780" y="1524780"/>
                  </a:lnTo>
                  <a:lnTo>
                    <a:pt x="0" y="1524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0" id="10"/>
            <p:cNvGrpSpPr/>
            <p:nvPr/>
          </p:nvGrpSpPr>
          <p:grpSpPr>
            <a:xfrm rot="0">
              <a:off x="0" y="3368741"/>
              <a:ext cx="9116462" cy="2890074"/>
              <a:chOff x="0" y="0"/>
              <a:chExt cx="1773852" cy="562341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773852" cy="562341"/>
              </a:xfrm>
              <a:custGeom>
                <a:avLst/>
                <a:gdLst/>
                <a:ahLst/>
                <a:cxnLst/>
                <a:rect r="r" b="b" t="t" l="l"/>
                <a:pathLst>
                  <a:path h="562341" w="1773852">
                    <a:moveTo>
                      <a:pt x="82836" y="0"/>
                    </a:moveTo>
                    <a:lnTo>
                      <a:pt x="1691016" y="0"/>
                    </a:lnTo>
                    <a:cubicBezTo>
                      <a:pt x="1712986" y="0"/>
                      <a:pt x="1734055" y="8727"/>
                      <a:pt x="1749590" y="24262"/>
                    </a:cubicBezTo>
                    <a:cubicBezTo>
                      <a:pt x="1765125" y="39797"/>
                      <a:pt x="1773852" y="60867"/>
                      <a:pt x="1773852" y="82836"/>
                    </a:cubicBezTo>
                    <a:lnTo>
                      <a:pt x="1773852" y="479505"/>
                    </a:lnTo>
                    <a:cubicBezTo>
                      <a:pt x="1773852" y="501475"/>
                      <a:pt x="1765125" y="522545"/>
                      <a:pt x="1749590" y="538079"/>
                    </a:cubicBezTo>
                    <a:cubicBezTo>
                      <a:pt x="1734055" y="553614"/>
                      <a:pt x="1712986" y="562341"/>
                      <a:pt x="1691016" y="562341"/>
                    </a:cubicBezTo>
                    <a:lnTo>
                      <a:pt x="82836" y="562341"/>
                    </a:lnTo>
                    <a:cubicBezTo>
                      <a:pt x="60867" y="562341"/>
                      <a:pt x="39797" y="553614"/>
                      <a:pt x="24262" y="538079"/>
                    </a:cubicBezTo>
                    <a:cubicBezTo>
                      <a:pt x="8727" y="522545"/>
                      <a:pt x="0" y="501475"/>
                      <a:pt x="0" y="479505"/>
                    </a:cubicBezTo>
                    <a:lnTo>
                      <a:pt x="0" y="82836"/>
                    </a:lnTo>
                    <a:cubicBezTo>
                      <a:pt x="0" y="60867"/>
                      <a:pt x="8727" y="39797"/>
                      <a:pt x="24262" y="24262"/>
                    </a:cubicBezTo>
                    <a:cubicBezTo>
                      <a:pt x="39797" y="8727"/>
                      <a:pt x="60867" y="0"/>
                      <a:pt x="82836" y="0"/>
                    </a:cubicBezTo>
                    <a:close/>
                  </a:path>
                </a:pathLst>
              </a:custGeom>
              <a:solidFill>
                <a:srgbClr val="00BF63">
                  <a:alpha val="29804"/>
                </a:srgbClr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773852" cy="600441"/>
              </a:xfrm>
              <a:prstGeom prst="rect">
                <a:avLst/>
              </a:prstGeom>
            </p:spPr>
            <p:txBody>
              <a:bodyPr anchor="ctr" rtlCol="false" tIns="43258" lIns="43258" bIns="43258" rIns="43258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7932645" y="2845596"/>
              <a:ext cx="1525219" cy="1525219"/>
            </a:xfrm>
            <a:custGeom>
              <a:avLst/>
              <a:gdLst/>
              <a:ahLst/>
              <a:cxnLst/>
              <a:rect r="r" b="b" t="t" l="l"/>
              <a:pathLst>
                <a:path h="1525219" w="1525219">
                  <a:moveTo>
                    <a:pt x="0" y="0"/>
                  </a:moveTo>
                  <a:lnTo>
                    <a:pt x="1525220" y="0"/>
                  </a:lnTo>
                  <a:lnTo>
                    <a:pt x="1525220" y="1525220"/>
                  </a:lnTo>
                  <a:lnTo>
                    <a:pt x="0" y="1525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4" id="14"/>
            <p:cNvGrpSpPr/>
            <p:nvPr/>
          </p:nvGrpSpPr>
          <p:grpSpPr>
            <a:xfrm rot="0">
              <a:off x="553255" y="260117"/>
              <a:ext cx="8205215" cy="2596781"/>
              <a:chOff x="0" y="0"/>
              <a:chExt cx="1129892" cy="357588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129892" cy="357588"/>
              </a:xfrm>
              <a:custGeom>
                <a:avLst/>
                <a:gdLst/>
                <a:ahLst/>
                <a:cxnLst/>
                <a:rect r="r" b="b" t="t" l="l"/>
                <a:pathLst>
                  <a:path h="357588" w="1129892">
                    <a:moveTo>
                      <a:pt x="92036" y="0"/>
                    </a:moveTo>
                    <a:lnTo>
                      <a:pt x="1037857" y="0"/>
                    </a:lnTo>
                    <a:cubicBezTo>
                      <a:pt x="1062266" y="0"/>
                      <a:pt x="1085676" y="9697"/>
                      <a:pt x="1102936" y="26957"/>
                    </a:cubicBezTo>
                    <a:cubicBezTo>
                      <a:pt x="1120196" y="44217"/>
                      <a:pt x="1129892" y="67626"/>
                      <a:pt x="1129892" y="92036"/>
                    </a:cubicBezTo>
                    <a:lnTo>
                      <a:pt x="1129892" y="265552"/>
                    </a:lnTo>
                    <a:cubicBezTo>
                      <a:pt x="1129892" y="316382"/>
                      <a:pt x="1088687" y="357588"/>
                      <a:pt x="1037857" y="357588"/>
                    </a:cubicBezTo>
                    <a:lnTo>
                      <a:pt x="92036" y="357588"/>
                    </a:lnTo>
                    <a:cubicBezTo>
                      <a:pt x="67626" y="357588"/>
                      <a:pt x="44217" y="347891"/>
                      <a:pt x="26957" y="330631"/>
                    </a:cubicBezTo>
                    <a:cubicBezTo>
                      <a:pt x="9697" y="313371"/>
                      <a:pt x="0" y="289961"/>
                      <a:pt x="0" y="265552"/>
                    </a:cubicBezTo>
                    <a:lnTo>
                      <a:pt x="0" y="92036"/>
                    </a:lnTo>
                    <a:cubicBezTo>
                      <a:pt x="0" y="67626"/>
                      <a:pt x="9697" y="44217"/>
                      <a:pt x="26957" y="26957"/>
                    </a:cubicBezTo>
                    <a:cubicBezTo>
                      <a:pt x="44217" y="9697"/>
                      <a:pt x="67626" y="0"/>
                      <a:pt x="92036" y="0"/>
                    </a:cubicBezTo>
                    <a:close/>
                  </a:path>
                </a:pathLst>
              </a:custGeom>
              <a:solidFill>
                <a:srgbClr val="D9D0C2">
                  <a:alpha val="29804"/>
                </a:srgbClr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1129892" cy="395688"/>
              </a:xfrm>
              <a:prstGeom prst="rect">
                <a:avLst/>
              </a:prstGeom>
            </p:spPr>
            <p:txBody>
              <a:bodyPr anchor="ctr" rtlCol="false" tIns="35414" lIns="35414" bIns="35414" rIns="35414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1338136" y="614483"/>
              <a:ext cx="6679217" cy="31547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26"/>
                </a:lnSpc>
              </a:pPr>
              <a:r>
                <a:rPr lang="en-US" b="true" sz="4590">
                  <a:solidFill>
                    <a:srgbClr val="16324F"/>
                  </a:solidFill>
                  <a:latin typeface="Roca Two Bold"/>
                  <a:ea typeface="Roca Two Bold"/>
                  <a:cs typeface="Roca Two Bold"/>
                  <a:sym typeface="Roca Two Bold"/>
                </a:rPr>
                <a:t>Traditional Recruitment</a:t>
              </a:r>
            </a:p>
            <a:p>
              <a:pPr algn="ctr">
                <a:lnSpc>
                  <a:spcPts val="6426"/>
                </a:lnSpc>
              </a:pPr>
            </a:p>
          </p:txBody>
        </p:sp>
        <p:grpSp>
          <p:nvGrpSpPr>
            <p:cNvPr name="Group 18" id="18"/>
            <p:cNvGrpSpPr/>
            <p:nvPr/>
          </p:nvGrpSpPr>
          <p:grpSpPr>
            <a:xfrm rot="0">
              <a:off x="383766" y="0"/>
              <a:ext cx="1400416" cy="1400416"/>
              <a:chOff x="0" y="0"/>
              <a:chExt cx="192843" cy="192843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92843" cy="192843"/>
              </a:xfrm>
              <a:custGeom>
                <a:avLst/>
                <a:gdLst/>
                <a:ahLst/>
                <a:cxnLst/>
                <a:rect r="r" b="b" t="t" l="l"/>
                <a:pathLst>
                  <a:path h="192843" w="192843">
                    <a:moveTo>
                      <a:pt x="96422" y="0"/>
                    </a:moveTo>
                    <a:lnTo>
                      <a:pt x="96422" y="0"/>
                    </a:lnTo>
                    <a:cubicBezTo>
                      <a:pt x="149674" y="0"/>
                      <a:pt x="192843" y="43169"/>
                      <a:pt x="192843" y="96422"/>
                    </a:cubicBezTo>
                    <a:lnTo>
                      <a:pt x="192843" y="96422"/>
                    </a:lnTo>
                    <a:cubicBezTo>
                      <a:pt x="192843" y="149674"/>
                      <a:pt x="149674" y="192843"/>
                      <a:pt x="96422" y="192843"/>
                    </a:cubicBezTo>
                    <a:lnTo>
                      <a:pt x="96422" y="192843"/>
                    </a:lnTo>
                    <a:cubicBezTo>
                      <a:pt x="43169" y="192843"/>
                      <a:pt x="0" y="149674"/>
                      <a:pt x="0" y="96422"/>
                    </a:cubicBezTo>
                    <a:lnTo>
                      <a:pt x="0" y="96422"/>
                    </a:lnTo>
                    <a:cubicBezTo>
                      <a:pt x="0" y="43169"/>
                      <a:pt x="43169" y="0"/>
                      <a:pt x="96422" y="0"/>
                    </a:cubicBezTo>
                    <a:close/>
                  </a:path>
                </a:pathLst>
              </a:custGeom>
              <a:solidFill>
                <a:srgbClr val="031862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192843" cy="23094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21" id="21"/>
            <p:cNvSpPr/>
            <p:nvPr/>
          </p:nvSpPr>
          <p:spPr>
            <a:xfrm flipH="false" flipV="false" rot="0">
              <a:off x="431959" y="48194"/>
              <a:ext cx="1304029" cy="1304029"/>
            </a:xfrm>
            <a:custGeom>
              <a:avLst/>
              <a:gdLst/>
              <a:ahLst/>
              <a:cxnLst/>
              <a:rect r="r" b="b" t="t" l="l"/>
              <a:pathLst>
                <a:path h="1304029" w="1304029">
                  <a:moveTo>
                    <a:pt x="0" y="0"/>
                  </a:moveTo>
                  <a:lnTo>
                    <a:pt x="1304029" y="0"/>
                  </a:lnTo>
                  <a:lnTo>
                    <a:pt x="1304029" y="1304028"/>
                  </a:lnTo>
                  <a:lnTo>
                    <a:pt x="0" y="13040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175105" y="3929058"/>
              <a:ext cx="7757980" cy="22687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6614" indent="-268307" lvl="1">
                <a:lnSpc>
                  <a:spcPts val="3479"/>
                </a:lnSpc>
                <a:buFont typeface="Arial"/>
                <a:buChar char="•"/>
              </a:pPr>
              <a:r>
                <a:rPr lang="en-US" b="true" sz="2485">
                  <a:solidFill>
                    <a:srgbClr val="000000"/>
                  </a:solidFill>
                  <a:latin typeface="Roca Two Bold"/>
                  <a:ea typeface="Roca Two Bold"/>
                  <a:cs typeface="Roca Two Bold"/>
                  <a:sym typeface="Roca Two Bold"/>
                </a:rPr>
                <a:t>Direct human inte</a:t>
              </a:r>
              <a:r>
                <a:rPr lang="en-US" b="true" sz="2485">
                  <a:solidFill>
                    <a:srgbClr val="000000"/>
                  </a:solidFill>
                  <a:latin typeface="Roca Two Bold"/>
                  <a:ea typeface="Roca Two Bold"/>
                  <a:cs typeface="Roca Two Bold"/>
                  <a:sym typeface="Roca Two Bold"/>
                </a:rPr>
                <a:t>raction</a:t>
              </a:r>
            </a:p>
            <a:p>
              <a:pPr algn="l" marL="536614" indent="-268307" lvl="1">
                <a:lnSpc>
                  <a:spcPts val="3479"/>
                </a:lnSpc>
                <a:buFont typeface="Arial"/>
                <a:buChar char="•"/>
              </a:pPr>
              <a:r>
                <a:rPr lang="en-US" b="true" sz="2485">
                  <a:solidFill>
                    <a:srgbClr val="000000"/>
                  </a:solidFill>
                  <a:latin typeface="Roca Two Bold"/>
                  <a:ea typeface="Roca Two Bold"/>
                  <a:cs typeface="Roca Two Bold"/>
                  <a:sym typeface="Roca Two Bold"/>
                </a:rPr>
                <a:t>Physical verification of documents</a:t>
              </a:r>
            </a:p>
            <a:p>
              <a:pPr algn="l" marL="536614" indent="-268307" lvl="1">
                <a:lnSpc>
                  <a:spcPts val="3479"/>
                </a:lnSpc>
                <a:buFont typeface="Arial"/>
                <a:buChar char="•"/>
              </a:pPr>
              <a:r>
                <a:rPr lang="en-US" b="true" sz="2485">
                  <a:solidFill>
                    <a:srgbClr val="000000"/>
                  </a:solidFill>
                  <a:latin typeface="Roca Two Bold"/>
                  <a:ea typeface="Roca Two Bold"/>
                  <a:cs typeface="Roca Two Bold"/>
                  <a:sym typeface="Roca Two Bold"/>
                </a:rPr>
                <a:t>Personalized contact </a:t>
              </a:r>
            </a:p>
            <a:p>
              <a:pPr algn="l">
                <a:lnSpc>
                  <a:spcPts val="34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509516" y="1204108"/>
            <a:ext cx="17268968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000" b="true">
                <a:solidFill>
                  <a:srgbClr val="16324F"/>
                </a:solidFill>
                <a:latin typeface="Roca Two Bold"/>
                <a:ea typeface="Roca Two Bold"/>
                <a:cs typeface="Roca Two Bold"/>
                <a:sym typeface="Roca Two Bold"/>
              </a:rPr>
              <a:t> </a:t>
            </a:r>
            <a:r>
              <a:rPr lang="en-US" sz="9000" b="true">
                <a:solidFill>
                  <a:srgbClr val="16324F"/>
                </a:solidFill>
                <a:latin typeface="Roca Two Bold"/>
                <a:ea typeface="Roca Two Bold"/>
                <a:cs typeface="Roca Two Bold"/>
                <a:sym typeface="Roca Two Bold"/>
              </a:rPr>
              <a:t>Rec</a:t>
            </a:r>
            <a:r>
              <a:rPr lang="en-US" sz="9000" b="true">
                <a:solidFill>
                  <a:srgbClr val="16324F"/>
                </a:solidFill>
                <a:latin typeface="Roca Two Bold"/>
                <a:ea typeface="Roca Two Bold"/>
                <a:cs typeface="Roca Two Bold"/>
                <a:sym typeface="Roca Two Bold"/>
              </a:rPr>
              <a:t>ruitment &amp; E-Recruitment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73191" y="7936018"/>
            <a:ext cx="7243883" cy="1857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4258" indent="-287129" lvl="1">
              <a:lnSpc>
                <a:spcPts val="3723"/>
              </a:lnSpc>
              <a:buFont typeface="Arial"/>
              <a:buChar char="•"/>
            </a:pPr>
            <a:r>
              <a:rPr lang="en-US" b="true" sz="2659">
                <a:solidFill>
                  <a:srgbClr val="000000"/>
                </a:solidFill>
                <a:latin typeface="Roca Two Bold"/>
                <a:ea typeface="Roca Two Bold"/>
                <a:cs typeface="Roca Two Bold"/>
                <a:sym typeface="Roca Two Bold"/>
              </a:rPr>
              <a:t>Paper-based CVs and documents</a:t>
            </a:r>
          </a:p>
          <a:p>
            <a:pPr algn="l" marL="574258" indent="-287129" lvl="1">
              <a:lnSpc>
                <a:spcPts val="3723"/>
              </a:lnSpc>
              <a:buFont typeface="Arial"/>
              <a:buChar char="•"/>
            </a:pPr>
            <a:r>
              <a:rPr lang="en-US" b="true" sz="2659">
                <a:solidFill>
                  <a:srgbClr val="000000"/>
                </a:solidFill>
                <a:latin typeface="Roca Two Bold"/>
                <a:ea typeface="Roca Two Bold"/>
                <a:cs typeface="Roca Two Bold"/>
                <a:sym typeface="Roca Two Bold"/>
              </a:rPr>
              <a:t>Geographic constraints</a:t>
            </a:r>
          </a:p>
          <a:p>
            <a:pPr algn="l" marL="574258" indent="-287129" lvl="1">
              <a:lnSpc>
                <a:spcPts val="3723"/>
              </a:lnSpc>
              <a:buFont typeface="Arial"/>
              <a:buChar char="•"/>
            </a:pPr>
            <a:r>
              <a:rPr lang="en-US" b="true" sz="2659">
                <a:solidFill>
                  <a:srgbClr val="000000"/>
                </a:solidFill>
                <a:latin typeface="Roca Two Bold"/>
                <a:ea typeface="Roca Two Bold"/>
                <a:cs typeface="Roca Two Bold"/>
                <a:sym typeface="Roca Two Bold"/>
              </a:rPr>
              <a:t>Manual screening and administrative workload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538890" y="2499508"/>
            <a:ext cx="7475920" cy="7387574"/>
            <a:chOff x="0" y="0"/>
            <a:chExt cx="9967893" cy="9850098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6920560"/>
              <a:ext cx="9240947" cy="2929538"/>
              <a:chOff x="0" y="0"/>
              <a:chExt cx="1773852" cy="562341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773852" cy="562341"/>
              </a:xfrm>
              <a:custGeom>
                <a:avLst/>
                <a:gdLst/>
                <a:ahLst/>
                <a:cxnLst/>
                <a:rect r="r" b="b" t="t" l="l"/>
                <a:pathLst>
                  <a:path h="562341" w="1773852">
                    <a:moveTo>
                      <a:pt x="56969" y="0"/>
                    </a:moveTo>
                    <a:lnTo>
                      <a:pt x="1716883" y="0"/>
                    </a:lnTo>
                    <a:cubicBezTo>
                      <a:pt x="1748346" y="0"/>
                      <a:pt x="1773852" y="25506"/>
                      <a:pt x="1773852" y="56969"/>
                    </a:cubicBezTo>
                    <a:lnTo>
                      <a:pt x="1773852" y="505372"/>
                    </a:lnTo>
                    <a:cubicBezTo>
                      <a:pt x="1773852" y="520481"/>
                      <a:pt x="1767850" y="534972"/>
                      <a:pt x="1757166" y="545655"/>
                    </a:cubicBezTo>
                    <a:cubicBezTo>
                      <a:pt x="1746483" y="556339"/>
                      <a:pt x="1731992" y="562341"/>
                      <a:pt x="1716883" y="562341"/>
                    </a:cubicBezTo>
                    <a:lnTo>
                      <a:pt x="56969" y="562341"/>
                    </a:lnTo>
                    <a:cubicBezTo>
                      <a:pt x="25506" y="562341"/>
                      <a:pt x="0" y="536835"/>
                      <a:pt x="0" y="505372"/>
                    </a:cubicBezTo>
                    <a:lnTo>
                      <a:pt x="0" y="56969"/>
                    </a:lnTo>
                    <a:cubicBezTo>
                      <a:pt x="0" y="25506"/>
                      <a:pt x="25506" y="0"/>
                      <a:pt x="56969" y="0"/>
                    </a:cubicBezTo>
                    <a:close/>
                  </a:path>
                </a:pathLst>
              </a:custGeom>
              <a:solidFill>
                <a:srgbClr val="FF3131">
                  <a:alpha val="29804"/>
                </a:srgbClr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1773852" cy="600441"/>
              </a:xfrm>
              <a:prstGeom prst="rect">
                <a:avLst/>
              </a:prstGeom>
            </p:spPr>
            <p:txBody>
              <a:bodyPr anchor="ctr" rtlCol="false" tIns="62051" lIns="62051" bIns="62051" rIns="62051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29" id="29"/>
            <p:cNvSpPr/>
            <p:nvPr/>
          </p:nvSpPr>
          <p:spPr>
            <a:xfrm flipH="false" flipV="false" rot="0">
              <a:off x="8041410" y="6366143"/>
              <a:ext cx="1545601" cy="1545601"/>
            </a:xfrm>
            <a:custGeom>
              <a:avLst/>
              <a:gdLst/>
              <a:ahLst/>
              <a:cxnLst/>
              <a:rect r="r" b="b" t="t" l="l"/>
              <a:pathLst>
                <a:path h="1545601" w="1545601">
                  <a:moveTo>
                    <a:pt x="0" y="0"/>
                  </a:moveTo>
                  <a:lnTo>
                    <a:pt x="1545601" y="0"/>
                  </a:lnTo>
                  <a:lnTo>
                    <a:pt x="1545601" y="1545601"/>
                  </a:lnTo>
                  <a:lnTo>
                    <a:pt x="0" y="15456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30" id="30"/>
            <p:cNvGrpSpPr/>
            <p:nvPr/>
          </p:nvGrpSpPr>
          <p:grpSpPr>
            <a:xfrm rot="0">
              <a:off x="0" y="3387187"/>
              <a:ext cx="9240947" cy="2929538"/>
              <a:chOff x="0" y="0"/>
              <a:chExt cx="1773852" cy="562341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773852" cy="562341"/>
              </a:xfrm>
              <a:custGeom>
                <a:avLst/>
                <a:gdLst/>
                <a:ahLst/>
                <a:cxnLst/>
                <a:rect r="r" b="b" t="t" l="l"/>
                <a:pathLst>
                  <a:path h="562341" w="1773852">
                    <a:moveTo>
                      <a:pt x="56969" y="0"/>
                    </a:moveTo>
                    <a:lnTo>
                      <a:pt x="1716883" y="0"/>
                    </a:lnTo>
                    <a:cubicBezTo>
                      <a:pt x="1748346" y="0"/>
                      <a:pt x="1773852" y="25506"/>
                      <a:pt x="1773852" y="56969"/>
                    </a:cubicBezTo>
                    <a:lnTo>
                      <a:pt x="1773852" y="505372"/>
                    </a:lnTo>
                    <a:cubicBezTo>
                      <a:pt x="1773852" y="520481"/>
                      <a:pt x="1767850" y="534972"/>
                      <a:pt x="1757166" y="545655"/>
                    </a:cubicBezTo>
                    <a:cubicBezTo>
                      <a:pt x="1746483" y="556339"/>
                      <a:pt x="1731992" y="562341"/>
                      <a:pt x="1716883" y="562341"/>
                    </a:cubicBezTo>
                    <a:lnTo>
                      <a:pt x="56969" y="562341"/>
                    </a:lnTo>
                    <a:cubicBezTo>
                      <a:pt x="25506" y="562341"/>
                      <a:pt x="0" y="536835"/>
                      <a:pt x="0" y="505372"/>
                    </a:cubicBezTo>
                    <a:lnTo>
                      <a:pt x="0" y="56969"/>
                    </a:lnTo>
                    <a:cubicBezTo>
                      <a:pt x="0" y="25506"/>
                      <a:pt x="25506" y="0"/>
                      <a:pt x="56969" y="0"/>
                    </a:cubicBezTo>
                    <a:close/>
                  </a:path>
                </a:pathLst>
              </a:custGeom>
              <a:solidFill>
                <a:srgbClr val="00BF63">
                  <a:alpha val="29804"/>
                </a:srgbClr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1773852" cy="600441"/>
              </a:xfrm>
              <a:prstGeom prst="rect">
                <a:avLst/>
              </a:prstGeom>
            </p:spPr>
            <p:txBody>
              <a:bodyPr anchor="ctr" rtlCol="false" tIns="62051" lIns="62051" bIns="62051" rIns="62051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33" id="33"/>
            <p:cNvSpPr/>
            <p:nvPr/>
          </p:nvSpPr>
          <p:spPr>
            <a:xfrm flipH="false" flipV="false" rot="0">
              <a:off x="8040965" y="2856898"/>
              <a:ext cx="1546046" cy="1546046"/>
            </a:xfrm>
            <a:custGeom>
              <a:avLst/>
              <a:gdLst/>
              <a:ahLst/>
              <a:cxnLst/>
              <a:rect r="r" b="b" t="t" l="l"/>
              <a:pathLst>
                <a:path h="1546046" w="1546046">
                  <a:moveTo>
                    <a:pt x="0" y="0"/>
                  </a:moveTo>
                  <a:lnTo>
                    <a:pt x="1546046" y="0"/>
                  </a:lnTo>
                  <a:lnTo>
                    <a:pt x="1546046" y="1546047"/>
                  </a:lnTo>
                  <a:lnTo>
                    <a:pt x="0" y="15460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 rot="0">
              <a:off x="177496" y="3740967"/>
              <a:ext cx="8636714" cy="2904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43942" indent="-271971" lvl="1">
                <a:lnSpc>
                  <a:spcPts val="3527"/>
                </a:lnSpc>
                <a:buFont typeface="Arial"/>
                <a:buChar char="•"/>
              </a:pPr>
              <a:r>
                <a:rPr lang="en-US" b="true" sz="2519">
                  <a:solidFill>
                    <a:srgbClr val="000000"/>
                  </a:solidFill>
                  <a:latin typeface="Roca Two Bold"/>
                  <a:ea typeface="Roca Two Bold"/>
                  <a:cs typeface="Roca Two Bold"/>
                  <a:sym typeface="Roca Two Bold"/>
                </a:rPr>
                <a:t>access to opportunities</a:t>
              </a:r>
            </a:p>
            <a:p>
              <a:pPr algn="l" marL="543942" indent="-271971" lvl="1">
                <a:lnSpc>
                  <a:spcPts val="3527"/>
                </a:lnSpc>
                <a:buFont typeface="Arial"/>
                <a:buChar char="•"/>
              </a:pPr>
              <a:r>
                <a:rPr lang="en-US" b="true" sz="2519">
                  <a:solidFill>
                    <a:srgbClr val="000000"/>
                  </a:solidFill>
                  <a:latin typeface="Roca Two Bold"/>
                  <a:ea typeface="Roca Two Bold"/>
                  <a:cs typeface="Roca Two Bold"/>
                  <a:sym typeface="Roca Two Bold"/>
                </a:rPr>
                <a:t>reduces time and administrative effort</a:t>
              </a:r>
            </a:p>
            <a:p>
              <a:pPr algn="l" marL="543942" indent="-271971" lvl="1">
                <a:lnSpc>
                  <a:spcPts val="3527"/>
                </a:lnSpc>
                <a:buFont typeface="Arial"/>
                <a:buChar char="•"/>
              </a:pPr>
              <a:r>
                <a:rPr lang="en-US" b="true" sz="2519">
                  <a:solidFill>
                    <a:srgbClr val="000000"/>
                  </a:solidFill>
                  <a:latin typeface="Roca Two Bold"/>
                  <a:ea typeface="Roca Two Bold"/>
                  <a:cs typeface="Roca Two Bold"/>
                  <a:sym typeface="Roca Two Bold"/>
                </a:rPr>
                <a:t>Faster Connection between job seekers and employers</a:t>
              </a:r>
            </a:p>
            <a:p>
              <a:pPr algn="l">
                <a:lnSpc>
                  <a:spcPts val="3527"/>
                </a:lnSpc>
              </a:pP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177496" y="7349721"/>
              <a:ext cx="9790396" cy="1850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82099" indent="-291050" lvl="1">
                <a:lnSpc>
                  <a:spcPts val="3774"/>
                </a:lnSpc>
                <a:buFont typeface="Arial"/>
                <a:buChar char="•"/>
              </a:pPr>
              <a:r>
                <a:rPr lang="en-US" b="true" sz="2696">
                  <a:solidFill>
                    <a:srgbClr val="000000"/>
                  </a:solidFill>
                  <a:latin typeface="Roca Two Bold"/>
                  <a:ea typeface="Roca Two Bold"/>
                  <a:cs typeface="Roca Two Bold"/>
                  <a:sym typeface="Roca Two Bold"/>
                </a:rPr>
                <a:t>fo</a:t>
              </a:r>
              <a:r>
                <a:rPr lang="en-US" b="true" sz="2696">
                  <a:solidFill>
                    <a:srgbClr val="000000"/>
                  </a:solidFill>
                  <a:latin typeface="Roca Two Bold"/>
                  <a:ea typeface="Roca Two Bold"/>
                  <a:cs typeface="Roca Two Bold"/>
                  <a:sym typeface="Roca Two Bold"/>
                </a:rPr>
                <a:t>rms</a:t>
              </a:r>
            </a:p>
            <a:p>
              <a:pPr algn="l" marL="582099" indent="-291050" lvl="1">
                <a:lnSpc>
                  <a:spcPts val="3774"/>
                </a:lnSpc>
                <a:buFont typeface="Arial"/>
                <a:buChar char="•"/>
              </a:pPr>
              <a:r>
                <a:rPr lang="en-US" b="true" sz="2696">
                  <a:solidFill>
                    <a:srgbClr val="000000"/>
                  </a:solidFill>
                  <a:latin typeface="Roca Two Bold"/>
                  <a:ea typeface="Roca Two Bold"/>
                  <a:cs typeface="Roca Two Bold"/>
                  <a:sym typeface="Roca Two Bold"/>
                </a:rPr>
                <a:t>fixed filters</a:t>
              </a:r>
            </a:p>
            <a:p>
              <a:pPr algn="l" marL="582099" indent="-291050" lvl="1">
                <a:lnSpc>
                  <a:spcPts val="3774"/>
                </a:lnSpc>
                <a:buFont typeface="Arial"/>
                <a:buChar char="•"/>
              </a:pPr>
              <a:r>
                <a:rPr lang="en-US" b="true" sz="2696">
                  <a:solidFill>
                    <a:srgbClr val="000000"/>
                  </a:solidFill>
                  <a:latin typeface="Roca Two Bold"/>
                  <a:ea typeface="Roca Two Bold"/>
                  <a:cs typeface="Roca Two Bold"/>
                  <a:sym typeface="Roca Two Bold"/>
                </a:rPr>
                <a:t>manual processing</a:t>
              </a:r>
            </a:p>
          </p:txBody>
        </p:sp>
        <p:grpSp>
          <p:nvGrpSpPr>
            <p:cNvPr name="Group 36" id="36"/>
            <p:cNvGrpSpPr/>
            <p:nvPr/>
          </p:nvGrpSpPr>
          <p:grpSpPr>
            <a:xfrm rot="0">
              <a:off x="346985" y="260117"/>
              <a:ext cx="8205215" cy="2596781"/>
              <a:chOff x="0" y="0"/>
              <a:chExt cx="1129892" cy="357588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129892" cy="357588"/>
              </a:xfrm>
              <a:custGeom>
                <a:avLst/>
                <a:gdLst/>
                <a:ahLst/>
                <a:cxnLst/>
                <a:rect r="r" b="b" t="t" l="l"/>
                <a:pathLst>
                  <a:path h="357588" w="1129892">
                    <a:moveTo>
                      <a:pt x="64160" y="0"/>
                    </a:moveTo>
                    <a:lnTo>
                      <a:pt x="1065732" y="0"/>
                    </a:lnTo>
                    <a:cubicBezTo>
                      <a:pt x="1101167" y="0"/>
                      <a:pt x="1129892" y="28726"/>
                      <a:pt x="1129892" y="64160"/>
                    </a:cubicBezTo>
                    <a:lnTo>
                      <a:pt x="1129892" y="293427"/>
                    </a:lnTo>
                    <a:cubicBezTo>
                      <a:pt x="1129892" y="328862"/>
                      <a:pt x="1101167" y="357588"/>
                      <a:pt x="1065732" y="357588"/>
                    </a:cubicBezTo>
                    <a:lnTo>
                      <a:pt x="64160" y="357588"/>
                    </a:lnTo>
                    <a:cubicBezTo>
                      <a:pt x="28726" y="357588"/>
                      <a:pt x="0" y="328862"/>
                      <a:pt x="0" y="293427"/>
                    </a:cubicBezTo>
                    <a:lnTo>
                      <a:pt x="0" y="64160"/>
                    </a:lnTo>
                    <a:cubicBezTo>
                      <a:pt x="0" y="28726"/>
                      <a:pt x="28726" y="0"/>
                      <a:pt x="64160" y="0"/>
                    </a:cubicBezTo>
                    <a:close/>
                  </a:path>
                </a:pathLst>
              </a:custGeom>
              <a:solidFill>
                <a:srgbClr val="D9D0C2">
                  <a:alpha val="29804"/>
                </a:srgbClr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1129892" cy="39568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1109984" y="1013092"/>
              <a:ext cx="6679217" cy="10051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26"/>
                </a:lnSpc>
              </a:pPr>
              <a:r>
                <a:rPr lang="en-US" b="true" sz="4590">
                  <a:solidFill>
                    <a:srgbClr val="16324F"/>
                  </a:solidFill>
                  <a:latin typeface="Roca Two Bold"/>
                  <a:ea typeface="Roca Two Bold"/>
                  <a:cs typeface="Roca Two Bold"/>
                  <a:sym typeface="Roca Two Bold"/>
                </a:rPr>
                <a:t>E-Recruitment</a:t>
              </a:r>
            </a:p>
          </p:txBody>
        </p:sp>
        <p:grpSp>
          <p:nvGrpSpPr>
            <p:cNvPr name="Group 40" id="40"/>
            <p:cNvGrpSpPr/>
            <p:nvPr/>
          </p:nvGrpSpPr>
          <p:grpSpPr>
            <a:xfrm rot="0">
              <a:off x="177496" y="0"/>
              <a:ext cx="1400416" cy="1400416"/>
              <a:chOff x="0" y="0"/>
              <a:chExt cx="192843" cy="192843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92843" cy="192843"/>
              </a:xfrm>
              <a:custGeom>
                <a:avLst/>
                <a:gdLst/>
                <a:ahLst/>
                <a:cxnLst/>
                <a:rect r="r" b="b" t="t" l="l"/>
                <a:pathLst>
                  <a:path h="192843" w="192843">
                    <a:moveTo>
                      <a:pt x="96422" y="0"/>
                    </a:moveTo>
                    <a:lnTo>
                      <a:pt x="96422" y="0"/>
                    </a:lnTo>
                    <a:cubicBezTo>
                      <a:pt x="149674" y="0"/>
                      <a:pt x="192843" y="43169"/>
                      <a:pt x="192843" y="96422"/>
                    </a:cubicBezTo>
                    <a:lnTo>
                      <a:pt x="192843" y="96422"/>
                    </a:lnTo>
                    <a:cubicBezTo>
                      <a:pt x="192843" y="149674"/>
                      <a:pt x="149674" y="192843"/>
                      <a:pt x="96422" y="192843"/>
                    </a:cubicBezTo>
                    <a:lnTo>
                      <a:pt x="96422" y="192843"/>
                    </a:lnTo>
                    <a:cubicBezTo>
                      <a:pt x="43169" y="192843"/>
                      <a:pt x="0" y="149674"/>
                      <a:pt x="0" y="96422"/>
                    </a:cubicBezTo>
                    <a:lnTo>
                      <a:pt x="0" y="96422"/>
                    </a:lnTo>
                    <a:cubicBezTo>
                      <a:pt x="0" y="43169"/>
                      <a:pt x="43169" y="0"/>
                      <a:pt x="96422" y="0"/>
                    </a:cubicBezTo>
                    <a:close/>
                  </a:path>
                </a:pathLst>
              </a:custGeom>
              <a:solidFill>
                <a:srgbClr val="031862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38100"/>
                <a:ext cx="192843" cy="230943"/>
              </a:xfrm>
              <a:prstGeom prst="rect">
                <a:avLst/>
              </a:prstGeom>
            </p:spPr>
            <p:txBody>
              <a:bodyPr anchor="ctr" rtlCol="false" tIns="72870" lIns="72870" bIns="72870" rIns="7287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43" id="43"/>
            <p:cNvSpPr/>
            <p:nvPr/>
          </p:nvSpPr>
          <p:spPr>
            <a:xfrm flipH="false" flipV="false" rot="0">
              <a:off x="298542" y="260117"/>
              <a:ext cx="1158325" cy="781869"/>
            </a:xfrm>
            <a:custGeom>
              <a:avLst/>
              <a:gdLst/>
              <a:ahLst/>
              <a:cxnLst/>
              <a:rect r="r" b="b" t="t" l="l"/>
              <a:pathLst>
                <a:path h="781869" w="1158325">
                  <a:moveTo>
                    <a:pt x="0" y="0"/>
                  </a:moveTo>
                  <a:lnTo>
                    <a:pt x="1158325" y="0"/>
                  </a:lnTo>
                  <a:lnTo>
                    <a:pt x="1158325" y="781870"/>
                  </a:lnTo>
                  <a:lnTo>
                    <a:pt x="0" y="7818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4726906" y="136784"/>
            <a:ext cx="5596141" cy="891916"/>
            <a:chOff x="0" y="0"/>
            <a:chExt cx="7461521" cy="1189222"/>
          </a:xfrm>
        </p:grpSpPr>
        <p:grpSp>
          <p:nvGrpSpPr>
            <p:cNvPr name="Group 45" id="45"/>
            <p:cNvGrpSpPr/>
            <p:nvPr/>
          </p:nvGrpSpPr>
          <p:grpSpPr>
            <a:xfrm rot="0">
              <a:off x="0" y="0"/>
              <a:ext cx="7461521" cy="1189222"/>
              <a:chOff x="0" y="0"/>
              <a:chExt cx="2150813" cy="342798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2150813" cy="342798"/>
              </a:xfrm>
              <a:custGeom>
                <a:avLst/>
                <a:gdLst/>
                <a:ahLst/>
                <a:cxnLst/>
                <a:rect r="r" b="b" t="t" l="l"/>
                <a:pathLst>
                  <a:path h="342798" w="2150813">
                    <a:moveTo>
                      <a:pt x="138344" y="0"/>
                    </a:moveTo>
                    <a:lnTo>
                      <a:pt x="2012469" y="0"/>
                    </a:lnTo>
                    <a:cubicBezTo>
                      <a:pt x="2049160" y="0"/>
                      <a:pt x="2084348" y="14575"/>
                      <a:pt x="2110293" y="40520"/>
                    </a:cubicBezTo>
                    <a:cubicBezTo>
                      <a:pt x="2136237" y="66465"/>
                      <a:pt x="2150813" y="101653"/>
                      <a:pt x="2150813" y="138344"/>
                    </a:cubicBezTo>
                    <a:lnTo>
                      <a:pt x="2150813" y="204454"/>
                    </a:lnTo>
                    <a:cubicBezTo>
                      <a:pt x="2150813" y="241145"/>
                      <a:pt x="2136237" y="276333"/>
                      <a:pt x="2110293" y="302278"/>
                    </a:cubicBezTo>
                    <a:cubicBezTo>
                      <a:pt x="2084348" y="328222"/>
                      <a:pt x="2049160" y="342798"/>
                      <a:pt x="2012469" y="342798"/>
                    </a:cubicBezTo>
                    <a:lnTo>
                      <a:pt x="138344" y="342798"/>
                    </a:lnTo>
                    <a:cubicBezTo>
                      <a:pt x="101653" y="342798"/>
                      <a:pt x="66465" y="328222"/>
                      <a:pt x="40520" y="302278"/>
                    </a:cubicBezTo>
                    <a:cubicBezTo>
                      <a:pt x="14575" y="276333"/>
                      <a:pt x="0" y="241145"/>
                      <a:pt x="0" y="204454"/>
                    </a:cubicBezTo>
                    <a:lnTo>
                      <a:pt x="0" y="138344"/>
                    </a:lnTo>
                    <a:cubicBezTo>
                      <a:pt x="0" y="101653"/>
                      <a:pt x="14575" y="66465"/>
                      <a:pt x="40520" y="40520"/>
                    </a:cubicBezTo>
                    <a:cubicBezTo>
                      <a:pt x="66465" y="14575"/>
                      <a:pt x="101653" y="0"/>
                      <a:pt x="1383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57150" cap="rnd">
                <a:solidFill>
                  <a:srgbClr val="034088"/>
                </a:solidFill>
                <a:prstDash val="solid"/>
                <a:round/>
              </a:ln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66675"/>
                <a:ext cx="2150813" cy="4094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180"/>
                  </a:lnSpc>
                </a:pPr>
              </a:p>
            </p:txBody>
          </p:sp>
        </p:grpSp>
        <p:sp>
          <p:nvSpPr>
            <p:cNvPr name="TextBox 48" id="48"/>
            <p:cNvSpPr txBox="true"/>
            <p:nvPr/>
          </p:nvSpPr>
          <p:spPr>
            <a:xfrm rot="0">
              <a:off x="434493" y="191758"/>
              <a:ext cx="6592536" cy="741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50"/>
                </a:lnSpc>
                <a:spcBef>
                  <a:spcPct val="0"/>
                </a:spcBef>
              </a:pPr>
              <a:r>
                <a:rPr lang="en-US" b="true" sz="3321">
                  <a:solidFill>
                    <a:srgbClr val="16324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State of the Art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32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ED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6954500" y="9496425"/>
            <a:ext cx="7620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6E7A86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9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09516" y="1204108"/>
            <a:ext cx="17268968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000" b="true">
                <a:solidFill>
                  <a:srgbClr val="16324F"/>
                </a:solidFill>
                <a:latin typeface="Roca Two Bold"/>
                <a:ea typeface="Roca Two Bold"/>
                <a:cs typeface="Roca Two Bold"/>
                <a:sym typeface="Roca Two Bold"/>
              </a:rPr>
              <a:t>Wassit Online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09516" y="3576133"/>
            <a:ext cx="9586661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3299" b="true">
                <a:solidFill>
                  <a:srgbClr val="000000"/>
                </a:solidFill>
                <a:latin typeface="Roca Two Bold"/>
                <a:ea typeface="Roca Two Bold"/>
                <a:cs typeface="Roca Two Bold"/>
                <a:sym typeface="Roca Two Bold"/>
              </a:rPr>
              <a:t>Th</a:t>
            </a:r>
            <a:r>
              <a:rPr lang="en-US" b="true" sz="3299">
                <a:solidFill>
                  <a:srgbClr val="000000"/>
                </a:solidFill>
                <a:latin typeface="Roca Two Bold"/>
                <a:ea typeface="Roca Two Bold"/>
                <a:cs typeface="Roca Two Bold"/>
                <a:sym typeface="Roca Two Bold"/>
              </a:rPr>
              <a:t>e national platform of ANEM, Algeria's</a:t>
            </a:r>
          </a:p>
          <a:p>
            <a:pPr algn="l">
              <a:lnSpc>
                <a:spcPts val="4619"/>
              </a:lnSpc>
            </a:pPr>
            <a:r>
              <a:rPr lang="en-US" b="true" sz="3299">
                <a:solidFill>
                  <a:srgbClr val="000000"/>
                </a:solidFill>
                <a:latin typeface="Roca Two Bold"/>
                <a:ea typeface="Roca Two Bold"/>
                <a:cs typeface="Roca Two Bold"/>
                <a:sym typeface="Roca Two Bold"/>
              </a:rPr>
              <a:t>public employment agency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4726906" y="136784"/>
            <a:ext cx="5596141" cy="891916"/>
            <a:chOff x="0" y="0"/>
            <a:chExt cx="7461521" cy="1189222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7461521" cy="1189222"/>
              <a:chOff x="0" y="0"/>
              <a:chExt cx="2150813" cy="34279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150813" cy="342798"/>
              </a:xfrm>
              <a:custGeom>
                <a:avLst/>
                <a:gdLst/>
                <a:ahLst/>
                <a:cxnLst/>
                <a:rect r="r" b="b" t="t" l="l"/>
                <a:pathLst>
                  <a:path h="342798" w="2150813">
                    <a:moveTo>
                      <a:pt x="138344" y="0"/>
                    </a:moveTo>
                    <a:lnTo>
                      <a:pt x="2012469" y="0"/>
                    </a:lnTo>
                    <a:cubicBezTo>
                      <a:pt x="2049160" y="0"/>
                      <a:pt x="2084348" y="14575"/>
                      <a:pt x="2110293" y="40520"/>
                    </a:cubicBezTo>
                    <a:cubicBezTo>
                      <a:pt x="2136237" y="66465"/>
                      <a:pt x="2150813" y="101653"/>
                      <a:pt x="2150813" y="138344"/>
                    </a:cubicBezTo>
                    <a:lnTo>
                      <a:pt x="2150813" y="204454"/>
                    </a:lnTo>
                    <a:cubicBezTo>
                      <a:pt x="2150813" y="241145"/>
                      <a:pt x="2136237" y="276333"/>
                      <a:pt x="2110293" y="302278"/>
                    </a:cubicBezTo>
                    <a:cubicBezTo>
                      <a:pt x="2084348" y="328222"/>
                      <a:pt x="2049160" y="342798"/>
                      <a:pt x="2012469" y="342798"/>
                    </a:cubicBezTo>
                    <a:lnTo>
                      <a:pt x="138344" y="342798"/>
                    </a:lnTo>
                    <a:cubicBezTo>
                      <a:pt x="101653" y="342798"/>
                      <a:pt x="66465" y="328222"/>
                      <a:pt x="40520" y="302278"/>
                    </a:cubicBezTo>
                    <a:cubicBezTo>
                      <a:pt x="14575" y="276333"/>
                      <a:pt x="0" y="241145"/>
                      <a:pt x="0" y="204454"/>
                    </a:cubicBezTo>
                    <a:lnTo>
                      <a:pt x="0" y="138344"/>
                    </a:lnTo>
                    <a:cubicBezTo>
                      <a:pt x="0" y="101653"/>
                      <a:pt x="14575" y="66465"/>
                      <a:pt x="40520" y="40520"/>
                    </a:cubicBezTo>
                    <a:cubicBezTo>
                      <a:pt x="66465" y="14575"/>
                      <a:pt x="101653" y="0"/>
                      <a:pt x="1383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57150" cap="rnd">
                <a:solidFill>
                  <a:srgbClr val="034088"/>
                </a:solidFill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66675"/>
                <a:ext cx="2150813" cy="4094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180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434493" y="191758"/>
              <a:ext cx="6592536" cy="741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50"/>
                </a:lnSpc>
                <a:spcBef>
                  <a:spcPct val="0"/>
                </a:spcBef>
              </a:pPr>
              <a:r>
                <a:rPr lang="en-US" b="true" sz="3321">
                  <a:solidFill>
                    <a:srgbClr val="16324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State of the Art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096177" y="3554804"/>
            <a:ext cx="7591425" cy="4933950"/>
            <a:chOff x="0" y="0"/>
            <a:chExt cx="10121900" cy="6578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121900" cy="6578600"/>
            </a:xfrm>
            <a:custGeom>
              <a:avLst/>
              <a:gdLst/>
              <a:ahLst/>
              <a:cxnLst/>
              <a:rect r="r" b="b" t="t" l="l"/>
              <a:pathLst>
                <a:path h="6578600" w="10121900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lnTo>
                    <a:pt x="9731756" y="0"/>
                  </a:lnTo>
                  <a:cubicBezTo>
                    <a:pt x="9947148" y="0"/>
                    <a:pt x="10121900" y="174625"/>
                    <a:pt x="10121900" y="390144"/>
                  </a:cubicBezTo>
                  <a:lnTo>
                    <a:pt x="10121900" y="6188456"/>
                  </a:lnTo>
                  <a:cubicBezTo>
                    <a:pt x="10121900" y="6403975"/>
                    <a:pt x="9947275" y="6578600"/>
                    <a:pt x="9731756" y="6578600"/>
                  </a:cubicBezTo>
                  <a:lnTo>
                    <a:pt x="390144" y="6578600"/>
                  </a:lnTo>
                  <a:cubicBezTo>
                    <a:pt x="174625" y="6578600"/>
                    <a:pt x="0" y="6403975"/>
                    <a:pt x="0" y="6188456"/>
                  </a:cubicBezTo>
                  <a:close/>
                </a:path>
              </a:pathLst>
            </a:custGeom>
            <a:solidFill>
              <a:srgbClr val="16324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508429" y="4083442"/>
            <a:ext cx="5502621" cy="468691"/>
            <a:chOff x="0" y="0"/>
            <a:chExt cx="7336828" cy="62492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36830" cy="624921"/>
            </a:xfrm>
            <a:custGeom>
              <a:avLst/>
              <a:gdLst/>
              <a:ahLst/>
              <a:cxnLst/>
              <a:rect r="r" b="b" t="t" l="l"/>
              <a:pathLst>
                <a:path h="624921" w="7336830">
                  <a:moveTo>
                    <a:pt x="0" y="0"/>
                  </a:moveTo>
                  <a:lnTo>
                    <a:pt x="7336830" y="0"/>
                  </a:lnTo>
                  <a:lnTo>
                    <a:pt x="7336830" y="624921"/>
                  </a:lnTo>
                  <a:lnTo>
                    <a:pt x="0" y="62492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2181" r="0" b="-16534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7336828" cy="6249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2160" spc="540">
                  <a:solidFill>
                    <a:srgbClr val="E8743B"/>
                  </a:solidFill>
                  <a:latin typeface="Roca Two"/>
                  <a:ea typeface="Roca Two"/>
                  <a:cs typeface="Roca Two"/>
                  <a:sym typeface="Roca Two"/>
                </a:rPr>
                <a:t>CURRENT LIMITATIONS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820820" y="4803332"/>
            <a:ext cx="4324741" cy="476250"/>
            <a:chOff x="0" y="0"/>
            <a:chExt cx="5766321" cy="635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766315" cy="635000"/>
            </a:xfrm>
            <a:custGeom>
              <a:avLst/>
              <a:gdLst/>
              <a:ahLst/>
              <a:cxnLst/>
              <a:rect r="r" b="b" t="t" l="l"/>
              <a:pathLst>
                <a:path h="635000" w="5766315">
                  <a:moveTo>
                    <a:pt x="0" y="0"/>
                  </a:moveTo>
                  <a:lnTo>
                    <a:pt x="5766315" y="0"/>
                  </a:lnTo>
                  <a:lnTo>
                    <a:pt x="5766315" y="635000"/>
                  </a:lnTo>
                  <a:lnTo>
                    <a:pt x="0" y="635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6940" r="0" b="-12694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5766321" cy="63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55"/>
                </a:lnSpc>
              </a:pPr>
              <a:r>
                <a:rPr lang="en-US" sz="2879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No semantic search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820820" y="5333007"/>
            <a:ext cx="8216713" cy="371475"/>
            <a:chOff x="0" y="0"/>
            <a:chExt cx="10955617" cy="4953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55616" cy="495301"/>
            </a:xfrm>
            <a:custGeom>
              <a:avLst/>
              <a:gdLst/>
              <a:ahLst/>
              <a:cxnLst/>
              <a:rect r="r" b="b" t="t" l="l"/>
              <a:pathLst>
                <a:path h="495301" w="10955616">
                  <a:moveTo>
                    <a:pt x="0" y="0"/>
                  </a:moveTo>
                  <a:lnTo>
                    <a:pt x="10955616" y="0"/>
                  </a:lnTo>
                  <a:lnTo>
                    <a:pt x="10955616" y="495301"/>
                  </a:lnTo>
                  <a:lnTo>
                    <a:pt x="0" y="49530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0991" r="0" b="-3809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0955617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B9C2CA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Synonyms and related skills are not recognized.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820820" y="6021779"/>
            <a:ext cx="5297919" cy="476250"/>
            <a:chOff x="0" y="0"/>
            <a:chExt cx="7063892" cy="635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63899" cy="635000"/>
            </a:xfrm>
            <a:custGeom>
              <a:avLst/>
              <a:gdLst/>
              <a:ahLst/>
              <a:cxnLst/>
              <a:rect r="r" b="b" t="t" l="l"/>
              <a:pathLst>
                <a:path h="635000" w="7063899">
                  <a:moveTo>
                    <a:pt x="0" y="0"/>
                  </a:moveTo>
                  <a:lnTo>
                    <a:pt x="7063899" y="0"/>
                  </a:lnTo>
                  <a:lnTo>
                    <a:pt x="7063899" y="635000"/>
                  </a:lnTo>
                  <a:lnTo>
                    <a:pt x="0" y="635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6756" r="0" b="-16675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7063892" cy="63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55"/>
                </a:lnSpc>
              </a:pPr>
              <a:r>
                <a:rPr lang="en-US" sz="2879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No multilingual handling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820820" y="6551464"/>
            <a:ext cx="7484212" cy="371475"/>
            <a:chOff x="0" y="0"/>
            <a:chExt cx="9978949" cy="4953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978947" cy="495301"/>
            </a:xfrm>
            <a:custGeom>
              <a:avLst/>
              <a:gdLst/>
              <a:ahLst/>
              <a:cxnLst/>
              <a:rect r="r" b="b" t="t" l="l"/>
              <a:pathLst>
                <a:path h="495301" w="9978947">
                  <a:moveTo>
                    <a:pt x="0" y="0"/>
                  </a:moveTo>
                  <a:lnTo>
                    <a:pt x="9978947" y="0"/>
                  </a:lnTo>
                  <a:lnTo>
                    <a:pt x="9978947" y="495301"/>
                  </a:lnTo>
                  <a:lnTo>
                    <a:pt x="0" y="49530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2569" r="0" b="-34256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9978949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B9C2CA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Darija and Arabizi queries are unsupported.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820820" y="7240236"/>
            <a:ext cx="6000436" cy="476250"/>
            <a:chOff x="0" y="0"/>
            <a:chExt cx="8000581" cy="635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000584" cy="635000"/>
            </a:xfrm>
            <a:custGeom>
              <a:avLst/>
              <a:gdLst/>
              <a:ahLst/>
              <a:cxnLst/>
              <a:rect r="r" b="b" t="t" l="l"/>
              <a:pathLst>
                <a:path h="635000" w="8000584">
                  <a:moveTo>
                    <a:pt x="0" y="0"/>
                  </a:moveTo>
                  <a:lnTo>
                    <a:pt x="8000584" y="0"/>
                  </a:lnTo>
                  <a:lnTo>
                    <a:pt x="8000584" y="635000"/>
                  </a:lnTo>
                  <a:lnTo>
                    <a:pt x="0" y="635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498" r="0" b="-19549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8000581" cy="63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55"/>
                </a:lnSpc>
              </a:pPr>
              <a:r>
                <a:rPr lang="en-US" sz="2879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No conversational guidance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820820" y="7769921"/>
            <a:ext cx="7031469" cy="371475"/>
            <a:chOff x="0" y="0"/>
            <a:chExt cx="9375292" cy="4953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375299" cy="495301"/>
            </a:xfrm>
            <a:custGeom>
              <a:avLst/>
              <a:gdLst/>
              <a:ahLst/>
              <a:cxnLst/>
              <a:rect r="r" b="b" t="t" l="l"/>
              <a:pathLst>
                <a:path h="495301" w="9375299">
                  <a:moveTo>
                    <a:pt x="0" y="0"/>
                  </a:moveTo>
                  <a:lnTo>
                    <a:pt x="9375299" y="0"/>
                  </a:lnTo>
                  <a:lnTo>
                    <a:pt x="9375299" y="495301"/>
                  </a:lnTo>
                  <a:lnTo>
                    <a:pt x="0" y="49530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8821" r="0" b="-31882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9375292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B9C2CA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Users navigate alone without assistance.</a:t>
              </a:r>
            </a:p>
          </p:txBody>
        </p:sp>
      </p:grpSp>
      <p:sp>
        <p:nvSpPr>
          <p:cNvPr name="Freeform 35" id="35" descr="preencoded.png"/>
          <p:cNvSpPr/>
          <p:nvPr/>
        </p:nvSpPr>
        <p:spPr>
          <a:xfrm flipH="false" flipV="false" rot="0">
            <a:off x="10510515" y="4774004"/>
            <a:ext cx="6762750" cy="952500"/>
          </a:xfrm>
          <a:custGeom>
            <a:avLst/>
            <a:gdLst/>
            <a:ahLst/>
            <a:cxnLst/>
            <a:rect r="r" b="b" t="t" l="l"/>
            <a:pathLst>
              <a:path h="952500" w="6762750">
                <a:moveTo>
                  <a:pt x="0" y="0"/>
                </a:moveTo>
                <a:lnTo>
                  <a:pt x="6762750" y="0"/>
                </a:lnTo>
                <a:lnTo>
                  <a:pt x="6762750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 descr="preencoded.png"/>
          <p:cNvSpPr/>
          <p:nvPr/>
        </p:nvSpPr>
        <p:spPr>
          <a:xfrm flipH="false" flipV="false" rot="0">
            <a:off x="10498466" y="5841995"/>
            <a:ext cx="6762750" cy="952500"/>
          </a:xfrm>
          <a:custGeom>
            <a:avLst/>
            <a:gdLst/>
            <a:ahLst/>
            <a:cxnLst/>
            <a:rect r="r" b="b" t="t" l="l"/>
            <a:pathLst>
              <a:path h="952500" w="6762750">
                <a:moveTo>
                  <a:pt x="0" y="0"/>
                </a:moveTo>
                <a:lnTo>
                  <a:pt x="6762750" y="0"/>
                </a:lnTo>
                <a:lnTo>
                  <a:pt x="6762750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 descr="preencoded.png"/>
          <p:cNvSpPr/>
          <p:nvPr/>
        </p:nvSpPr>
        <p:spPr>
          <a:xfrm flipH="false" flipV="false" rot="0">
            <a:off x="10510515" y="7123850"/>
            <a:ext cx="6762750" cy="952500"/>
          </a:xfrm>
          <a:custGeom>
            <a:avLst/>
            <a:gdLst/>
            <a:ahLst/>
            <a:cxnLst/>
            <a:rect r="r" b="b" t="t" l="l"/>
            <a:pathLst>
              <a:path h="952500" w="6762750">
                <a:moveTo>
                  <a:pt x="0" y="0"/>
                </a:moveTo>
                <a:lnTo>
                  <a:pt x="6762750" y="0"/>
                </a:lnTo>
                <a:lnTo>
                  <a:pt x="6762750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1131968" y="6792271"/>
            <a:ext cx="174020" cy="180975"/>
            <a:chOff x="0" y="0"/>
            <a:chExt cx="232026" cy="2413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32026" cy="241300"/>
            </a:xfrm>
            <a:custGeom>
              <a:avLst/>
              <a:gdLst/>
              <a:ahLst/>
              <a:cxnLst/>
              <a:rect r="r" b="b" t="t" l="l"/>
              <a:pathLst>
                <a:path h="241300" w="232026">
                  <a:moveTo>
                    <a:pt x="0" y="120650"/>
                  </a:moveTo>
                  <a:cubicBezTo>
                    <a:pt x="0" y="53975"/>
                    <a:pt x="51901" y="0"/>
                    <a:pt x="116013" y="0"/>
                  </a:cubicBezTo>
                  <a:cubicBezTo>
                    <a:pt x="180125" y="0"/>
                    <a:pt x="232026" y="53975"/>
                    <a:pt x="232026" y="120650"/>
                  </a:cubicBezTo>
                  <a:cubicBezTo>
                    <a:pt x="232026" y="187325"/>
                    <a:pt x="180125" y="241300"/>
                    <a:pt x="116013" y="241300"/>
                  </a:cubicBezTo>
                  <a:cubicBezTo>
                    <a:pt x="51901" y="241300"/>
                    <a:pt x="0" y="187325"/>
                    <a:pt x="0" y="120650"/>
                  </a:cubicBez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621744" y="6791573"/>
            <a:ext cx="8141284" cy="645731"/>
            <a:chOff x="0" y="0"/>
            <a:chExt cx="10855045" cy="86097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855041" cy="860976"/>
            </a:xfrm>
            <a:custGeom>
              <a:avLst/>
              <a:gdLst/>
              <a:ahLst/>
              <a:cxnLst/>
              <a:rect r="r" b="b" t="t" l="l"/>
              <a:pathLst>
                <a:path h="860976" w="10855041">
                  <a:moveTo>
                    <a:pt x="0" y="0"/>
                  </a:moveTo>
                  <a:lnTo>
                    <a:pt x="10855041" y="0"/>
                  </a:lnTo>
                  <a:lnTo>
                    <a:pt x="10855041" y="860976"/>
                  </a:lnTo>
                  <a:lnTo>
                    <a:pt x="0" y="8609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0819" r="-3996" b="-19014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10855045" cy="860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67"/>
                </a:lnSpc>
              </a:pPr>
              <a:r>
                <a:rPr lang="en-US" sz="3139">
                  <a:solidFill>
                    <a:srgbClr val="1A273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Job posting and application management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31968" y="7535020"/>
            <a:ext cx="174020" cy="180975"/>
            <a:chOff x="0" y="0"/>
            <a:chExt cx="232026" cy="2413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32026" cy="241300"/>
            </a:xfrm>
            <a:custGeom>
              <a:avLst/>
              <a:gdLst/>
              <a:ahLst/>
              <a:cxnLst/>
              <a:rect r="r" b="b" t="t" l="l"/>
              <a:pathLst>
                <a:path h="241300" w="232026">
                  <a:moveTo>
                    <a:pt x="0" y="120650"/>
                  </a:moveTo>
                  <a:cubicBezTo>
                    <a:pt x="0" y="53975"/>
                    <a:pt x="51901" y="0"/>
                    <a:pt x="116013" y="0"/>
                  </a:cubicBezTo>
                  <a:cubicBezTo>
                    <a:pt x="180125" y="0"/>
                    <a:pt x="232026" y="53975"/>
                    <a:pt x="232026" y="120650"/>
                  </a:cubicBezTo>
                  <a:cubicBezTo>
                    <a:pt x="232026" y="187325"/>
                    <a:pt x="180125" y="241300"/>
                    <a:pt x="116013" y="241300"/>
                  </a:cubicBezTo>
                  <a:cubicBezTo>
                    <a:pt x="51901" y="241300"/>
                    <a:pt x="0" y="187325"/>
                    <a:pt x="0" y="120650"/>
                  </a:cubicBez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621744" y="7555520"/>
            <a:ext cx="6269896" cy="645731"/>
            <a:chOff x="0" y="0"/>
            <a:chExt cx="8359862" cy="86097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359863" cy="860976"/>
            </a:xfrm>
            <a:custGeom>
              <a:avLst/>
              <a:gdLst/>
              <a:ahLst/>
              <a:cxnLst/>
              <a:rect r="r" b="b" t="t" l="l"/>
              <a:pathLst>
                <a:path h="860976" w="8359863">
                  <a:moveTo>
                    <a:pt x="0" y="0"/>
                  </a:moveTo>
                  <a:lnTo>
                    <a:pt x="8359863" y="0"/>
                  </a:lnTo>
                  <a:lnTo>
                    <a:pt x="8359863" y="860976"/>
                  </a:lnTo>
                  <a:lnTo>
                    <a:pt x="0" y="8609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92" r="-3996" b="-13142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8359862" cy="860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67"/>
                </a:lnSpc>
              </a:pPr>
              <a:r>
                <a:rPr lang="en-US" sz="3139">
                  <a:solidFill>
                    <a:srgbClr val="1A273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Candidate and recruiter profiles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131968" y="8277769"/>
            <a:ext cx="174020" cy="180975"/>
            <a:chOff x="0" y="0"/>
            <a:chExt cx="232026" cy="2413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32026" cy="241300"/>
            </a:xfrm>
            <a:custGeom>
              <a:avLst/>
              <a:gdLst/>
              <a:ahLst/>
              <a:cxnLst/>
              <a:rect r="r" b="b" t="t" l="l"/>
              <a:pathLst>
                <a:path h="241300" w="232026">
                  <a:moveTo>
                    <a:pt x="0" y="120650"/>
                  </a:moveTo>
                  <a:cubicBezTo>
                    <a:pt x="0" y="53975"/>
                    <a:pt x="51901" y="0"/>
                    <a:pt x="116013" y="0"/>
                  </a:cubicBezTo>
                  <a:cubicBezTo>
                    <a:pt x="180125" y="0"/>
                    <a:pt x="232026" y="53975"/>
                    <a:pt x="232026" y="120650"/>
                  </a:cubicBezTo>
                  <a:cubicBezTo>
                    <a:pt x="232026" y="187325"/>
                    <a:pt x="180125" y="241300"/>
                    <a:pt x="116013" y="241300"/>
                  </a:cubicBezTo>
                  <a:cubicBezTo>
                    <a:pt x="51901" y="241300"/>
                    <a:pt x="0" y="187325"/>
                    <a:pt x="0" y="120650"/>
                  </a:cubicBez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621744" y="8319466"/>
            <a:ext cx="5595873" cy="645731"/>
            <a:chOff x="0" y="0"/>
            <a:chExt cx="7461164" cy="86097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461162" cy="860976"/>
            </a:xfrm>
            <a:custGeom>
              <a:avLst/>
              <a:gdLst/>
              <a:ahLst/>
              <a:cxnLst/>
              <a:rect r="r" b="b" t="t" l="l"/>
              <a:pathLst>
                <a:path h="860976" w="7461162">
                  <a:moveTo>
                    <a:pt x="0" y="0"/>
                  </a:moveTo>
                  <a:lnTo>
                    <a:pt x="7461162" y="0"/>
                  </a:lnTo>
                  <a:lnTo>
                    <a:pt x="7461162" y="860976"/>
                  </a:lnTo>
                  <a:lnTo>
                    <a:pt x="0" y="8609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0940" r="-3996" b="-110269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7461164" cy="860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67"/>
                </a:lnSpc>
              </a:pPr>
              <a:r>
                <a:rPr lang="en-US" sz="3139">
                  <a:solidFill>
                    <a:srgbClr val="1A273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Keyword-based offer search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31968" y="5304288"/>
            <a:ext cx="174020" cy="183460"/>
            <a:chOff x="0" y="0"/>
            <a:chExt cx="232026" cy="24461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32026" cy="244614"/>
            </a:xfrm>
            <a:custGeom>
              <a:avLst/>
              <a:gdLst/>
              <a:ahLst/>
              <a:cxnLst/>
              <a:rect r="r" b="b" t="t" l="l"/>
              <a:pathLst>
                <a:path h="244614" w="232026">
                  <a:moveTo>
                    <a:pt x="0" y="122307"/>
                  </a:moveTo>
                  <a:cubicBezTo>
                    <a:pt x="0" y="54716"/>
                    <a:pt x="51901" y="0"/>
                    <a:pt x="116013" y="0"/>
                  </a:cubicBezTo>
                  <a:cubicBezTo>
                    <a:pt x="180125" y="0"/>
                    <a:pt x="232026" y="54716"/>
                    <a:pt x="232026" y="122307"/>
                  </a:cubicBezTo>
                  <a:cubicBezTo>
                    <a:pt x="232026" y="189898"/>
                    <a:pt x="180125" y="244614"/>
                    <a:pt x="116013" y="244614"/>
                  </a:cubicBezTo>
                  <a:cubicBezTo>
                    <a:pt x="51901" y="244614"/>
                    <a:pt x="0" y="189898"/>
                    <a:pt x="0" y="122307"/>
                  </a:cubicBez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621744" y="5263680"/>
            <a:ext cx="8141284" cy="645731"/>
            <a:chOff x="0" y="0"/>
            <a:chExt cx="10855045" cy="86097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855041" cy="860976"/>
            </a:xfrm>
            <a:custGeom>
              <a:avLst/>
              <a:gdLst/>
              <a:ahLst/>
              <a:cxnLst/>
              <a:rect r="r" b="b" t="t" l="l"/>
              <a:pathLst>
                <a:path h="860976" w="10855041">
                  <a:moveTo>
                    <a:pt x="0" y="0"/>
                  </a:moveTo>
                  <a:lnTo>
                    <a:pt x="10855041" y="0"/>
                  </a:lnTo>
                  <a:lnTo>
                    <a:pt x="10855041" y="860976"/>
                  </a:lnTo>
                  <a:lnTo>
                    <a:pt x="0" y="8609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0819" r="-3996" b="-190147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10855045" cy="8609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67"/>
                </a:lnSpc>
              </a:pPr>
              <a:r>
                <a:rPr lang="en-US" sz="3139">
                  <a:solidFill>
                    <a:srgbClr val="1A273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Provides access to j</a:t>
              </a:r>
              <a:r>
                <a:rPr lang="en-US" sz="3139">
                  <a:solidFill>
                    <a:srgbClr val="1A273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ob offers and services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131968" y="6049522"/>
            <a:ext cx="174020" cy="180975"/>
            <a:chOff x="0" y="0"/>
            <a:chExt cx="232026" cy="2413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32026" cy="241300"/>
            </a:xfrm>
            <a:custGeom>
              <a:avLst/>
              <a:gdLst/>
              <a:ahLst/>
              <a:cxnLst/>
              <a:rect r="r" b="b" t="t" l="l"/>
              <a:pathLst>
                <a:path h="241300" w="232026">
                  <a:moveTo>
                    <a:pt x="0" y="120650"/>
                  </a:moveTo>
                  <a:cubicBezTo>
                    <a:pt x="0" y="53975"/>
                    <a:pt x="51901" y="0"/>
                    <a:pt x="116013" y="0"/>
                  </a:cubicBezTo>
                  <a:cubicBezTo>
                    <a:pt x="180125" y="0"/>
                    <a:pt x="232026" y="53975"/>
                    <a:pt x="232026" y="120650"/>
                  </a:cubicBezTo>
                  <a:cubicBezTo>
                    <a:pt x="232026" y="187325"/>
                    <a:pt x="180125" y="241300"/>
                    <a:pt x="116013" y="241300"/>
                  </a:cubicBezTo>
                  <a:cubicBezTo>
                    <a:pt x="51901" y="241300"/>
                    <a:pt x="0" y="187325"/>
                    <a:pt x="0" y="120650"/>
                  </a:cubicBez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621744" y="6027626"/>
            <a:ext cx="8735203" cy="645731"/>
            <a:chOff x="0" y="0"/>
            <a:chExt cx="11646937" cy="860975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1646933" cy="860976"/>
            </a:xfrm>
            <a:custGeom>
              <a:avLst/>
              <a:gdLst/>
              <a:ahLst/>
              <a:cxnLst/>
              <a:rect r="r" b="b" t="t" l="l"/>
              <a:pathLst>
                <a:path h="860976" w="11646933">
                  <a:moveTo>
                    <a:pt x="0" y="0"/>
                  </a:moveTo>
                  <a:lnTo>
                    <a:pt x="11646933" y="0"/>
                  </a:lnTo>
                  <a:lnTo>
                    <a:pt x="11646933" y="860976"/>
                  </a:lnTo>
                  <a:lnTo>
                    <a:pt x="0" y="8609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0819" r="3073" b="-190147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11646937" cy="860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67"/>
                </a:lnSpc>
              </a:pPr>
              <a:r>
                <a:rPr lang="en-US" sz="3139">
                  <a:solidFill>
                    <a:srgbClr val="1A273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Connects j</a:t>
              </a:r>
              <a:r>
                <a:rPr lang="en-US" sz="3139">
                  <a:solidFill>
                    <a:srgbClr val="1A273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ob seekers, employers, and agencies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ED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6954500" y="9496425"/>
            <a:ext cx="7620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6E7A86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10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726906" y="136784"/>
            <a:ext cx="5596141" cy="891916"/>
            <a:chOff x="0" y="0"/>
            <a:chExt cx="7461521" cy="1189222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7461521" cy="1189222"/>
              <a:chOff x="0" y="0"/>
              <a:chExt cx="2150813" cy="342798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150813" cy="342798"/>
              </a:xfrm>
              <a:custGeom>
                <a:avLst/>
                <a:gdLst/>
                <a:ahLst/>
                <a:cxnLst/>
                <a:rect r="r" b="b" t="t" l="l"/>
                <a:pathLst>
                  <a:path h="342798" w="2150813">
                    <a:moveTo>
                      <a:pt x="138344" y="0"/>
                    </a:moveTo>
                    <a:lnTo>
                      <a:pt x="2012469" y="0"/>
                    </a:lnTo>
                    <a:cubicBezTo>
                      <a:pt x="2049160" y="0"/>
                      <a:pt x="2084348" y="14575"/>
                      <a:pt x="2110293" y="40520"/>
                    </a:cubicBezTo>
                    <a:cubicBezTo>
                      <a:pt x="2136237" y="66465"/>
                      <a:pt x="2150813" y="101653"/>
                      <a:pt x="2150813" y="138344"/>
                    </a:cubicBezTo>
                    <a:lnTo>
                      <a:pt x="2150813" y="204454"/>
                    </a:lnTo>
                    <a:cubicBezTo>
                      <a:pt x="2150813" y="241145"/>
                      <a:pt x="2136237" y="276333"/>
                      <a:pt x="2110293" y="302278"/>
                    </a:cubicBezTo>
                    <a:cubicBezTo>
                      <a:pt x="2084348" y="328222"/>
                      <a:pt x="2049160" y="342798"/>
                      <a:pt x="2012469" y="342798"/>
                    </a:cubicBezTo>
                    <a:lnTo>
                      <a:pt x="138344" y="342798"/>
                    </a:lnTo>
                    <a:cubicBezTo>
                      <a:pt x="101653" y="342798"/>
                      <a:pt x="66465" y="328222"/>
                      <a:pt x="40520" y="302278"/>
                    </a:cubicBezTo>
                    <a:cubicBezTo>
                      <a:pt x="14575" y="276333"/>
                      <a:pt x="0" y="241145"/>
                      <a:pt x="0" y="204454"/>
                    </a:cubicBezTo>
                    <a:lnTo>
                      <a:pt x="0" y="138344"/>
                    </a:lnTo>
                    <a:cubicBezTo>
                      <a:pt x="0" y="101653"/>
                      <a:pt x="14575" y="66465"/>
                      <a:pt x="40520" y="40520"/>
                    </a:cubicBezTo>
                    <a:cubicBezTo>
                      <a:pt x="66465" y="14575"/>
                      <a:pt x="101653" y="0"/>
                      <a:pt x="1383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57150" cap="rnd">
                <a:solidFill>
                  <a:srgbClr val="034088"/>
                </a:soli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66675"/>
                <a:ext cx="2150813" cy="4094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180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434493" y="191758"/>
              <a:ext cx="6592536" cy="741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50"/>
                </a:lnSpc>
                <a:spcBef>
                  <a:spcPct val="0"/>
                </a:spcBef>
              </a:pPr>
              <a:r>
                <a:rPr lang="en-US" b="true" sz="3321">
                  <a:solidFill>
                    <a:srgbClr val="16324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State of the Art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2404530" y="3864603"/>
            <a:ext cx="13478940" cy="6180428"/>
          </a:xfrm>
          <a:custGeom>
            <a:avLst/>
            <a:gdLst/>
            <a:ahLst/>
            <a:cxnLst/>
            <a:rect r="r" b="b" t="t" l="l"/>
            <a:pathLst>
              <a:path h="6180428" w="13478940">
                <a:moveTo>
                  <a:pt x="0" y="0"/>
                </a:moveTo>
                <a:lnTo>
                  <a:pt x="13478940" y="0"/>
                </a:lnTo>
                <a:lnTo>
                  <a:pt x="13478940" y="6180428"/>
                </a:lnTo>
                <a:lnTo>
                  <a:pt x="0" y="61804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8973" r="0" b="-59117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09516" y="1204108"/>
            <a:ext cx="17268968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b="true" sz="9000">
                <a:solidFill>
                  <a:srgbClr val="16324F"/>
                </a:solidFill>
                <a:latin typeface="Roca Two Bold"/>
                <a:ea typeface="Roca Two Bold"/>
                <a:cs typeface="Roca Two Bold"/>
                <a:sym typeface="Roca Two Bold"/>
              </a:rPr>
              <a:t>Chatbots Evolution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46663" y="2764783"/>
            <a:ext cx="14394673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b="true" sz="3199">
                <a:solidFill>
                  <a:srgbClr val="000000"/>
                </a:solidFill>
                <a:latin typeface="Roca Two Bold"/>
                <a:ea typeface="Roca Two Bold"/>
                <a:cs typeface="Roca Two Bold"/>
                <a:sym typeface="Roca Two Bold"/>
              </a:rPr>
              <a:t>A co</a:t>
            </a:r>
            <a:r>
              <a:rPr lang="en-US" b="true" sz="3199">
                <a:solidFill>
                  <a:srgbClr val="000000"/>
                </a:solidFill>
                <a:latin typeface="Roca Two Bold"/>
                <a:ea typeface="Roca Two Bold"/>
                <a:cs typeface="Roca Two Bold"/>
                <a:sym typeface="Roca Two Bold"/>
              </a:rPr>
              <a:t>nversational system that allows users to interact with a digital service through natural language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ED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6954500" y="9496425"/>
            <a:ext cx="7620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6E7A86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11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726906" y="136784"/>
            <a:ext cx="5596141" cy="891916"/>
            <a:chOff x="0" y="0"/>
            <a:chExt cx="7461521" cy="1189222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7461521" cy="1189222"/>
              <a:chOff x="0" y="0"/>
              <a:chExt cx="2150813" cy="342798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150813" cy="342798"/>
              </a:xfrm>
              <a:custGeom>
                <a:avLst/>
                <a:gdLst/>
                <a:ahLst/>
                <a:cxnLst/>
                <a:rect r="r" b="b" t="t" l="l"/>
                <a:pathLst>
                  <a:path h="342798" w="2150813">
                    <a:moveTo>
                      <a:pt x="138344" y="0"/>
                    </a:moveTo>
                    <a:lnTo>
                      <a:pt x="2012469" y="0"/>
                    </a:lnTo>
                    <a:cubicBezTo>
                      <a:pt x="2049160" y="0"/>
                      <a:pt x="2084348" y="14575"/>
                      <a:pt x="2110293" y="40520"/>
                    </a:cubicBezTo>
                    <a:cubicBezTo>
                      <a:pt x="2136237" y="66465"/>
                      <a:pt x="2150813" y="101653"/>
                      <a:pt x="2150813" y="138344"/>
                    </a:cubicBezTo>
                    <a:lnTo>
                      <a:pt x="2150813" y="204454"/>
                    </a:lnTo>
                    <a:cubicBezTo>
                      <a:pt x="2150813" y="241145"/>
                      <a:pt x="2136237" y="276333"/>
                      <a:pt x="2110293" y="302278"/>
                    </a:cubicBezTo>
                    <a:cubicBezTo>
                      <a:pt x="2084348" y="328222"/>
                      <a:pt x="2049160" y="342798"/>
                      <a:pt x="2012469" y="342798"/>
                    </a:cubicBezTo>
                    <a:lnTo>
                      <a:pt x="138344" y="342798"/>
                    </a:lnTo>
                    <a:cubicBezTo>
                      <a:pt x="101653" y="342798"/>
                      <a:pt x="66465" y="328222"/>
                      <a:pt x="40520" y="302278"/>
                    </a:cubicBezTo>
                    <a:cubicBezTo>
                      <a:pt x="14575" y="276333"/>
                      <a:pt x="0" y="241145"/>
                      <a:pt x="0" y="204454"/>
                    </a:cubicBezTo>
                    <a:lnTo>
                      <a:pt x="0" y="138344"/>
                    </a:lnTo>
                    <a:cubicBezTo>
                      <a:pt x="0" y="101653"/>
                      <a:pt x="14575" y="66465"/>
                      <a:pt x="40520" y="40520"/>
                    </a:cubicBezTo>
                    <a:cubicBezTo>
                      <a:pt x="66465" y="14575"/>
                      <a:pt x="101653" y="0"/>
                      <a:pt x="1383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57150" cap="rnd">
                <a:solidFill>
                  <a:srgbClr val="034088"/>
                </a:soli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66675"/>
                <a:ext cx="2150813" cy="4094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180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434493" y="191758"/>
              <a:ext cx="6592536" cy="741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50"/>
                </a:lnSpc>
                <a:spcBef>
                  <a:spcPct val="0"/>
                </a:spcBef>
              </a:pPr>
              <a:r>
                <a:rPr lang="en-US" b="true" sz="3321">
                  <a:solidFill>
                    <a:srgbClr val="16324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State of the Art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4262637" y="3963959"/>
            <a:ext cx="10398055" cy="5803566"/>
          </a:xfrm>
          <a:custGeom>
            <a:avLst/>
            <a:gdLst/>
            <a:ahLst/>
            <a:cxnLst/>
            <a:rect r="r" b="b" t="t" l="l"/>
            <a:pathLst>
              <a:path h="5803566" w="10398055">
                <a:moveTo>
                  <a:pt x="0" y="0"/>
                </a:moveTo>
                <a:lnTo>
                  <a:pt x="10398055" y="0"/>
                </a:lnTo>
                <a:lnTo>
                  <a:pt x="10398055" y="5803566"/>
                </a:lnTo>
                <a:lnTo>
                  <a:pt x="0" y="58035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09516" y="1204108"/>
            <a:ext cx="17268968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000" b="true">
                <a:solidFill>
                  <a:srgbClr val="16324F"/>
                </a:solidFill>
                <a:latin typeface="Roca Two Bold"/>
                <a:ea typeface="Roca Two Bold"/>
                <a:cs typeface="Roca Two Bold"/>
                <a:sym typeface="Roca Two Bold"/>
              </a:rPr>
              <a:t>Large Language Models (LLMs)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27339" y="2654589"/>
            <a:ext cx="16033321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b="true" sz="3199">
                <a:solidFill>
                  <a:srgbClr val="000000"/>
                </a:solidFill>
                <a:latin typeface="Roca Two Bold"/>
                <a:ea typeface="Roca Two Bold"/>
                <a:cs typeface="Roca Two Bold"/>
                <a:sym typeface="Roca Two Bold"/>
              </a:rPr>
              <a:t> advanced AI mod</a:t>
            </a:r>
            <a:r>
              <a:rPr lang="en-US" b="true" sz="3199">
                <a:solidFill>
                  <a:srgbClr val="000000"/>
                </a:solidFill>
                <a:latin typeface="Roca Two Bold"/>
                <a:ea typeface="Roca Two Bold"/>
                <a:cs typeface="Roca Two Bold"/>
                <a:sym typeface="Roca Two Bold"/>
              </a:rPr>
              <a:t>els trained on large amounts of text to understand and generate natural language.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ED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6954500" y="9496425"/>
            <a:ext cx="7620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6E7A86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12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726906" y="136784"/>
            <a:ext cx="5596141" cy="891916"/>
            <a:chOff x="0" y="0"/>
            <a:chExt cx="7461521" cy="1189222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7461521" cy="1189222"/>
              <a:chOff x="0" y="0"/>
              <a:chExt cx="2150813" cy="342798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150813" cy="342798"/>
              </a:xfrm>
              <a:custGeom>
                <a:avLst/>
                <a:gdLst/>
                <a:ahLst/>
                <a:cxnLst/>
                <a:rect r="r" b="b" t="t" l="l"/>
                <a:pathLst>
                  <a:path h="342798" w="2150813">
                    <a:moveTo>
                      <a:pt x="138344" y="0"/>
                    </a:moveTo>
                    <a:lnTo>
                      <a:pt x="2012469" y="0"/>
                    </a:lnTo>
                    <a:cubicBezTo>
                      <a:pt x="2049160" y="0"/>
                      <a:pt x="2084348" y="14575"/>
                      <a:pt x="2110293" y="40520"/>
                    </a:cubicBezTo>
                    <a:cubicBezTo>
                      <a:pt x="2136237" y="66465"/>
                      <a:pt x="2150813" y="101653"/>
                      <a:pt x="2150813" y="138344"/>
                    </a:cubicBezTo>
                    <a:lnTo>
                      <a:pt x="2150813" y="204454"/>
                    </a:lnTo>
                    <a:cubicBezTo>
                      <a:pt x="2150813" y="241145"/>
                      <a:pt x="2136237" y="276333"/>
                      <a:pt x="2110293" y="302278"/>
                    </a:cubicBezTo>
                    <a:cubicBezTo>
                      <a:pt x="2084348" y="328222"/>
                      <a:pt x="2049160" y="342798"/>
                      <a:pt x="2012469" y="342798"/>
                    </a:cubicBezTo>
                    <a:lnTo>
                      <a:pt x="138344" y="342798"/>
                    </a:lnTo>
                    <a:cubicBezTo>
                      <a:pt x="101653" y="342798"/>
                      <a:pt x="66465" y="328222"/>
                      <a:pt x="40520" y="302278"/>
                    </a:cubicBezTo>
                    <a:cubicBezTo>
                      <a:pt x="14575" y="276333"/>
                      <a:pt x="0" y="241145"/>
                      <a:pt x="0" y="204454"/>
                    </a:cubicBezTo>
                    <a:lnTo>
                      <a:pt x="0" y="138344"/>
                    </a:lnTo>
                    <a:cubicBezTo>
                      <a:pt x="0" y="101653"/>
                      <a:pt x="14575" y="66465"/>
                      <a:pt x="40520" y="40520"/>
                    </a:cubicBezTo>
                    <a:cubicBezTo>
                      <a:pt x="66465" y="14575"/>
                      <a:pt x="101653" y="0"/>
                      <a:pt x="1383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57150" cap="rnd">
                <a:solidFill>
                  <a:srgbClr val="034088"/>
                </a:soli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66675"/>
                <a:ext cx="2150813" cy="4094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180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434493" y="191758"/>
              <a:ext cx="6592536" cy="741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50"/>
                </a:lnSpc>
                <a:spcBef>
                  <a:spcPct val="0"/>
                </a:spcBef>
              </a:pPr>
              <a:r>
                <a:rPr lang="en-US" b="true" sz="3321">
                  <a:solidFill>
                    <a:srgbClr val="16324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State of the Art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2990666" y="5448300"/>
            <a:ext cx="12306667" cy="4223639"/>
          </a:xfrm>
          <a:custGeom>
            <a:avLst/>
            <a:gdLst/>
            <a:ahLst/>
            <a:cxnLst/>
            <a:rect r="r" b="b" t="t" l="l"/>
            <a:pathLst>
              <a:path h="4223639" w="12306667">
                <a:moveTo>
                  <a:pt x="0" y="0"/>
                </a:moveTo>
                <a:lnTo>
                  <a:pt x="12306668" y="0"/>
                </a:lnTo>
                <a:lnTo>
                  <a:pt x="12306668" y="4223639"/>
                </a:lnTo>
                <a:lnTo>
                  <a:pt x="0" y="42236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7449" r="0" b="-93926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93636" y="1372277"/>
            <a:ext cx="18094364" cy="242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4"/>
              </a:lnSpc>
            </a:pPr>
            <a:r>
              <a:rPr lang="en-US" sz="8594" b="true">
                <a:solidFill>
                  <a:srgbClr val="031862"/>
                </a:solidFill>
                <a:latin typeface="Roca Two Bold"/>
                <a:ea typeface="Roca Two Bold"/>
                <a:cs typeface="Roca Two Bold"/>
                <a:sym typeface="Roca Two Bold"/>
              </a:rPr>
              <a:t> Retrieval-Augmented Generation (RAG)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27339" y="4043680"/>
            <a:ext cx="16033321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b="true" sz="3199">
                <a:solidFill>
                  <a:srgbClr val="000000"/>
                </a:solidFill>
                <a:latin typeface="Roca Two Bold"/>
                <a:ea typeface="Roca Two Bold"/>
                <a:cs typeface="Roca Two Bold"/>
                <a:sym typeface="Roca Two Bold"/>
              </a:rPr>
              <a:t>A technique that combin</a:t>
            </a:r>
            <a:r>
              <a:rPr lang="en-US" b="true" sz="3199">
                <a:solidFill>
                  <a:srgbClr val="000000"/>
                </a:solidFill>
                <a:latin typeface="Roca Two Bold"/>
                <a:ea typeface="Roca Two Bold"/>
                <a:cs typeface="Roca Two Bold"/>
                <a:sym typeface="Roca Two Bold"/>
              </a:rPr>
              <a:t>es information retrieval with text generation to produce more grounded answers.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ED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6954500" y="9496425"/>
            <a:ext cx="7620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6E7A86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13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726906" y="136784"/>
            <a:ext cx="5596141" cy="891916"/>
            <a:chOff x="0" y="0"/>
            <a:chExt cx="7461521" cy="1189222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7461521" cy="1189222"/>
              <a:chOff x="0" y="0"/>
              <a:chExt cx="2150813" cy="342798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150813" cy="342798"/>
              </a:xfrm>
              <a:custGeom>
                <a:avLst/>
                <a:gdLst/>
                <a:ahLst/>
                <a:cxnLst/>
                <a:rect r="r" b="b" t="t" l="l"/>
                <a:pathLst>
                  <a:path h="342798" w="2150813">
                    <a:moveTo>
                      <a:pt x="138344" y="0"/>
                    </a:moveTo>
                    <a:lnTo>
                      <a:pt x="2012469" y="0"/>
                    </a:lnTo>
                    <a:cubicBezTo>
                      <a:pt x="2049160" y="0"/>
                      <a:pt x="2084348" y="14575"/>
                      <a:pt x="2110293" y="40520"/>
                    </a:cubicBezTo>
                    <a:cubicBezTo>
                      <a:pt x="2136237" y="66465"/>
                      <a:pt x="2150813" y="101653"/>
                      <a:pt x="2150813" y="138344"/>
                    </a:cubicBezTo>
                    <a:lnTo>
                      <a:pt x="2150813" y="204454"/>
                    </a:lnTo>
                    <a:cubicBezTo>
                      <a:pt x="2150813" y="241145"/>
                      <a:pt x="2136237" y="276333"/>
                      <a:pt x="2110293" y="302278"/>
                    </a:cubicBezTo>
                    <a:cubicBezTo>
                      <a:pt x="2084348" y="328222"/>
                      <a:pt x="2049160" y="342798"/>
                      <a:pt x="2012469" y="342798"/>
                    </a:cubicBezTo>
                    <a:lnTo>
                      <a:pt x="138344" y="342798"/>
                    </a:lnTo>
                    <a:cubicBezTo>
                      <a:pt x="101653" y="342798"/>
                      <a:pt x="66465" y="328222"/>
                      <a:pt x="40520" y="302278"/>
                    </a:cubicBezTo>
                    <a:cubicBezTo>
                      <a:pt x="14575" y="276333"/>
                      <a:pt x="0" y="241145"/>
                      <a:pt x="0" y="204454"/>
                    </a:cubicBezTo>
                    <a:lnTo>
                      <a:pt x="0" y="138344"/>
                    </a:lnTo>
                    <a:cubicBezTo>
                      <a:pt x="0" y="101653"/>
                      <a:pt x="14575" y="66465"/>
                      <a:pt x="40520" y="40520"/>
                    </a:cubicBezTo>
                    <a:cubicBezTo>
                      <a:pt x="66465" y="14575"/>
                      <a:pt x="101653" y="0"/>
                      <a:pt x="1383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57150" cap="rnd">
                <a:solidFill>
                  <a:srgbClr val="034088"/>
                </a:soli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66675"/>
                <a:ext cx="2150813" cy="4094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180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434493" y="191758"/>
              <a:ext cx="6592536" cy="741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50"/>
                </a:lnSpc>
                <a:spcBef>
                  <a:spcPct val="0"/>
                </a:spcBef>
              </a:pPr>
              <a:r>
                <a:rPr lang="en-US" b="true" sz="3321">
                  <a:solidFill>
                    <a:srgbClr val="16324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State of the Art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028700" y="643276"/>
            <a:ext cx="16369093" cy="10609218"/>
          </a:xfrm>
          <a:custGeom>
            <a:avLst/>
            <a:gdLst/>
            <a:ahLst/>
            <a:cxnLst/>
            <a:rect r="r" b="b" t="t" l="l"/>
            <a:pathLst>
              <a:path h="10609218" w="16369093">
                <a:moveTo>
                  <a:pt x="0" y="0"/>
                </a:moveTo>
                <a:lnTo>
                  <a:pt x="16369093" y="0"/>
                </a:lnTo>
                <a:lnTo>
                  <a:pt x="16369093" y="10609219"/>
                </a:lnTo>
                <a:lnTo>
                  <a:pt x="0" y="10609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" t="0" r="-16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09516" y="419100"/>
            <a:ext cx="17268968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000" b="true">
                <a:solidFill>
                  <a:srgbClr val="031862"/>
                </a:solidFill>
                <a:latin typeface="Roca Two Bold"/>
                <a:ea typeface="Roca Two Bold"/>
                <a:cs typeface="Roca Two Bold"/>
                <a:sym typeface="Roca Two Bold"/>
              </a:rPr>
              <a:t>Relevant Work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508739" y="3207669"/>
            <a:ext cx="11449498" cy="3877182"/>
            <a:chOff x="0" y="0"/>
            <a:chExt cx="4971130" cy="16833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971134" cy="1683390"/>
            </a:xfrm>
            <a:custGeom>
              <a:avLst/>
              <a:gdLst/>
              <a:ahLst/>
              <a:cxnLst/>
              <a:rect r="r" b="b" t="t" l="l"/>
              <a:pathLst>
                <a:path h="1683390" w="4971134">
                  <a:moveTo>
                    <a:pt x="0" y="0"/>
                  </a:moveTo>
                  <a:lnTo>
                    <a:pt x="4971134" y="0"/>
                  </a:lnTo>
                  <a:lnTo>
                    <a:pt x="4971134" y="1683390"/>
                  </a:lnTo>
                  <a:lnTo>
                    <a:pt x="0" y="16833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135" r="-86134" b="-4406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4971130" cy="1683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551"/>
                </a:lnSpc>
              </a:pPr>
              <a:r>
                <a:rPr lang="en-US" b="true" sz="10459" spc="-261">
                  <a:solidFill>
                    <a:srgbClr val="16324F"/>
                  </a:solidFill>
                  <a:latin typeface="Roca Two Bold"/>
                  <a:ea typeface="Roca Two Bold"/>
                  <a:cs typeface="Roca Two Bold"/>
                  <a:sym typeface="Roca Two Bold"/>
                </a:rPr>
                <a:t>Propos</a:t>
              </a:r>
              <a:r>
                <a:rPr lang="en-US" b="true" sz="10459" spc="-261">
                  <a:solidFill>
                    <a:srgbClr val="16324F"/>
                  </a:solidFill>
                  <a:latin typeface="Roca Two Bold"/>
                  <a:ea typeface="Roca Two Bold"/>
                  <a:cs typeface="Roca Two Bold"/>
                  <a:sym typeface="Roca Two Bold"/>
                </a:rPr>
                <a:t>ed Solution 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6954500" y="9496425"/>
            <a:ext cx="7620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6E7A86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409361" y="3065613"/>
            <a:ext cx="2717221" cy="1061110"/>
            <a:chOff x="0" y="0"/>
            <a:chExt cx="644733" cy="25177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44733" cy="251777"/>
            </a:xfrm>
            <a:custGeom>
              <a:avLst/>
              <a:gdLst/>
              <a:ahLst/>
              <a:cxnLst/>
              <a:rect r="r" b="b" t="t" l="l"/>
              <a:pathLst>
                <a:path h="251777" w="644733">
                  <a:moveTo>
                    <a:pt x="125888" y="0"/>
                  </a:moveTo>
                  <a:lnTo>
                    <a:pt x="518845" y="0"/>
                  </a:lnTo>
                  <a:cubicBezTo>
                    <a:pt x="588371" y="0"/>
                    <a:pt x="644733" y="56362"/>
                    <a:pt x="644733" y="125888"/>
                  </a:cubicBezTo>
                  <a:lnTo>
                    <a:pt x="644733" y="125888"/>
                  </a:lnTo>
                  <a:cubicBezTo>
                    <a:pt x="644733" y="195415"/>
                    <a:pt x="588371" y="251777"/>
                    <a:pt x="518845" y="251777"/>
                  </a:cubicBezTo>
                  <a:lnTo>
                    <a:pt x="125888" y="251777"/>
                  </a:lnTo>
                  <a:cubicBezTo>
                    <a:pt x="56362" y="251777"/>
                    <a:pt x="0" y="195415"/>
                    <a:pt x="0" y="125888"/>
                  </a:cubicBezTo>
                  <a:lnTo>
                    <a:pt x="0" y="125888"/>
                  </a:lnTo>
                  <a:cubicBezTo>
                    <a:pt x="0" y="56362"/>
                    <a:pt x="56362" y="0"/>
                    <a:pt x="125888" y="0"/>
                  </a:cubicBezTo>
                  <a:close/>
                </a:path>
              </a:pathLst>
            </a:custGeom>
            <a:solidFill>
              <a:srgbClr val="D9D0C2">
                <a:alpha val="53725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644733" cy="2898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188310" y="3118583"/>
            <a:ext cx="2717221" cy="1061110"/>
            <a:chOff x="0" y="0"/>
            <a:chExt cx="644733" cy="2517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44733" cy="251777"/>
            </a:xfrm>
            <a:custGeom>
              <a:avLst/>
              <a:gdLst/>
              <a:ahLst/>
              <a:cxnLst/>
              <a:rect r="r" b="b" t="t" l="l"/>
              <a:pathLst>
                <a:path h="251777" w="644733">
                  <a:moveTo>
                    <a:pt x="125888" y="0"/>
                  </a:moveTo>
                  <a:lnTo>
                    <a:pt x="518845" y="0"/>
                  </a:lnTo>
                  <a:cubicBezTo>
                    <a:pt x="588371" y="0"/>
                    <a:pt x="644733" y="56362"/>
                    <a:pt x="644733" y="125888"/>
                  </a:cubicBezTo>
                  <a:lnTo>
                    <a:pt x="644733" y="125888"/>
                  </a:lnTo>
                  <a:cubicBezTo>
                    <a:pt x="644733" y="195415"/>
                    <a:pt x="588371" y="251777"/>
                    <a:pt x="518845" y="251777"/>
                  </a:cubicBezTo>
                  <a:lnTo>
                    <a:pt x="125888" y="251777"/>
                  </a:lnTo>
                  <a:cubicBezTo>
                    <a:pt x="56362" y="251777"/>
                    <a:pt x="0" y="195415"/>
                    <a:pt x="0" y="125888"/>
                  </a:cubicBezTo>
                  <a:lnTo>
                    <a:pt x="0" y="125888"/>
                  </a:lnTo>
                  <a:cubicBezTo>
                    <a:pt x="0" y="56362"/>
                    <a:pt x="56362" y="0"/>
                    <a:pt x="125888" y="0"/>
                  </a:cubicBezTo>
                  <a:close/>
                </a:path>
              </a:pathLst>
            </a:custGeom>
            <a:solidFill>
              <a:srgbClr val="D9D0C2">
                <a:alpha val="53725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44733" cy="2898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705407" y="3065613"/>
            <a:ext cx="2717221" cy="1061110"/>
            <a:chOff x="0" y="0"/>
            <a:chExt cx="644733" cy="25177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4733" cy="251777"/>
            </a:xfrm>
            <a:custGeom>
              <a:avLst/>
              <a:gdLst/>
              <a:ahLst/>
              <a:cxnLst/>
              <a:rect r="r" b="b" t="t" l="l"/>
              <a:pathLst>
                <a:path h="251777" w="644733">
                  <a:moveTo>
                    <a:pt x="125888" y="0"/>
                  </a:moveTo>
                  <a:lnTo>
                    <a:pt x="518845" y="0"/>
                  </a:lnTo>
                  <a:cubicBezTo>
                    <a:pt x="588371" y="0"/>
                    <a:pt x="644733" y="56362"/>
                    <a:pt x="644733" y="125888"/>
                  </a:cubicBezTo>
                  <a:lnTo>
                    <a:pt x="644733" y="125888"/>
                  </a:lnTo>
                  <a:cubicBezTo>
                    <a:pt x="644733" y="195415"/>
                    <a:pt x="588371" y="251777"/>
                    <a:pt x="518845" y="251777"/>
                  </a:cubicBezTo>
                  <a:lnTo>
                    <a:pt x="125888" y="251777"/>
                  </a:lnTo>
                  <a:cubicBezTo>
                    <a:pt x="56362" y="251777"/>
                    <a:pt x="0" y="195415"/>
                    <a:pt x="0" y="125888"/>
                  </a:cubicBezTo>
                  <a:lnTo>
                    <a:pt x="0" y="125888"/>
                  </a:lnTo>
                  <a:cubicBezTo>
                    <a:pt x="0" y="56362"/>
                    <a:pt x="56362" y="0"/>
                    <a:pt x="125888" y="0"/>
                  </a:cubicBezTo>
                  <a:close/>
                </a:path>
              </a:pathLst>
            </a:custGeom>
            <a:solidFill>
              <a:srgbClr val="D9D0C2">
                <a:alpha val="53725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44733" cy="2898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311135" y="3620937"/>
            <a:ext cx="3762375" cy="3714750"/>
            <a:chOff x="0" y="0"/>
            <a:chExt cx="5016500" cy="4953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016500" cy="4953000"/>
            </a:xfrm>
            <a:custGeom>
              <a:avLst/>
              <a:gdLst/>
              <a:ahLst/>
              <a:cxnLst/>
              <a:rect r="r" b="b" t="t" l="l"/>
              <a:pathLst>
                <a:path h="4953000" w="5016500">
                  <a:moveTo>
                    <a:pt x="0" y="293370"/>
                  </a:moveTo>
                  <a:cubicBezTo>
                    <a:pt x="0" y="131318"/>
                    <a:pt x="131318" y="0"/>
                    <a:pt x="293370" y="0"/>
                  </a:cubicBezTo>
                  <a:lnTo>
                    <a:pt x="4723130" y="0"/>
                  </a:lnTo>
                  <a:cubicBezTo>
                    <a:pt x="4885182" y="0"/>
                    <a:pt x="5016500" y="131318"/>
                    <a:pt x="5016500" y="293370"/>
                  </a:cubicBezTo>
                  <a:lnTo>
                    <a:pt x="5016500" y="4659630"/>
                  </a:lnTo>
                  <a:cubicBezTo>
                    <a:pt x="5016500" y="4821682"/>
                    <a:pt x="4885182" y="4953000"/>
                    <a:pt x="4723130" y="4953000"/>
                  </a:cubicBezTo>
                  <a:lnTo>
                    <a:pt x="293370" y="4953000"/>
                  </a:lnTo>
                  <a:cubicBezTo>
                    <a:pt x="131318" y="4953000"/>
                    <a:pt x="0" y="4821682"/>
                    <a:pt x="0" y="4659630"/>
                  </a:cubicBezTo>
                  <a:close/>
                </a:path>
              </a:pathLst>
            </a:custGeom>
            <a:solidFill>
              <a:srgbClr val="FFFFFF">
                <a:alpha val="392"/>
              </a:srgbClr>
            </a:solidFill>
            <a:ln w="9526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7453576" y="3622149"/>
            <a:ext cx="3625576" cy="3586273"/>
            <a:chOff x="0" y="0"/>
            <a:chExt cx="860265" cy="85093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60265" cy="850939"/>
            </a:xfrm>
            <a:custGeom>
              <a:avLst/>
              <a:gdLst/>
              <a:ahLst/>
              <a:cxnLst/>
              <a:rect r="r" b="b" t="t" l="l"/>
              <a:pathLst>
                <a:path h="850939" w="860265">
                  <a:moveTo>
                    <a:pt x="108904" y="0"/>
                  </a:moveTo>
                  <a:lnTo>
                    <a:pt x="751361" y="0"/>
                  </a:lnTo>
                  <a:cubicBezTo>
                    <a:pt x="811507" y="0"/>
                    <a:pt x="860265" y="48758"/>
                    <a:pt x="860265" y="108904"/>
                  </a:cubicBezTo>
                  <a:lnTo>
                    <a:pt x="860265" y="742036"/>
                  </a:lnTo>
                  <a:cubicBezTo>
                    <a:pt x="860265" y="802182"/>
                    <a:pt x="811507" y="850939"/>
                    <a:pt x="751361" y="850939"/>
                  </a:cubicBezTo>
                  <a:lnTo>
                    <a:pt x="108904" y="850939"/>
                  </a:lnTo>
                  <a:cubicBezTo>
                    <a:pt x="48758" y="850939"/>
                    <a:pt x="0" y="802182"/>
                    <a:pt x="0" y="742036"/>
                  </a:cubicBezTo>
                  <a:lnTo>
                    <a:pt x="0" y="108904"/>
                  </a:lnTo>
                  <a:cubicBezTo>
                    <a:pt x="0" y="48758"/>
                    <a:pt x="48758" y="0"/>
                    <a:pt x="108904" y="0"/>
                  </a:cubicBezTo>
                  <a:close/>
                </a:path>
              </a:pathLst>
            </a:custGeom>
            <a:solidFill>
              <a:srgbClr val="D9D0C2">
                <a:alpha val="53725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860265" cy="8890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600630" y="3622149"/>
            <a:ext cx="3625576" cy="3586273"/>
            <a:chOff x="0" y="0"/>
            <a:chExt cx="860265" cy="85093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60265" cy="850939"/>
            </a:xfrm>
            <a:custGeom>
              <a:avLst/>
              <a:gdLst/>
              <a:ahLst/>
              <a:cxnLst/>
              <a:rect r="r" b="b" t="t" l="l"/>
              <a:pathLst>
                <a:path h="850939" w="860265">
                  <a:moveTo>
                    <a:pt x="108904" y="0"/>
                  </a:moveTo>
                  <a:lnTo>
                    <a:pt x="751361" y="0"/>
                  </a:lnTo>
                  <a:cubicBezTo>
                    <a:pt x="811507" y="0"/>
                    <a:pt x="860265" y="48758"/>
                    <a:pt x="860265" y="108904"/>
                  </a:cubicBezTo>
                  <a:lnTo>
                    <a:pt x="860265" y="742036"/>
                  </a:lnTo>
                  <a:cubicBezTo>
                    <a:pt x="860265" y="802182"/>
                    <a:pt x="811507" y="850939"/>
                    <a:pt x="751361" y="850939"/>
                  </a:cubicBezTo>
                  <a:lnTo>
                    <a:pt x="108904" y="850939"/>
                  </a:lnTo>
                  <a:cubicBezTo>
                    <a:pt x="48758" y="850939"/>
                    <a:pt x="0" y="802182"/>
                    <a:pt x="0" y="742036"/>
                  </a:cubicBezTo>
                  <a:lnTo>
                    <a:pt x="0" y="108904"/>
                  </a:lnTo>
                  <a:cubicBezTo>
                    <a:pt x="0" y="48758"/>
                    <a:pt x="48758" y="0"/>
                    <a:pt x="108904" y="0"/>
                  </a:cubicBezTo>
                  <a:close/>
                </a:path>
              </a:pathLst>
            </a:custGeom>
            <a:solidFill>
              <a:srgbClr val="D9D0C2">
                <a:alpha val="53725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860265" cy="8890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306522" y="3622149"/>
            <a:ext cx="3625576" cy="3586273"/>
            <a:chOff x="0" y="0"/>
            <a:chExt cx="860265" cy="85093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60265" cy="850939"/>
            </a:xfrm>
            <a:custGeom>
              <a:avLst/>
              <a:gdLst/>
              <a:ahLst/>
              <a:cxnLst/>
              <a:rect r="r" b="b" t="t" l="l"/>
              <a:pathLst>
                <a:path h="850939" w="860265">
                  <a:moveTo>
                    <a:pt x="108904" y="0"/>
                  </a:moveTo>
                  <a:lnTo>
                    <a:pt x="751361" y="0"/>
                  </a:lnTo>
                  <a:cubicBezTo>
                    <a:pt x="811507" y="0"/>
                    <a:pt x="860265" y="48758"/>
                    <a:pt x="860265" y="108904"/>
                  </a:cubicBezTo>
                  <a:lnTo>
                    <a:pt x="860265" y="742036"/>
                  </a:lnTo>
                  <a:cubicBezTo>
                    <a:pt x="860265" y="802182"/>
                    <a:pt x="811507" y="850939"/>
                    <a:pt x="751361" y="850939"/>
                  </a:cubicBezTo>
                  <a:lnTo>
                    <a:pt x="108904" y="850939"/>
                  </a:lnTo>
                  <a:cubicBezTo>
                    <a:pt x="48758" y="850939"/>
                    <a:pt x="0" y="802182"/>
                    <a:pt x="0" y="742036"/>
                  </a:cubicBezTo>
                  <a:lnTo>
                    <a:pt x="0" y="108904"/>
                  </a:lnTo>
                  <a:cubicBezTo>
                    <a:pt x="0" y="48758"/>
                    <a:pt x="48758" y="0"/>
                    <a:pt x="108904" y="0"/>
                  </a:cubicBezTo>
                  <a:close/>
                </a:path>
              </a:pathLst>
            </a:custGeom>
            <a:solidFill>
              <a:srgbClr val="D9D0C2">
                <a:alpha val="53725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860265" cy="8890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196861" y="136784"/>
            <a:ext cx="5596141" cy="891916"/>
            <a:chOff x="0" y="0"/>
            <a:chExt cx="7461521" cy="1189222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7461521" cy="1189222"/>
              <a:chOff x="0" y="0"/>
              <a:chExt cx="2150813" cy="342798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2150813" cy="342798"/>
              </a:xfrm>
              <a:custGeom>
                <a:avLst/>
                <a:gdLst/>
                <a:ahLst/>
                <a:cxnLst/>
                <a:rect r="r" b="b" t="t" l="l"/>
                <a:pathLst>
                  <a:path h="342798" w="2150813">
                    <a:moveTo>
                      <a:pt x="138344" y="0"/>
                    </a:moveTo>
                    <a:lnTo>
                      <a:pt x="2012469" y="0"/>
                    </a:lnTo>
                    <a:cubicBezTo>
                      <a:pt x="2049160" y="0"/>
                      <a:pt x="2084348" y="14575"/>
                      <a:pt x="2110293" y="40520"/>
                    </a:cubicBezTo>
                    <a:cubicBezTo>
                      <a:pt x="2136237" y="66465"/>
                      <a:pt x="2150813" y="101653"/>
                      <a:pt x="2150813" y="138344"/>
                    </a:cubicBezTo>
                    <a:lnTo>
                      <a:pt x="2150813" y="204454"/>
                    </a:lnTo>
                    <a:cubicBezTo>
                      <a:pt x="2150813" y="241145"/>
                      <a:pt x="2136237" y="276333"/>
                      <a:pt x="2110293" y="302278"/>
                    </a:cubicBezTo>
                    <a:cubicBezTo>
                      <a:pt x="2084348" y="328222"/>
                      <a:pt x="2049160" y="342798"/>
                      <a:pt x="2012469" y="342798"/>
                    </a:cubicBezTo>
                    <a:lnTo>
                      <a:pt x="138344" y="342798"/>
                    </a:lnTo>
                    <a:cubicBezTo>
                      <a:pt x="101653" y="342798"/>
                      <a:pt x="66465" y="328222"/>
                      <a:pt x="40520" y="302278"/>
                    </a:cubicBezTo>
                    <a:cubicBezTo>
                      <a:pt x="14575" y="276333"/>
                      <a:pt x="0" y="241145"/>
                      <a:pt x="0" y="204454"/>
                    </a:cubicBezTo>
                    <a:lnTo>
                      <a:pt x="0" y="138344"/>
                    </a:lnTo>
                    <a:cubicBezTo>
                      <a:pt x="0" y="101653"/>
                      <a:pt x="14575" y="66465"/>
                      <a:pt x="40520" y="40520"/>
                    </a:cubicBezTo>
                    <a:cubicBezTo>
                      <a:pt x="66465" y="14575"/>
                      <a:pt x="101653" y="0"/>
                      <a:pt x="1383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57150" cap="rnd">
                <a:solidFill>
                  <a:srgbClr val="034088"/>
                </a:solidFill>
                <a:prstDash val="solid"/>
                <a:round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66675"/>
                <a:ext cx="2150813" cy="4094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180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213437" y="190484"/>
              <a:ext cx="5171465" cy="741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50"/>
                </a:lnSpc>
                <a:spcBef>
                  <a:spcPct val="0"/>
                </a:spcBef>
              </a:pPr>
              <a:r>
                <a:rPr lang="en-US" b="true" sz="3321">
                  <a:solidFill>
                    <a:srgbClr val="16324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Proposed Solution 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5399117" y="7592862"/>
            <a:ext cx="7489767" cy="2047361"/>
          </a:xfrm>
          <a:custGeom>
            <a:avLst/>
            <a:gdLst/>
            <a:ahLst/>
            <a:cxnLst/>
            <a:rect r="r" b="b" t="t" l="l"/>
            <a:pathLst>
              <a:path h="2047361" w="7489767">
                <a:moveTo>
                  <a:pt x="0" y="0"/>
                </a:moveTo>
                <a:lnTo>
                  <a:pt x="7489766" y="0"/>
                </a:lnTo>
                <a:lnTo>
                  <a:pt x="7489766" y="2047361"/>
                </a:lnTo>
                <a:lnTo>
                  <a:pt x="0" y="20473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3446" r="0" b="-132378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6954500" y="9496425"/>
            <a:ext cx="7620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6E7A86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16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09516" y="1104900"/>
            <a:ext cx="17268968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000" b="true">
                <a:solidFill>
                  <a:srgbClr val="16324F"/>
                </a:solidFill>
                <a:latin typeface="Roca Two Bold"/>
                <a:ea typeface="Roca Two Bold"/>
                <a:cs typeface="Roca Two Bold"/>
                <a:sym typeface="Roca Two Bold"/>
              </a:rPr>
              <a:t>Our Solution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522287" y="4112345"/>
            <a:ext cx="3227373" cy="2654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9"/>
              </a:lnSpc>
            </a:pPr>
            <a:r>
              <a:rPr lang="en-US" sz="3099" b="true">
                <a:solidFill>
                  <a:srgbClr val="16324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An AI-bas</a:t>
            </a:r>
            <a:r>
              <a:rPr lang="en-US" b="true" sz="3099">
                <a:solidFill>
                  <a:srgbClr val="16324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ed web recruitment assistant for job seekers in Algeria.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7425935" y="3620937"/>
            <a:ext cx="3762375" cy="3714750"/>
            <a:chOff x="0" y="0"/>
            <a:chExt cx="5016500" cy="49530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016500" cy="4953000"/>
            </a:xfrm>
            <a:custGeom>
              <a:avLst/>
              <a:gdLst/>
              <a:ahLst/>
              <a:cxnLst/>
              <a:rect r="r" b="b" t="t" l="l"/>
              <a:pathLst>
                <a:path h="4953000" w="5016500">
                  <a:moveTo>
                    <a:pt x="0" y="293370"/>
                  </a:moveTo>
                  <a:cubicBezTo>
                    <a:pt x="0" y="131318"/>
                    <a:pt x="131318" y="0"/>
                    <a:pt x="293370" y="0"/>
                  </a:cubicBezTo>
                  <a:lnTo>
                    <a:pt x="4723130" y="0"/>
                  </a:lnTo>
                  <a:cubicBezTo>
                    <a:pt x="4885182" y="0"/>
                    <a:pt x="5016500" y="131318"/>
                    <a:pt x="5016500" y="293370"/>
                  </a:cubicBezTo>
                  <a:lnTo>
                    <a:pt x="5016500" y="4659630"/>
                  </a:lnTo>
                  <a:cubicBezTo>
                    <a:pt x="5016500" y="4821682"/>
                    <a:pt x="4885182" y="4953000"/>
                    <a:pt x="4723130" y="4953000"/>
                  </a:cubicBezTo>
                  <a:lnTo>
                    <a:pt x="293370" y="4953000"/>
                  </a:lnTo>
                  <a:cubicBezTo>
                    <a:pt x="131318" y="4953000"/>
                    <a:pt x="0" y="4821682"/>
                    <a:pt x="0" y="4659630"/>
                  </a:cubicBezTo>
                  <a:close/>
                </a:path>
              </a:pathLst>
            </a:custGeom>
            <a:solidFill>
              <a:srgbClr val="FFFFFF">
                <a:alpha val="392"/>
              </a:srgbClr>
            </a:solidFill>
            <a:ln w="9526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7592489" y="3297092"/>
            <a:ext cx="2534092" cy="647691"/>
            <a:chOff x="0" y="0"/>
            <a:chExt cx="2484438" cy="635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484437" cy="635000"/>
            </a:xfrm>
            <a:custGeom>
              <a:avLst/>
              <a:gdLst/>
              <a:ahLst/>
              <a:cxnLst/>
              <a:rect r="r" b="b" t="t" l="l"/>
              <a:pathLst>
                <a:path h="635000" w="2484437">
                  <a:moveTo>
                    <a:pt x="0" y="0"/>
                  </a:moveTo>
                  <a:lnTo>
                    <a:pt x="2484437" y="0"/>
                  </a:lnTo>
                  <a:lnTo>
                    <a:pt x="2484437" y="635000"/>
                  </a:lnTo>
                  <a:lnTo>
                    <a:pt x="0" y="635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235" r="0" b="-2623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2484438" cy="644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19"/>
                </a:lnSpc>
              </a:pPr>
              <a:r>
                <a:rPr lang="en-US" sz="3099" b="true">
                  <a:solidFill>
                    <a:srgbClr val="16324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Combining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7592489" y="4112345"/>
            <a:ext cx="3747402" cy="2654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8"/>
              </a:lnSpc>
            </a:pPr>
            <a:r>
              <a:rPr lang="en-US" sz="3099" b="true">
                <a:solidFill>
                  <a:srgbClr val="16324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N</a:t>
            </a:r>
            <a:r>
              <a:rPr lang="en-US" sz="3099" b="true">
                <a:solidFill>
                  <a:srgbClr val="16324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atural Language Processing,</a:t>
            </a:r>
          </a:p>
          <a:p>
            <a:pPr algn="l">
              <a:lnSpc>
                <a:spcPts val="4268"/>
              </a:lnSpc>
            </a:pPr>
            <a:r>
              <a:rPr lang="en-US" b="true" sz="3099">
                <a:solidFill>
                  <a:srgbClr val="16324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Knowledge Retrieval,</a:t>
            </a:r>
          </a:p>
          <a:p>
            <a:pPr algn="l">
              <a:lnSpc>
                <a:spcPts val="4269"/>
              </a:lnSpc>
            </a:pPr>
            <a:r>
              <a:rPr lang="en-US" b="true" sz="3099">
                <a:solidFill>
                  <a:srgbClr val="16324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Job Matching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1540735" y="3620937"/>
            <a:ext cx="3762375" cy="3714750"/>
            <a:chOff x="0" y="0"/>
            <a:chExt cx="5016500" cy="4953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16500" cy="4953000"/>
            </a:xfrm>
            <a:custGeom>
              <a:avLst/>
              <a:gdLst/>
              <a:ahLst/>
              <a:cxnLst/>
              <a:rect r="r" b="b" t="t" l="l"/>
              <a:pathLst>
                <a:path h="4953000" w="5016500">
                  <a:moveTo>
                    <a:pt x="0" y="293370"/>
                  </a:moveTo>
                  <a:cubicBezTo>
                    <a:pt x="0" y="131318"/>
                    <a:pt x="131318" y="0"/>
                    <a:pt x="293370" y="0"/>
                  </a:cubicBezTo>
                  <a:lnTo>
                    <a:pt x="4723130" y="0"/>
                  </a:lnTo>
                  <a:cubicBezTo>
                    <a:pt x="4885182" y="0"/>
                    <a:pt x="5016500" y="131318"/>
                    <a:pt x="5016500" y="293370"/>
                  </a:cubicBezTo>
                  <a:lnTo>
                    <a:pt x="5016500" y="4659630"/>
                  </a:lnTo>
                  <a:cubicBezTo>
                    <a:pt x="5016500" y="4821682"/>
                    <a:pt x="4885182" y="4953000"/>
                    <a:pt x="4723130" y="4953000"/>
                  </a:cubicBezTo>
                  <a:lnTo>
                    <a:pt x="293370" y="4953000"/>
                  </a:lnTo>
                  <a:cubicBezTo>
                    <a:pt x="131318" y="4953000"/>
                    <a:pt x="0" y="4821682"/>
                    <a:pt x="0" y="4659630"/>
                  </a:cubicBezTo>
                  <a:close/>
                </a:path>
              </a:pathLst>
            </a:custGeom>
            <a:solidFill>
              <a:srgbClr val="FFFFFF">
                <a:alpha val="392"/>
              </a:srgbClr>
            </a:solidFill>
            <a:ln w="9526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3311135" y="3297092"/>
            <a:ext cx="2534092" cy="647691"/>
            <a:chOff x="0" y="0"/>
            <a:chExt cx="2484438" cy="6350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484437" cy="635000"/>
            </a:xfrm>
            <a:custGeom>
              <a:avLst/>
              <a:gdLst/>
              <a:ahLst/>
              <a:cxnLst/>
              <a:rect r="r" b="b" t="t" l="l"/>
              <a:pathLst>
                <a:path h="635000" w="2484437">
                  <a:moveTo>
                    <a:pt x="0" y="0"/>
                  </a:moveTo>
                  <a:lnTo>
                    <a:pt x="2484437" y="0"/>
                  </a:lnTo>
                  <a:lnTo>
                    <a:pt x="2484437" y="635000"/>
                  </a:lnTo>
                  <a:lnTo>
                    <a:pt x="0" y="635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235" r="0" b="-2623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2484438" cy="644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19"/>
                </a:lnSpc>
              </a:pPr>
              <a:r>
                <a:rPr lang="en-US" sz="3099" b="true">
                  <a:solidFill>
                    <a:srgbClr val="16324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RequAI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540735" y="3272322"/>
            <a:ext cx="2534092" cy="647691"/>
            <a:chOff x="0" y="0"/>
            <a:chExt cx="2484438" cy="635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484437" cy="635000"/>
            </a:xfrm>
            <a:custGeom>
              <a:avLst/>
              <a:gdLst/>
              <a:ahLst/>
              <a:cxnLst/>
              <a:rect r="r" b="b" t="t" l="l"/>
              <a:pathLst>
                <a:path h="635000" w="2484437">
                  <a:moveTo>
                    <a:pt x="0" y="0"/>
                  </a:moveTo>
                  <a:lnTo>
                    <a:pt x="2484437" y="0"/>
                  </a:lnTo>
                  <a:lnTo>
                    <a:pt x="2484437" y="635000"/>
                  </a:lnTo>
                  <a:lnTo>
                    <a:pt x="0" y="635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235" r="0" b="-2623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2484438" cy="644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19"/>
                </a:lnSpc>
              </a:pPr>
              <a:r>
                <a:rPr lang="en-US" sz="3099" b="true">
                  <a:solidFill>
                    <a:srgbClr val="16324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Purpose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1835191" y="4122543"/>
            <a:ext cx="3747402" cy="2120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9"/>
              </a:lnSpc>
            </a:pPr>
            <a:r>
              <a:rPr lang="en-US" sz="3099" b="true">
                <a:solidFill>
                  <a:srgbClr val="16324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</a:t>
            </a:r>
            <a:r>
              <a:rPr lang="en-US" b="true" sz="3099">
                <a:solidFill>
                  <a:srgbClr val="16324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teractive and persona</a:t>
            </a:r>
            <a:r>
              <a:rPr lang="en-US" b="true" sz="3099">
                <a:solidFill>
                  <a:srgbClr val="16324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lized recruitment guidance.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196861" y="136784"/>
            <a:ext cx="5596141" cy="891916"/>
            <a:chOff x="0" y="0"/>
            <a:chExt cx="7461521" cy="118922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7461521" cy="1189222"/>
              <a:chOff x="0" y="0"/>
              <a:chExt cx="2150813" cy="342798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150813" cy="342798"/>
              </a:xfrm>
              <a:custGeom>
                <a:avLst/>
                <a:gdLst/>
                <a:ahLst/>
                <a:cxnLst/>
                <a:rect r="r" b="b" t="t" l="l"/>
                <a:pathLst>
                  <a:path h="342798" w="2150813">
                    <a:moveTo>
                      <a:pt x="138344" y="0"/>
                    </a:moveTo>
                    <a:lnTo>
                      <a:pt x="2012469" y="0"/>
                    </a:lnTo>
                    <a:cubicBezTo>
                      <a:pt x="2049160" y="0"/>
                      <a:pt x="2084348" y="14575"/>
                      <a:pt x="2110293" y="40520"/>
                    </a:cubicBezTo>
                    <a:cubicBezTo>
                      <a:pt x="2136237" y="66465"/>
                      <a:pt x="2150813" y="101653"/>
                      <a:pt x="2150813" y="138344"/>
                    </a:cubicBezTo>
                    <a:lnTo>
                      <a:pt x="2150813" y="204454"/>
                    </a:lnTo>
                    <a:cubicBezTo>
                      <a:pt x="2150813" y="241145"/>
                      <a:pt x="2136237" y="276333"/>
                      <a:pt x="2110293" y="302278"/>
                    </a:cubicBezTo>
                    <a:cubicBezTo>
                      <a:pt x="2084348" y="328222"/>
                      <a:pt x="2049160" y="342798"/>
                      <a:pt x="2012469" y="342798"/>
                    </a:cubicBezTo>
                    <a:lnTo>
                      <a:pt x="138344" y="342798"/>
                    </a:lnTo>
                    <a:cubicBezTo>
                      <a:pt x="101653" y="342798"/>
                      <a:pt x="66465" y="328222"/>
                      <a:pt x="40520" y="302278"/>
                    </a:cubicBezTo>
                    <a:cubicBezTo>
                      <a:pt x="14575" y="276333"/>
                      <a:pt x="0" y="241145"/>
                      <a:pt x="0" y="204454"/>
                    </a:cubicBezTo>
                    <a:lnTo>
                      <a:pt x="0" y="138344"/>
                    </a:lnTo>
                    <a:cubicBezTo>
                      <a:pt x="0" y="101653"/>
                      <a:pt x="14575" y="66465"/>
                      <a:pt x="40520" y="40520"/>
                    </a:cubicBezTo>
                    <a:cubicBezTo>
                      <a:pt x="66465" y="14575"/>
                      <a:pt x="101653" y="0"/>
                      <a:pt x="1383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57150" cap="rnd">
                <a:solidFill>
                  <a:srgbClr val="034088"/>
                </a:solidFill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66675"/>
                <a:ext cx="2150813" cy="4094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180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213437" y="190484"/>
              <a:ext cx="5171465" cy="741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50"/>
                </a:lnSpc>
                <a:spcBef>
                  <a:spcPct val="0"/>
                </a:spcBef>
              </a:pPr>
              <a:r>
                <a:rPr lang="en-US" b="true" sz="3321">
                  <a:solidFill>
                    <a:srgbClr val="16324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Proposed Solution 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4845912" y="1371600"/>
            <a:ext cx="8596175" cy="8596175"/>
          </a:xfrm>
          <a:custGeom>
            <a:avLst/>
            <a:gdLst/>
            <a:ahLst/>
            <a:cxnLst/>
            <a:rect r="r" b="b" t="t" l="l"/>
            <a:pathLst>
              <a:path h="8596175" w="8596175">
                <a:moveTo>
                  <a:pt x="0" y="0"/>
                </a:moveTo>
                <a:lnTo>
                  <a:pt x="8596176" y="0"/>
                </a:lnTo>
                <a:lnTo>
                  <a:pt x="8596176" y="8596175"/>
                </a:lnTo>
                <a:lnTo>
                  <a:pt x="0" y="85961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954500" y="9496425"/>
            <a:ext cx="7620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6E7A86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16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76200"/>
            <a:ext cx="1353750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000" b="true">
                <a:solidFill>
                  <a:srgbClr val="16324F"/>
                </a:solidFill>
                <a:latin typeface="Roca Two Bold"/>
                <a:ea typeface="Roca Two Bold"/>
                <a:cs typeface="Roca Two Bold"/>
                <a:sym typeface="Roca Two Bold"/>
              </a:rPr>
              <a:t>System Architecture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508739" y="3207669"/>
            <a:ext cx="11449498" cy="3882702"/>
            <a:chOff x="0" y="0"/>
            <a:chExt cx="4971130" cy="168578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971134" cy="1685787"/>
            </a:xfrm>
            <a:custGeom>
              <a:avLst/>
              <a:gdLst/>
              <a:ahLst/>
              <a:cxnLst/>
              <a:rect r="r" b="b" t="t" l="l"/>
              <a:pathLst>
                <a:path h="1685787" w="4971134">
                  <a:moveTo>
                    <a:pt x="0" y="0"/>
                  </a:moveTo>
                  <a:lnTo>
                    <a:pt x="4971134" y="0"/>
                  </a:lnTo>
                  <a:lnTo>
                    <a:pt x="4971134" y="1685787"/>
                  </a:lnTo>
                  <a:lnTo>
                    <a:pt x="0" y="16857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035" r="-86134" b="-4386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4971130" cy="16857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551"/>
                </a:lnSpc>
              </a:pPr>
              <a:r>
                <a:rPr lang="en-US" b="true" sz="10459" spc="-261">
                  <a:solidFill>
                    <a:srgbClr val="16324F"/>
                  </a:solidFill>
                  <a:latin typeface="Roca Two Bold"/>
                  <a:ea typeface="Roca Two Bold"/>
                  <a:cs typeface="Roca Two Bold"/>
                  <a:sym typeface="Roca Two Bold"/>
                </a:rPr>
                <a:t>Two-Approach M</a:t>
              </a:r>
              <a:r>
                <a:rPr lang="en-US" b="true" sz="10459" spc="-261">
                  <a:solidFill>
                    <a:srgbClr val="16324F"/>
                  </a:solidFill>
                  <a:latin typeface="Roca Two Bold"/>
                  <a:ea typeface="Roca Two Bold"/>
                  <a:cs typeface="Roca Two Bold"/>
                  <a:sym typeface="Roca Two Bold"/>
                </a:rPr>
                <a:t>ethodology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6954500" y="9496425"/>
            <a:ext cx="7620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6E7A86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34458" y="796233"/>
            <a:ext cx="8681828" cy="1262543"/>
            <a:chOff x="0" y="0"/>
            <a:chExt cx="11575771" cy="16833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575773" cy="1683390"/>
            </a:xfrm>
            <a:custGeom>
              <a:avLst/>
              <a:gdLst/>
              <a:ahLst/>
              <a:cxnLst/>
              <a:rect r="r" b="b" t="t" l="l"/>
              <a:pathLst>
                <a:path h="1683390" w="11575773">
                  <a:moveTo>
                    <a:pt x="0" y="0"/>
                  </a:moveTo>
                  <a:lnTo>
                    <a:pt x="11575773" y="0"/>
                  </a:lnTo>
                  <a:lnTo>
                    <a:pt x="11575773" y="1683390"/>
                  </a:lnTo>
                  <a:lnTo>
                    <a:pt x="0" y="16833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7021" r="0" b="-7095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1575771" cy="1692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911"/>
                </a:lnSpc>
              </a:pPr>
              <a:r>
                <a:rPr lang="en-US" b="true" sz="5759" spc="-143">
                  <a:solidFill>
                    <a:srgbClr val="16324F"/>
                  </a:solidFill>
                  <a:latin typeface="Roca Two Bold"/>
                  <a:ea typeface="Roca Two Bold"/>
                  <a:cs typeface="Roca Two Bold"/>
                  <a:sym typeface="Roca Two Bold"/>
                </a:rPr>
                <a:t>Functional Modules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96270" y="2329605"/>
            <a:ext cx="7820025" cy="3067050"/>
            <a:chOff x="0" y="0"/>
            <a:chExt cx="10426700" cy="4089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26700" cy="4089400"/>
            </a:xfrm>
            <a:custGeom>
              <a:avLst/>
              <a:gdLst/>
              <a:ahLst/>
              <a:cxnLst/>
              <a:rect r="r" b="b" t="t" l="l"/>
              <a:pathLst>
                <a:path h="4089400" w="10426700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lnTo>
                    <a:pt x="10085324" y="0"/>
                  </a:lnTo>
                  <a:cubicBezTo>
                    <a:pt x="10273919" y="0"/>
                    <a:pt x="10426700" y="152781"/>
                    <a:pt x="10426700" y="341376"/>
                  </a:cubicBezTo>
                  <a:lnTo>
                    <a:pt x="10426700" y="3748024"/>
                  </a:lnTo>
                  <a:cubicBezTo>
                    <a:pt x="10426700" y="3936619"/>
                    <a:pt x="10273919" y="4089400"/>
                    <a:pt x="10085324" y="4089400"/>
                  </a:cubicBezTo>
                  <a:lnTo>
                    <a:pt x="341376" y="4089400"/>
                  </a:lnTo>
                  <a:cubicBezTo>
                    <a:pt x="152781" y="4089400"/>
                    <a:pt x="0" y="3936619"/>
                    <a:pt x="0" y="37480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446905" y="2767012"/>
            <a:ext cx="2632977" cy="468691"/>
            <a:chOff x="0" y="0"/>
            <a:chExt cx="3510636" cy="6249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510637" cy="624921"/>
            </a:xfrm>
            <a:custGeom>
              <a:avLst/>
              <a:gdLst/>
              <a:ahLst/>
              <a:cxnLst/>
              <a:rect r="r" b="b" t="t" l="l"/>
              <a:pathLst>
                <a:path h="624921" w="3510637">
                  <a:moveTo>
                    <a:pt x="0" y="0"/>
                  </a:moveTo>
                  <a:lnTo>
                    <a:pt x="3510637" y="0"/>
                  </a:lnTo>
                  <a:lnTo>
                    <a:pt x="3510637" y="624921"/>
                  </a:lnTo>
                  <a:lnTo>
                    <a:pt x="0" y="62492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880" r="0" b="-4604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3510636" cy="6249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2160" spc="432">
                  <a:solidFill>
                    <a:srgbClr val="E8743B"/>
                  </a:solidFill>
                  <a:latin typeface="Roca Two"/>
                  <a:ea typeface="Roca Two"/>
                  <a:cs typeface="Roca Two"/>
                  <a:sym typeface="Roca Two"/>
                </a:rPr>
                <a:t>MODULE 01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46905" y="3342084"/>
            <a:ext cx="5623550" cy="619125"/>
            <a:chOff x="0" y="0"/>
            <a:chExt cx="7498067" cy="825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498062" cy="825499"/>
            </a:xfrm>
            <a:custGeom>
              <a:avLst/>
              <a:gdLst/>
              <a:ahLst/>
              <a:cxnLst/>
              <a:rect r="r" b="b" t="t" l="l"/>
              <a:pathLst>
                <a:path h="825499" w="7498062">
                  <a:moveTo>
                    <a:pt x="0" y="0"/>
                  </a:moveTo>
                  <a:lnTo>
                    <a:pt x="7498062" y="0"/>
                  </a:lnTo>
                  <a:lnTo>
                    <a:pt x="7498062" y="825499"/>
                  </a:lnTo>
                  <a:lnTo>
                    <a:pt x="0" y="82549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6984" r="0" b="-12698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7498067" cy="815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87"/>
                </a:lnSpc>
              </a:pPr>
              <a:r>
                <a:rPr lang="en-US" sz="3739">
                  <a:solidFill>
                    <a:srgbClr val="16324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NLU &amp; Conversation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446905" y="4142784"/>
            <a:ext cx="8439407" cy="91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sz="2600">
                <a:solidFill>
                  <a:srgbClr val="6E7A86"/>
                </a:solidFill>
                <a:latin typeface="IBM Plex Sans"/>
                <a:ea typeface="IBM Plex Sans"/>
                <a:cs typeface="IBM Plex Sans"/>
                <a:sym typeface="IBM Plex Sans"/>
              </a:rPr>
              <a:t>Detects language and classifies intent, then</a:t>
            </a:r>
          </a:p>
          <a:p>
            <a:pPr algn="l">
              <a:lnSpc>
                <a:spcPts val="3564"/>
              </a:lnSpc>
            </a:pPr>
            <a:r>
              <a:rPr lang="en-US" sz="2600">
                <a:solidFill>
                  <a:srgbClr val="6E7A86"/>
                </a:solidFill>
                <a:latin typeface="IBM Plex Sans"/>
                <a:ea typeface="IBM Plex Sans"/>
                <a:cs typeface="IBM Plex Sans"/>
                <a:sym typeface="IBM Plex Sans"/>
              </a:rPr>
              <a:t>manages the dialogue flow with the user.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371705" y="2329605"/>
            <a:ext cx="7820025" cy="3067050"/>
            <a:chOff x="0" y="0"/>
            <a:chExt cx="10426700" cy="4089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426700" cy="4089400"/>
            </a:xfrm>
            <a:custGeom>
              <a:avLst/>
              <a:gdLst/>
              <a:ahLst/>
              <a:cxnLst/>
              <a:rect r="r" b="b" t="t" l="l"/>
              <a:pathLst>
                <a:path h="4089400" w="10426700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lnTo>
                    <a:pt x="10085324" y="0"/>
                  </a:lnTo>
                  <a:cubicBezTo>
                    <a:pt x="10273919" y="0"/>
                    <a:pt x="10426700" y="152781"/>
                    <a:pt x="10426700" y="341376"/>
                  </a:cubicBezTo>
                  <a:lnTo>
                    <a:pt x="10426700" y="3748024"/>
                  </a:lnTo>
                  <a:cubicBezTo>
                    <a:pt x="10426700" y="3936619"/>
                    <a:pt x="10273919" y="4089400"/>
                    <a:pt x="10085324" y="4089400"/>
                  </a:cubicBezTo>
                  <a:lnTo>
                    <a:pt x="341376" y="4089400"/>
                  </a:lnTo>
                  <a:cubicBezTo>
                    <a:pt x="152781" y="4089400"/>
                    <a:pt x="0" y="3936619"/>
                    <a:pt x="0" y="37480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722348" y="2767012"/>
            <a:ext cx="2698956" cy="468691"/>
            <a:chOff x="0" y="0"/>
            <a:chExt cx="3598608" cy="62492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598606" cy="624921"/>
            </a:xfrm>
            <a:custGeom>
              <a:avLst/>
              <a:gdLst/>
              <a:ahLst/>
              <a:cxnLst/>
              <a:rect r="r" b="b" t="t" l="l"/>
              <a:pathLst>
                <a:path h="624921" w="3598606">
                  <a:moveTo>
                    <a:pt x="0" y="0"/>
                  </a:moveTo>
                  <a:lnTo>
                    <a:pt x="3598606" y="0"/>
                  </a:lnTo>
                  <a:lnTo>
                    <a:pt x="3598606" y="624921"/>
                  </a:lnTo>
                  <a:lnTo>
                    <a:pt x="0" y="62492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5623" r="0" b="-4878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3598608" cy="6249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2160" spc="432">
                  <a:solidFill>
                    <a:srgbClr val="2A9D8F"/>
                  </a:solidFill>
                  <a:latin typeface="Roca Two"/>
                  <a:ea typeface="Roca Two"/>
                  <a:cs typeface="Roca Two"/>
                  <a:sym typeface="Roca Two"/>
                </a:rPr>
                <a:t>MODULE 02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722348" y="3342084"/>
            <a:ext cx="5737308" cy="619125"/>
            <a:chOff x="0" y="0"/>
            <a:chExt cx="7649743" cy="8255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649747" cy="825499"/>
            </a:xfrm>
            <a:custGeom>
              <a:avLst/>
              <a:gdLst/>
              <a:ahLst/>
              <a:cxnLst/>
              <a:rect r="r" b="b" t="t" l="l"/>
              <a:pathLst>
                <a:path h="825499" w="7649747">
                  <a:moveTo>
                    <a:pt x="0" y="0"/>
                  </a:moveTo>
                  <a:lnTo>
                    <a:pt x="7649747" y="0"/>
                  </a:lnTo>
                  <a:lnTo>
                    <a:pt x="7649747" y="825499"/>
                  </a:lnTo>
                  <a:lnTo>
                    <a:pt x="0" y="82549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0564" r="0" b="-130564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9525"/>
              <a:ext cx="7649743" cy="815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87"/>
                </a:lnSpc>
              </a:pPr>
              <a:r>
                <a:rPr lang="en-US" sz="3739">
                  <a:solidFill>
                    <a:srgbClr val="16324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CV &amp; Skill Extraction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9722348" y="4142784"/>
            <a:ext cx="9208475" cy="91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sz="2600">
                <a:solidFill>
                  <a:srgbClr val="6E7A86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Parses uploaded résumés into structured skills,</a:t>
            </a:r>
          </a:p>
          <a:p>
            <a:pPr algn="l">
              <a:lnSpc>
                <a:spcPts val="3564"/>
              </a:lnSpc>
            </a:pPr>
            <a:r>
              <a:rPr lang="en-US" sz="2600">
                <a:solidFill>
                  <a:srgbClr val="6E7A86"/>
                </a:solidFill>
                <a:latin typeface="IBM Plex Sans"/>
                <a:ea typeface="IBM Plex Sans"/>
                <a:cs typeface="IBM Plex Sans"/>
                <a:sym typeface="IBM Plex Sans"/>
              </a:rPr>
              <a:t>experience and profile attributes.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96270" y="5849988"/>
            <a:ext cx="7820025" cy="3067050"/>
            <a:chOff x="0" y="0"/>
            <a:chExt cx="10426700" cy="4089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426700" cy="4089400"/>
            </a:xfrm>
            <a:custGeom>
              <a:avLst/>
              <a:gdLst/>
              <a:ahLst/>
              <a:cxnLst/>
              <a:rect r="r" b="b" t="t" l="l"/>
              <a:pathLst>
                <a:path h="4089400" w="10426700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lnTo>
                    <a:pt x="10085324" y="0"/>
                  </a:lnTo>
                  <a:cubicBezTo>
                    <a:pt x="10273919" y="0"/>
                    <a:pt x="10426700" y="152781"/>
                    <a:pt x="10426700" y="341376"/>
                  </a:cubicBezTo>
                  <a:lnTo>
                    <a:pt x="10426700" y="3748024"/>
                  </a:lnTo>
                  <a:cubicBezTo>
                    <a:pt x="10426700" y="3936619"/>
                    <a:pt x="10273919" y="4089400"/>
                    <a:pt x="10085324" y="4089400"/>
                  </a:cubicBezTo>
                  <a:lnTo>
                    <a:pt x="341376" y="4089400"/>
                  </a:lnTo>
                  <a:cubicBezTo>
                    <a:pt x="152781" y="4089400"/>
                    <a:pt x="0" y="3936619"/>
                    <a:pt x="0" y="37480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446905" y="6287395"/>
            <a:ext cx="2699337" cy="468691"/>
            <a:chOff x="0" y="0"/>
            <a:chExt cx="3599116" cy="62492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599120" cy="624921"/>
            </a:xfrm>
            <a:custGeom>
              <a:avLst/>
              <a:gdLst/>
              <a:ahLst/>
              <a:cxnLst/>
              <a:rect r="r" b="b" t="t" l="l"/>
              <a:pathLst>
                <a:path h="624921" w="3599120">
                  <a:moveTo>
                    <a:pt x="0" y="0"/>
                  </a:moveTo>
                  <a:lnTo>
                    <a:pt x="3599120" y="0"/>
                  </a:lnTo>
                  <a:lnTo>
                    <a:pt x="3599120" y="624921"/>
                  </a:lnTo>
                  <a:lnTo>
                    <a:pt x="0" y="62492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5639" r="0" b="-4880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3599116" cy="6249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2160" spc="432">
                  <a:solidFill>
                    <a:srgbClr val="16324F"/>
                  </a:solidFill>
                  <a:latin typeface="Roca Two"/>
                  <a:ea typeface="Roca Two"/>
                  <a:cs typeface="Roca Two"/>
                  <a:sym typeface="Roca Two"/>
                </a:rPr>
                <a:t>MODULE 03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446905" y="6862467"/>
            <a:ext cx="8279597" cy="619125"/>
            <a:chOff x="0" y="0"/>
            <a:chExt cx="11039462" cy="8255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039456" cy="825499"/>
            </a:xfrm>
            <a:custGeom>
              <a:avLst/>
              <a:gdLst/>
              <a:ahLst/>
              <a:cxnLst/>
              <a:rect r="r" b="b" t="t" l="l"/>
              <a:pathLst>
                <a:path h="825499" w="11039456">
                  <a:moveTo>
                    <a:pt x="0" y="0"/>
                  </a:moveTo>
                  <a:lnTo>
                    <a:pt x="11039456" y="0"/>
                  </a:lnTo>
                  <a:lnTo>
                    <a:pt x="11039456" y="825499"/>
                  </a:lnTo>
                  <a:lnTo>
                    <a:pt x="0" y="82549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0574" r="0" b="-21057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9525"/>
              <a:ext cx="11039462" cy="815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87"/>
                </a:lnSpc>
              </a:pPr>
              <a:r>
                <a:rPr lang="en-US" sz="3739">
                  <a:solidFill>
                    <a:srgbClr val="16324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Matching &amp; Recommendation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446905" y="7663158"/>
            <a:ext cx="8742578" cy="91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sz="2600">
                <a:solidFill>
                  <a:srgbClr val="6E7A86"/>
                </a:solidFill>
                <a:latin typeface="IBM Plex Sans"/>
                <a:ea typeface="IBM Plex Sans"/>
                <a:cs typeface="IBM Plex Sans"/>
                <a:sym typeface="IBM Plex Sans"/>
              </a:rPr>
              <a:t>Ranks job offers by cosine similarity between</a:t>
            </a:r>
          </a:p>
          <a:p>
            <a:pPr algn="l">
              <a:lnSpc>
                <a:spcPts val="3564"/>
              </a:lnSpc>
            </a:pPr>
            <a:r>
              <a:rPr lang="en-US" sz="2600">
                <a:solidFill>
                  <a:srgbClr val="6E7A86"/>
                </a:solidFill>
                <a:latin typeface="IBM Plex Sans"/>
                <a:ea typeface="IBM Plex Sans"/>
                <a:cs typeface="IBM Plex Sans"/>
                <a:sym typeface="IBM Plex Sans"/>
              </a:rPr>
              <a:t>candidate and offer representations.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371705" y="5849988"/>
            <a:ext cx="7820025" cy="3067050"/>
            <a:chOff x="0" y="0"/>
            <a:chExt cx="10426700" cy="4089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426700" cy="4089400"/>
            </a:xfrm>
            <a:custGeom>
              <a:avLst/>
              <a:gdLst/>
              <a:ahLst/>
              <a:cxnLst/>
              <a:rect r="r" b="b" t="t" l="l"/>
              <a:pathLst>
                <a:path h="4089400" w="10426700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lnTo>
                    <a:pt x="10085324" y="0"/>
                  </a:lnTo>
                  <a:cubicBezTo>
                    <a:pt x="10273919" y="0"/>
                    <a:pt x="10426700" y="152781"/>
                    <a:pt x="10426700" y="341376"/>
                  </a:cubicBezTo>
                  <a:lnTo>
                    <a:pt x="10426700" y="3748024"/>
                  </a:lnTo>
                  <a:cubicBezTo>
                    <a:pt x="10426700" y="3936619"/>
                    <a:pt x="10273919" y="4089400"/>
                    <a:pt x="10085324" y="4089400"/>
                  </a:cubicBezTo>
                  <a:lnTo>
                    <a:pt x="341376" y="4089400"/>
                  </a:lnTo>
                  <a:cubicBezTo>
                    <a:pt x="152781" y="4089400"/>
                    <a:pt x="0" y="3936619"/>
                    <a:pt x="0" y="37480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722348" y="6287395"/>
            <a:ext cx="2706891" cy="468691"/>
            <a:chOff x="0" y="0"/>
            <a:chExt cx="3609188" cy="62492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609181" cy="624921"/>
            </a:xfrm>
            <a:custGeom>
              <a:avLst/>
              <a:gdLst/>
              <a:ahLst/>
              <a:cxnLst/>
              <a:rect r="r" b="b" t="t" l="l"/>
              <a:pathLst>
                <a:path h="624921" w="3609181">
                  <a:moveTo>
                    <a:pt x="0" y="0"/>
                  </a:moveTo>
                  <a:lnTo>
                    <a:pt x="3609181" y="0"/>
                  </a:lnTo>
                  <a:lnTo>
                    <a:pt x="3609181" y="624921"/>
                  </a:lnTo>
                  <a:lnTo>
                    <a:pt x="0" y="62492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5953" r="0" b="-4911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3609188" cy="6249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2160" spc="432">
                  <a:solidFill>
                    <a:srgbClr val="E8743B"/>
                  </a:solidFill>
                  <a:latin typeface="Roca Two"/>
                  <a:ea typeface="Roca Two"/>
                  <a:cs typeface="Roca Two"/>
                  <a:sym typeface="Roca Two"/>
                </a:rPr>
                <a:t>MODULE 04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722348" y="6862467"/>
            <a:ext cx="6064091" cy="619125"/>
            <a:chOff x="0" y="0"/>
            <a:chExt cx="8085455" cy="8255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085456" cy="825499"/>
            </a:xfrm>
            <a:custGeom>
              <a:avLst/>
              <a:gdLst/>
              <a:ahLst/>
              <a:cxnLst/>
              <a:rect r="r" b="b" t="t" l="l"/>
              <a:pathLst>
                <a:path h="825499" w="8085456">
                  <a:moveTo>
                    <a:pt x="0" y="0"/>
                  </a:moveTo>
                  <a:lnTo>
                    <a:pt x="8085456" y="0"/>
                  </a:lnTo>
                  <a:lnTo>
                    <a:pt x="8085456" y="825499"/>
                  </a:lnTo>
                  <a:lnTo>
                    <a:pt x="0" y="82549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0848" r="0" b="-140848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9525"/>
              <a:ext cx="8085455" cy="815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87"/>
                </a:lnSpc>
              </a:pPr>
              <a:r>
                <a:rPr lang="en-US" sz="3739">
                  <a:solidFill>
                    <a:srgbClr val="16324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Knowledge Response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9722348" y="7663158"/>
            <a:ext cx="8859050" cy="91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sz="2600">
                <a:solidFill>
                  <a:srgbClr val="6E7A86"/>
                </a:solidFill>
                <a:latin typeface="IBM Plex Sans"/>
                <a:ea typeface="IBM Plex Sans"/>
                <a:cs typeface="IBM Plex Sans"/>
                <a:sym typeface="IBM Plex Sans"/>
              </a:rPr>
              <a:t>Retrieves grounded answers about ANEM and</a:t>
            </a:r>
          </a:p>
          <a:p>
            <a:pPr algn="l">
              <a:lnSpc>
                <a:spcPts val="3564"/>
              </a:lnSpc>
            </a:pPr>
            <a:r>
              <a:rPr lang="en-US" sz="2600">
                <a:solidFill>
                  <a:srgbClr val="6E7A86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platform via a RAG pipeline.</a:t>
            </a:r>
          </a:p>
        </p:txBody>
      </p:sp>
      <p:sp>
        <p:nvSpPr>
          <p:cNvPr name="Freeform 43" id="43" descr="preencoded.png"/>
          <p:cNvSpPr/>
          <p:nvPr/>
        </p:nvSpPr>
        <p:spPr>
          <a:xfrm flipH="false" flipV="false" rot="0">
            <a:off x="1096270" y="2329605"/>
            <a:ext cx="7820025" cy="3067050"/>
          </a:xfrm>
          <a:custGeom>
            <a:avLst/>
            <a:gdLst/>
            <a:ahLst/>
            <a:cxnLst/>
            <a:rect r="r" b="b" t="t" l="l"/>
            <a:pathLst>
              <a:path h="3067050" w="7820025">
                <a:moveTo>
                  <a:pt x="0" y="0"/>
                </a:moveTo>
                <a:lnTo>
                  <a:pt x="7820025" y="0"/>
                </a:lnTo>
                <a:lnTo>
                  <a:pt x="7820025" y="3067050"/>
                </a:lnTo>
                <a:lnTo>
                  <a:pt x="0" y="3067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 descr="preencoded.png"/>
          <p:cNvSpPr/>
          <p:nvPr/>
        </p:nvSpPr>
        <p:spPr>
          <a:xfrm flipH="false" flipV="false" rot="0">
            <a:off x="9371705" y="2329605"/>
            <a:ext cx="7820025" cy="3067050"/>
          </a:xfrm>
          <a:custGeom>
            <a:avLst/>
            <a:gdLst/>
            <a:ahLst/>
            <a:cxnLst/>
            <a:rect r="r" b="b" t="t" l="l"/>
            <a:pathLst>
              <a:path h="3067050" w="7820025">
                <a:moveTo>
                  <a:pt x="0" y="0"/>
                </a:moveTo>
                <a:lnTo>
                  <a:pt x="7820025" y="0"/>
                </a:lnTo>
                <a:lnTo>
                  <a:pt x="7820025" y="3067050"/>
                </a:lnTo>
                <a:lnTo>
                  <a:pt x="0" y="3067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 descr="preencoded.png"/>
          <p:cNvSpPr/>
          <p:nvPr/>
        </p:nvSpPr>
        <p:spPr>
          <a:xfrm flipH="false" flipV="false" rot="0">
            <a:off x="1096270" y="5849988"/>
            <a:ext cx="7820025" cy="3067050"/>
          </a:xfrm>
          <a:custGeom>
            <a:avLst/>
            <a:gdLst/>
            <a:ahLst/>
            <a:cxnLst/>
            <a:rect r="r" b="b" t="t" l="l"/>
            <a:pathLst>
              <a:path h="3067050" w="7820025">
                <a:moveTo>
                  <a:pt x="0" y="0"/>
                </a:moveTo>
                <a:lnTo>
                  <a:pt x="7820025" y="0"/>
                </a:lnTo>
                <a:lnTo>
                  <a:pt x="7820025" y="3067050"/>
                </a:lnTo>
                <a:lnTo>
                  <a:pt x="0" y="30670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 descr="preencoded.png"/>
          <p:cNvSpPr/>
          <p:nvPr/>
        </p:nvSpPr>
        <p:spPr>
          <a:xfrm flipH="false" flipV="false" rot="0">
            <a:off x="9371705" y="5849988"/>
            <a:ext cx="7820025" cy="3067050"/>
          </a:xfrm>
          <a:custGeom>
            <a:avLst/>
            <a:gdLst/>
            <a:ahLst/>
            <a:cxnLst/>
            <a:rect r="r" b="b" t="t" l="l"/>
            <a:pathLst>
              <a:path h="3067050" w="7820025">
                <a:moveTo>
                  <a:pt x="0" y="0"/>
                </a:moveTo>
                <a:lnTo>
                  <a:pt x="7820025" y="0"/>
                </a:lnTo>
                <a:lnTo>
                  <a:pt x="7820025" y="3067050"/>
                </a:lnTo>
                <a:lnTo>
                  <a:pt x="0" y="3067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7" id="47"/>
          <p:cNvSpPr txBox="true"/>
          <p:nvPr/>
        </p:nvSpPr>
        <p:spPr>
          <a:xfrm rot="0">
            <a:off x="16954500" y="9496425"/>
            <a:ext cx="7620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6E7A86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18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2227320" y="350275"/>
            <a:ext cx="7362595" cy="891916"/>
            <a:chOff x="0" y="0"/>
            <a:chExt cx="9816793" cy="1189222"/>
          </a:xfrm>
        </p:grpSpPr>
        <p:grpSp>
          <p:nvGrpSpPr>
            <p:cNvPr name="Group 49" id="49"/>
            <p:cNvGrpSpPr/>
            <p:nvPr/>
          </p:nvGrpSpPr>
          <p:grpSpPr>
            <a:xfrm rot="0">
              <a:off x="0" y="0"/>
              <a:ext cx="9816793" cy="1189222"/>
              <a:chOff x="0" y="0"/>
              <a:chExt cx="2829729" cy="342798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2829729" cy="342798"/>
              </a:xfrm>
              <a:custGeom>
                <a:avLst/>
                <a:gdLst/>
                <a:ahLst/>
                <a:cxnLst/>
                <a:rect r="r" b="b" t="t" l="l"/>
                <a:pathLst>
                  <a:path h="342798" w="2829729">
                    <a:moveTo>
                      <a:pt x="105152" y="0"/>
                    </a:moveTo>
                    <a:lnTo>
                      <a:pt x="2724577" y="0"/>
                    </a:lnTo>
                    <a:cubicBezTo>
                      <a:pt x="2782651" y="0"/>
                      <a:pt x="2829729" y="47078"/>
                      <a:pt x="2829729" y="105152"/>
                    </a:cubicBezTo>
                    <a:lnTo>
                      <a:pt x="2829729" y="237646"/>
                    </a:lnTo>
                    <a:cubicBezTo>
                      <a:pt x="2829729" y="295720"/>
                      <a:pt x="2782651" y="342798"/>
                      <a:pt x="2724577" y="342798"/>
                    </a:cubicBezTo>
                    <a:lnTo>
                      <a:pt x="105152" y="342798"/>
                    </a:lnTo>
                    <a:cubicBezTo>
                      <a:pt x="47078" y="342798"/>
                      <a:pt x="0" y="295720"/>
                      <a:pt x="0" y="237646"/>
                    </a:cubicBezTo>
                    <a:lnTo>
                      <a:pt x="0" y="105152"/>
                    </a:lnTo>
                    <a:cubicBezTo>
                      <a:pt x="0" y="47078"/>
                      <a:pt x="47078" y="0"/>
                      <a:pt x="1051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57150" cap="rnd">
                <a:solidFill>
                  <a:srgbClr val="034088"/>
                </a:solidFill>
                <a:prstDash val="solid"/>
                <a:round/>
              </a:ln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66675"/>
                <a:ext cx="2829729" cy="4094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180"/>
                  </a:lnSpc>
                </a:pPr>
              </a:p>
            </p:txBody>
          </p:sp>
        </p:grpSp>
        <p:sp>
          <p:nvSpPr>
            <p:cNvPr name="TextBox 52" id="52"/>
            <p:cNvSpPr txBox="true"/>
            <p:nvPr/>
          </p:nvSpPr>
          <p:spPr>
            <a:xfrm rot="0">
              <a:off x="259915" y="190484"/>
              <a:ext cx="8673508" cy="741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50"/>
                </a:lnSpc>
                <a:spcBef>
                  <a:spcPct val="0"/>
                </a:spcBef>
              </a:pPr>
              <a:r>
                <a:rPr lang="en-US" b="true" sz="3321">
                  <a:solidFill>
                    <a:srgbClr val="16324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Two-Approach Methodology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6324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824933" y="796233"/>
            <a:ext cx="12662221" cy="1262543"/>
            <a:chOff x="0" y="0"/>
            <a:chExt cx="16882961" cy="16833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882963" cy="1683390"/>
            </a:xfrm>
            <a:custGeom>
              <a:avLst/>
              <a:gdLst/>
              <a:ahLst/>
              <a:cxnLst/>
              <a:rect r="r" b="b" t="t" l="l"/>
              <a:pathLst>
                <a:path h="1683390" w="16882963">
                  <a:moveTo>
                    <a:pt x="0" y="0"/>
                  </a:moveTo>
                  <a:lnTo>
                    <a:pt x="16882963" y="0"/>
                  </a:lnTo>
                  <a:lnTo>
                    <a:pt x="16882963" y="1683390"/>
                  </a:lnTo>
                  <a:lnTo>
                    <a:pt x="0" y="16833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451" r="0" b="-13238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6882961" cy="1692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911"/>
                </a:lnSpc>
              </a:pPr>
              <a:r>
                <a:rPr lang="en-US" b="true" sz="5759" spc="-143">
                  <a:solidFill>
                    <a:srgbClr val="FFFFFF"/>
                  </a:solidFill>
                  <a:latin typeface="Roca Two Bold"/>
                  <a:ea typeface="Roca Two Bold"/>
                  <a:cs typeface="Roca Two Bold"/>
                  <a:sym typeface="Roca Two Bold"/>
                </a:rPr>
                <a:t>Two-Approach Methodology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97156" y="1965722"/>
            <a:ext cx="14319542" cy="1110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879">
                <a:solidFill>
                  <a:srgbClr val="D0D6DC"/>
                </a:solidFill>
                <a:latin typeface="IBM Plex Sans"/>
                <a:ea typeface="IBM Plex Sans"/>
                <a:cs typeface="IBM Plex Sans"/>
                <a:sym typeface="IBM Plex Sans"/>
              </a:rPr>
              <a:t>We designed and evaluated two complementary approaches to the</a:t>
            </a:r>
          </a:p>
          <a:p>
            <a:pPr algn="l">
              <a:lnSpc>
                <a:spcPts val="4320"/>
              </a:lnSpc>
            </a:pPr>
            <a:r>
              <a:rPr lang="en-US" sz="2879">
                <a:solidFill>
                  <a:srgbClr val="D0D6DC"/>
                </a:solidFill>
                <a:latin typeface="IBM Plex Sans"/>
                <a:ea typeface="IBM Plex Sans"/>
                <a:cs typeface="IBM Plex Sans"/>
                <a:sym typeface="IBM Plex Sans"/>
              </a:rPr>
              <a:t>chatbot's understanding engine.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97232" y="3739753"/>
            <a:ext cx="7772400" cy="4295775"/>
            <a:chOff x="0" y="0"/>
            <a:chExt cx="10363200" cy="57277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363200" cy="5727700"/>
            </a:xfrm>
            <a:custGeom>
              <a:avLst/>
              <a:gdLst/>
              <a:ahLst/>
              <a:cxnLst/>
              <a:rect r="r" b="b" t="t" l="l"/>
              <a:pathLst>
                <a:path h="5727700" w="10363200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lnTo>
                    <a:pt x="9973056" y="0"/>
                  </a:lnTo>
                  <a:cubicBezTo>
                    <a:pt x="10188575" y="0"/>
                    <a:pt x="10363200" y="174625"/>
                    <a:pt x="10363200" y="390144"/>
                  </a:cubicBezTo>
                  <a:lnTo>
                    <a:pt x="10363200" y="5337556"/>
                  </a:lnTo>
                  <a:cubicBezTo>
                    <a:pt x="10363200" y="5553075"/>
                    <a:pt x="10188575" y="5727700"/>
                    <a:pt x="9973056" y="5727700"/>
                  </a:cubicBezTo>
                  <a:lnTo>
                    <a:pt x="390144" y="5727700"/>
                  </a:lnTo>
                  <a:cubicBezTo>
                    <a:pt x="174625" y="5727700"/>
                    <a:pt x="0" y="5553075"/>
                    <a:pt x="0" y="533755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08522" y="4177455"/>
            <a:ext cx="2865730" cy="468691"/>
            <a:chOff x="0" y="0"/>
            <a:chExt cx="3820973" cy="6249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820973" cy="624921"/>
            </a:xfrm>
            <a:custGeom>
              <a:avLst/>
              <a:gdLst/>
              <a:ahLst/>
              <a:cxnLst/>
              <a:rect r="r" b="b" t="t" l="l"/>
              <a:pathLst>
                <a:path h="624921" w="3820973">
                  <a:moveTo>
                    <a:pt x="0" y="0"/>
                  </a:moveTo>
                  <a:lnTo>
                    <a:pt x="3820973" y="0"/>
                  </a:lnTo>
                  <a:lnTo>
                    <a:pt x="3820973" y="624921"/>
                  </a:lnTo>
                  <a:lnTo>
                    <a:pt x="0" y="6249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557" r="0" b="-5571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3820973" cy="6249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2160" spc="432">
                  <a:solidFill>
                    <a:srgbClr val="E8743B"/>
                  </a:solidFill>
                  <a:latin typeface="Roca Two"/>
                  <a:ea typeface="Roca Two"/>
                  <a:cs typeface="Roca Two"/>
                  <a:sym typeface="Roca Two"/>
                </a:rPr>
                <a:t>APPROACH 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08522" y="4680194"/>
            <a:ext cx="4110361" cy="666750"/>
            <a:chOff x="0" y="0"/>
            <a:chExt cx="5480482" cy="889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80485" cy="889000"/>
            </a:xfrm>
            <a:custGeom>
              <a:avLst/>
              <a:gdLst/>
              <a:ahLst/>
              <a:cxnLst/>
              <a:rect r="r" b="b" t="t" l="l"/>
              <a:pathLst>
                <a:path h="889000" w="5480485">
                  <a:moveTo>
                    <a:pt x="0" y="0"/>
                  </a:moveTo>
                  <a:lnTo>
                    <a:pt x="5480485" y="0"/>
                  </a:lnTo>
                  <a:lnTo>
                    <a:pt x="5480485" y="889000"/>
                  </a:lnTo>
                  <a:lnTo>
                    <a:pt x="0" y="889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120" r="0" b="-7012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5480482" cy="889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47"/>
                </a:lnSpc>
              </a:pPr>
              <a:r>
                <a:rPr lang="en-US" sz="4039">
                  <a:solidFill>
                    <a:srgbClr val="16324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Classical NLP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508522" y="5455148"/>
            <a:ext cx="7833236" cy="1371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sz="2600">
                <a:solidFill>
                  <a:srgbClr val="6E7A86"/>
                </a:solidFill>
                <a:latin typeface="IBM Plex Sans"/>
                <a:ea typeface="IBM Plex Sans"/>
                <a:cs typeface="IBM Plex Sans"/>
                <a:sym typeface="IBM Plex Sans"/>
              </a:rPr>
              <a:t>Lightweight, interpretable pipeline using</a:t>
            </a:r>
          </a:p>
          <a:p>
            <a:pPr algn="l">
              <a:lnSpc>
                <a:spcPts val="3564"/>
              </a:lnSpc>
            </a:pPr>
            <a:r>
              <a:rPr lang="en-US" sz="2600">
                <a:solidFill>
                  <a:srgbClr val="6E7A86"/>
                </a:solidFill>
                <a:latin typeface="IBM Plex Sans"/>
                <a:ea typeface="IBM Plex Sans"/>
                <a:cs typeface="IBM Plex Sans"/>
                <a:sym typeface="IBM Plex Sans"/>
              </a:rPr>
              <a:t>character TF-IDF features with linear</a:t>
            </a:r>
          </a:p>
          <a:p>
            <a:pPr algn="l">
              <a:lnSpc>
                <a:spcPts val="3564"/>
              </a:lnSpc>
            </a:pPr>
            <a:r>
              <a:rPr lang="en-US" sz="2600">
                <a:solidFill>
                  <a:srgbClr val="6E7A86"/>
                </a:solidFill>
                <a:latin typeface="IBM Plex Sans"/>
                <a:ea typeface="IBM Plex Sans"/>
                <a:cs typeface="IBM Plex Sans"/>
                <a:sym typeface="IBM Plex Sans"/>
              </a:rPr>
              <a:t>classifiers.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727892" y="7189594"/>
            <a:ext cx="1155983" cy="333375"/>
            <a:chOff x="0" y="0"/>
            <a:chExt cx="1541310" cy="4445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41304" cy="444501"/>
            </a:xfrm>
            <a:custGeom>
              <a:avLst/>
              <a:gdLst/>
              <a:ahLst/>
              <a:cxnLst/>
              <a:rect r="r" b="b" t="t" l="l"/>
              <a:pathLst>
                <a:path h="444501" w="1541304">
                  <a:moveTo>
                    <a:pt x="0" y="0"/>
                  </a:moveTo>
                  <a:lnTo>
                    <a:pt x="1541304" y="0"/>
                  </a:lnTo>
                  <a:lnTo>
                    <a:pt x="1541304" y="444501"/>
                  </a:lnTo>
                  <a:lnTo>
                    <a:pt x="0" y="4445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64" r="0" b="-1756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1541310" cy="454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3"/>
                </a:lnSpc>
              </a:pPr>
              <a:r>
                <a:rPr lang="en-US" sz="2019">
                  <a:solidFill>
                    <a:srgbClr val="16324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TF-IDF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114227" y="7189594"/>
            <a:ext cx="1780718" cy="333375"/>
            <a:chOff x="0" y="0"/>
            <a:chExt cx="2374290" cy="444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374285" cy="444501"/>
            </a:xfrm>
            <a:custGeom>
              <a:avLst/>
              <a:gdLst/>
              <a:ahLst/>
              <a:cxnLst/>
              <a:rect r="r" b="b" t="t" l="l"/>
              <a:pathLst>
                <a:path h="444501" w="2374285">
                  <a:moveTo>
                    <a:pt x="0" y="0"/>
                  </a:moveTo>
                  <a:lnTo>
                    <a:pt x="2374285" y="0"/>
                  </a:lnTo>
                  <a:lnTo>
                    <a:pt x="2374285" y="444501"/>
                  </a:lnTo>
                  <a:lnTo>
                    <a:pt x="0" y="4445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078" r="0" b="-54078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2374290" cy="454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3"/>
                </a:lnSpc>
              </a:pPr>
              <a:r>
                <a:rPr lang="en-US" sz="2019">
                  <a:solidFill>
                    <a:srgbClr val="16324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Linear SVM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981127" y="7189594"/>
            <a:ext cx="2578227" cy="333375"/>
            <a:chOff x="0" y="0"/>
            <a:chExt cx="3437636" cy="4445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437632" cy="444501"/>
            </a:xfrm>
            <a:custGeom>
              <a:avLst/>
              <a:gdLst/>
              <a:ahLst/>
              <a:cxnLst/>
              <a:rect r="r" b="b" t="t" l="l"/>
              <a:pathLst>
                <a:path h="444501" w="3437632">
                  <a:moveTo>
                    <a:pt x="0" y="0"/>
                  </a:moveTo>
                  <a:lnTo>
                    <a:pt x="3437632" y="0"/>
                  </a:lnTo>
                  <a:lnTo>
                    <a:pt x="3437632" y="444501"/>
                  </a:lnTo>
                  <a:lnTo>
                    <a:pt x="0" y="4445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691" r="0" b="-10069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3437636" cy="454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3"/>
                </a:lnSpc>
              </a:pPr>
              <a:r>
                <a:rPr lang="en-US" sz="2019">
                  <a:solidFill>
                    <a:srgbClr val="16324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Cosine similarity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418368" y="3739753"/>
            <a:ext cx="7772400" cy="4295775"/>
            <a:chOff x="0" y="0"/>
            <a:chExt cx="10363200" cy="57277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363200" cy="5727700"/>
            </a:xfrm>
            <a:custGeom>
              <a:avLst/>
              <a:gdLst/>
              <a:ahLst/>
              <a:cxnLst/>
              <a:rect r="r" b="b" t="t" l="l"/>
              <a:pathLst>
                <a:path h="5727700" w="10363200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lnTo>
                    <a:pt x="9973056" y="0"/>
                  </a:lnTo>
                  <a:cubicBezTo>
                    <a:pt x="10188575" y="0"/>
                    <a:pt x="10363200" y="174625"/>
                    <a:pt x="10363200" y="390144"/>
                  </a:cubicBezTo>
                  <a:lnTo>
                    <a:pt x="10363200" y="5337556"/>
                  </a:lnTo>
                  <a:cubicBezTo>
                    <a:pt x="10363200" y="5553075"/>
                    <a:pt x="10188575" y="5727700"/>
                    <a:pt x="9973056" y="5727700"/>
                  </a:cubicBezTo>
                  <a:lnTo>
                    <a:pt x="390144" y="5727700"/>
                  </a:lnTo>
                  <a:cubicBezTo>
                    <a:pt x="174625" y="5727700"/>
                    <a:pt x="0" y="5553075"/>
                    <a:pt x="0" y="5337556"/>
                  </a:cubicBezTo>
                  <a:close/>
                </a:path>
              </a:pathLst>
            </a:custGeom>
            <a:solidFill>
              <a:srgbClr val="E8743B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829648" y="4177455"/>
            <a:ext cx="2931709" cy="468691"/>
            <a:chOff x="0" y="0"/>
            <a:chExt cx="3908946" cy="62492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908941" cy="624921"/>
            </a:xfrm>
            <a:custGeom>
              <a:avLst/>
              <a:gdLst/>
              <a:ahLst/>
              <a:cxnLst/>
              <a:rect r="r" b="b" t="t" l="l"/>
              <a:pathLst>
                <a:path h="624921" w="3908941">
                  <a:moveTo>
                    <a:pt x="0" y="0"/>
                  </a:moveTo>
                  <a:lnTo>
                    <a:pt x="3908941" y="0"/>
                  </a:lnTo>
                  <a:lnTo>
                    <a:pt x="3908941" y="624921"/>
                  </a:lnTo>
                  <a:lnTo>
                    <a:pt x="0" y="6249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300" r="0" b="-5846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3908946" cy="6249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2160" spc="432">
                  <a:solidFill>
                    <a:srgbClr val="FAE3D8"/>
                  </a:solidFill>
                  <a:latin typeface="Roca Two"/>
                  <a:ea typeface="Roca Two"/>
                  <a:cs typeface="Roca Two"/>
                  <a:sym typeface="Roca Two"/>
                </a:rPr>
                <a:t>APPROACH 2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829648" y="4680194"/>
            <a:ext cx="8042586" cy="666750"/>
            <a:chOff x="0" y="0"/>
            <a:chExt cx="10723448" cy="8890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723442" cy="889000"/>
            </a:xfrm>
            <a:custGeom>
              <a:avLst/>
              <a:gdLst/>
              <a:ahLst/>
              <a:cxnLst/>
              <a:rect r="r" b="b" t="t" l="l"/>
              <a:pathLst>
                <a:path h="889000" w="10723442">
                  <a:moveTo>
                    <a:pt x="0" y="0"/>
                  </a:moveTo>
                  <a:lnTo>
                    <a:pt x="10723442" y="0"/>
                  </a:lnTo>
                  <a:lnTo>
                    <a:pt x="10723442" y="889000"/>
                  </a:lnTo>
                  <a:lnTo>
                    <a:pt x="0" y="889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035" r="0" b="-18503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10723448" cy="889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47"/>
                </a:lnSpc>
              </a:pPr>
              <a:r>
                <a:rPr lang="en-US" sz="4039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Multilingual Deep Learning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9829648" y="5455148"/>
            <a:ext cx="8938184" cy="1371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sz="2600">
                <a:solidFill>
                  <a:srgbClr val="FDF1EB"/>
                </a:solidFill>
                <a:latin typeface="IBM Plex Sans"/>
                <a:ea typeface="IBM Plex Sans"/>
                <a:cs typeface="IBM Plex Sans"/>
                <a:sym typeface="IBM Plex Sans"/>
              </a:rPr>
              <a:t>Adds explicit language detection and</a:t>
            </a:r>
          </a:p>
          <a:p>
            <a:pPr algn="l">
              <a:lnSpc>
                <a:spcPts val="3564"/>
              </a:lnSpc>
            </a:pPr>
            <a:r>
              <a:rPr lang="en-US" sz="2600">
                <a:solidFill>
                  <a:srgbClr val="FDF1EB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transformer-based entity extraction for robust</a:t>
            </a:r>
          </a:p>
          <a:p>
            <a:pPr algn="l">
              <a:lnSpc>
                <a:spcPts val="3564"/>
              </a:lnSpc>
            </a:pPr>
            <a:r>
              <a:rPr lang="en-US" sz="2600">
                <a:solidFill>
                  <a:srgbClr val="FDF1EB"/>
                </a:solidFill>
                <a:latin typeface="IBM Plex Sans"/>
                <a:ea typeface="IBM Plex Sans"/>
                <a:cs typeface="IBM Plex Sans"/>
                <a:sym typeface="IBM Plex Sans"/>
              </a:rPr>
              <a:t>six-language support.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0049027" y="7189594"/>
            <a:ext cx="1979990" cy="333375"/>
            <a:chOff x="0" y="0"/>
            <a:chExt cx="2639987" cy="4445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639992" cy="444501"/>
            </a:xfrm>
            <a:custGeom>
              <a:avLst/>
              <a:gdLst/>
              <a:ahLst/>
              <a:cxnLst/>
              <a:rect r="r" b="b" t="t" l="l"/>
              <a:pathLst>
                <a:path h="444501" w="2639992">
                  <a:moveTo>
                    <a:pt x="0" y="0"/>
                  </a:moveTo>
                  <a:lnTo>
                    <a:pt x="2639992" y="0"/>
                  </a:lnTo>
                  <a:lnTo>
                    <a:pt x="2639992" y="444501"/>
                  </a:lnTo>
                  <a:lnTo>
                    <a:pt x="0" y="4445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725" r="0" b="-6572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2639987" cy="454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3"/>
                </a:lnSpc>
              </a:pPr>
              <a:r>
                <a:rPr lang="en-US" sz="2019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Language ID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069213" y="7189594"/>
            <a:ext cx="2243509" cy="333375"/>
            <a:chOff x="0" y="0"/>
            <a:chExt cx="2991345" cy="4445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991347" cy="444501"/>
            </a:xfrm>
            <a:custGeom>
              <a:avLst/>
              <a:gdLst/>
              <a:ahLst/>
              <a:cxnLst/>
              <a:rect r="r" b="b" t="t" l="l"/>
              <a:pathLst>
                <a:path h="444501" w="2991347">
                  <a:moveTo>
                    <a:pt x="0" y="0"/>
                  </a:moveTo>
                  <a:lnTo>
                    <a:pt x="2991347" y="0"/>
                  </a:lnTo>
                  <a:lnTo>
                    <a:pt x="2991347" y="444501"/>
                  </a:lnTo>
                  <a:lnTo>
                    <a:pt x="0" y="4445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127" r="0" b="-8112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2991345" cy="454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3"/>
                </a:lnSpc>
              </a:pPr>
              <a:r>
                <a:rPr lang="en-US" sz="2019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XLM-RoBERTa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4292110" y="7189594"/>
            <a:ext cx="1630575" cy="333375"/>
            <a:chOff x="0" y="0"/>
            <a:chExt cx="2174100" cy="4445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174101" cy="444501"/>
            </a:xfrm>
            <a:custGeom>
              <a:avLst/>
              <a:gdLst/>
              <a:ahLst/>
              <a:cxnLst/>
              <a:rect r="r" b="b" t="t" l="l"/>
              <a:pathLst>
                <a:path h="444501" w="2174101">
                  <a:moveTo>
                    <a:pt x="0" y="0"/>
                  </a:moveTo>
                  <a:lnTo>
                    <a:pt x="2174101" y="0"/>
                  </a:lnTo>
                  <a:lnTo>
                    <a:pt x="2174101" y="444501"/>
                  </a:lnTo>
                  <a:lnTo>
                    <a:pt x="0" y="4445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03" r="0" b="-45303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2174100" cy="454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3"/>
                </a:lnSpc>
              </a:pPr>
              <a:r>
                <a:rPr lang="en-US" sz="2019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18 intents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6954500" y="9496425"/>
            <a:ext cx="7620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6E7A86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19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2227320" y="350275"/>
            <a:ext cx="7362595" cy="891916"/>
            <a:chOff x="0" y="0"/>
            <a:chExt cx="9816793" cy="1189222"/>
          </a:xfrm>
        </p:grpSpPr>
        <p:grpSp>
          <p:nvGrpSpPr>
            <p:cNvPr name="Group 48" id="48"/>
            <p:cNvGrpSpPr/>
            <p:nvPr/>
          </p:nvGrpSpPr>
          <p:grpSpPr>
            <a:xfrm rot="0">
              <a:off x="0" y="0"/>
              <a:ext cx="9816793" cy="1189222"/>
              <a:chOff x="0" y="0"/>
              <a:chExt cx="2829729" cy="342798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2829729" cy="342798"/>
              </a:xfrm>
              <a:custGeom>
                <a:avLst/>
                <a:gdLst/>
                <a:ahLst/>
                <a:cxnLst/>
                <a:rect r="r" b="b" t="t" l="l"/>
                <a:pathLst>
                  <a:path h="342798" w="2829729">
                    <a:moveTo>
                      <a:pt x="105152" y="0"/>
                    </a:moveTo>
                    <a:lnTo>
                      <a:pt x="2724577" y="0"/>
                    </a:lnTo>
                    <a:cubicBezTo>
                      <a:pt x="2782651" y="0"/>
                      <a:pt x="2829729" y="47078"/>
                      <a:pt x="2829729" y="105152"/>
                    </a:cubicBezTo>
                    <a:lnTo>
                      <a:pt x="2829729" y="237646"/>
                    </a:lnTo>
                    <a:cubicBezTo>
                      <a:pt x="2829729" y="295720"/>
                      <a:pt x="2782651" y="342798"/>
                      <a:pt x="2724577" y="342798"/>
                    </a:cubicBezTo>
                    <a:lnTo>
                      <a:pt x="105152" y="342798"/>
                    </a:lnTo>
                    <a:cubicBezTo>
                      <a:pt x="47078" y="342798"/>
                      <a:pt x="0" y="295720"/>
                      <a:pt x="0" y="237646"/>
                    </a:cubicBezTo>
                    <a:lnTo>
                      <a:pt x="0" y="105152"/>
                    </a:lnTo>
                    <a:cubicBezTo>
                      <a:pt x="0" y="47078"/>
                      <a:pt x="47078" y="0"/>
                      <a:pt x="1051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57150" cap="rnd">
                <a:solidFill>
                  <a:srgbClr val="034088"/>
                </a:solidFill>
                <a:prstDash val="solid"/>
                <a:round/>
              </a:ln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66675"/>
                <a:ext cx="2829729" cy="4094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180"/>
                  </a:lnSpc>
                </a:pPr>
              </a:p>
            </p:txBody>
          </p:sp>
        </p:grpSp>
        <p:sp>
          <p:nvSpPr>
            <p:cNvPr name="TextBox 51" id="51"/>
            <p:cNvSpPr txBox="true"/>
            <p:nvPr/>
          </p:nvSpPr>
          <p:spPr>
            <a:xfrm rot="0">
              <a:off x="259915" y="190484"/>
              <a:ext cx="8673508" cy="741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50"/>
                </a:lnSpc>
                <a:spcBef>
                  <a:spcPct val="0"/>
                </a:spcBef>
              </a:pPr>
              <a:r>
                <a:rPr lang="en-US" b="true" sz="3321">
                  <a:solidFill>
                    <a:srgbClr val="16324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Two-Approach Methodology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24933" y="786708"/>
            <a:ext cx="10935252" cy="1166363"/>
            <a:chOff x="0" y="0"/>
            <a:chExt cx="14580337" cy="15551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580333" cy="1555152"/>
            </a:xfrm>
            <a:custGeom>
              <a:avLst/>
              <a:gdLst/>
              <a:ahLst/>
              <a:cxnLst/>
              <a:rect r="r" b="b" t="t" l="l"/>
              <a:pathLst>
                <a:path h="1555152" w="14580333">
                  <a:moveTo>
                    <a:pt x="0" y="0"/>
                  </a:moveTo>
                  <a:lnTo>
                    <a:pt x="14580333" y="0"/>
                  </a:lnTo>
                  <a:lnTo>
                    <a:pt x="14580333" y="1555152"/>
                  </a:lnTo>
                  <a:lnTo>
                    <a:pt x="0" y="15551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5524" r="0" b="-11983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14580337" cy="15456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384"/>
                </a:lnSpc>
              </a:pPr>
              <a:r>
                <a:rPr lang="en-US" b="true" sz="5320" spc="-134">
                  <a:solidFill>
                    <a:srgbClr val="16324F"/>
                  </a:solidFill>
                  <a:latin typeface="Roca Two Bold"/>
                  <a:ea typeface="Roca Two Bold"/>
                  <a:cs typeface="Roca Two Bold"/>
                  <a:sym typeface="Roca Two Bold"/>
                </a:rPr>
                <a:t>Approach 1 — Classical NLP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97156" y="1917802"/>
            <a:ext cx="11652466" cy="447675"/>
            <a:chOff x="0" y="0"/>
            <a:chExt cx="15536621" cy="5969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536624" cy="596901"/>
            </a:xfrm>
            <a:custGeom>
              <a:avLst/>
              <a:gdLst/>
              <a:ahLst/>
              <a:cxnLst/>
              <a:rect r="r" b="b" t="t" l="l"/>
              <a:pathLst>
                <a:path h="596901" w="15536624">
                  <a:moveTo>
                    <a:pt x="0" y="0"/>
                  </a:moveTo>
                  <a:lnTo>
                    <a:pt x="15536624" y="0"/>
                  </a:lnTo>
                  <a:lnTo>
                    <a:pt x="15536624" y="596901"/>
                  </a:lnTo>
                  <a:lnTo>
                    <a:pt x="0" y="59690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7172" r="0" b="-45717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15536621" cy="587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87"/>
                </a:lnSpc>
              </a:pPr>
              <a:r>
                <a:rPr lang="en-US" sz="2740">
                  <a:solidFill>
                    <a:srgbClr val="6E7A8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Interpretable pipeline built on character TF-IDF features.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97156" y="2942930"/>
            <a:ext cx="413223" cy="468691"/>
            <a:chOff x="0" y="0"/>
            <a:chExt cx="550964" cy="62492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50963" cy="624921"/>
            </a:xfrm>
            <a:custGeom>
              <a:avLst/>
              <a:gdLst/>
              <a:ahLst/>
              <a:cxnLst/>
              <a:rect r="r" b="b" t="t" l="l"/>
              <a:pathLst>
                <a:path h="624921" w="550963">
                  <a:moveTo>
                    <a:pt x="0" y="0"/>
                  </a:moveTo>
                  <a:lnTo>
                    <a:pt x="550963" y="0"/>
                  </a:lnTo>
                  <a:lnTo>
                    <a:pt x="550963" y="624921"/>
                  </a:lnTo>
                  <a:lnTo>
                    <a:pt x="0" y="62492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6468" t="0" r="-56469" b="2683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550964" cy="6249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2160">
                  <a:solidFill>
                    <a:srgbClr val="E8743B"/>
                  </a:solidFill>
                  <a:latin typeface="Roca Two"/>
                  <a:ea typeface="Roca Two"/>
                  <a:cs typeface="Roca Two"/>
                  <a:sym typeface="Roca Two"/>
                </a:rPr>
                <a:t>→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601391" y="2835173"/>
            <a:ext cx="9064142" cy="995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9"/>
              </a:lnSpc>
            </a:pPr>
            <a:r>
              <a:rPr lang="en-US" sz="2799">
                <a:solidFill>
                  <a:srgbClr val="1A2733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Intent classification with char TF-IDF and a</a:t>
            </a:r>
          </a:p>
          <a:p>
            <a:pPr algn="l">
              <a:lnSpc>
                <a:spcPts val="3859"/>
              </a:lnSpc>
            </a:pPr>
            <a:r>
              <a:rPr lang="en-US" sz="2799">
                <a:solidFill>
                  <a:srgbClr val="1A2733"/>
                </a:solidFill>
                <a:latin typeface="IBM Plex Sans"/>
                <a:ea typeface="IBM Plex Sans"/>
                <a:cs typeface="IBM Plex Sans"/>
                <a:sym typeface="IBM Plex Sans"/>
              </a:rPr>
              <a:t>Linear SVM.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97156" y="4170159"/>
            <a:ext cx="413223" cy="468691"/>
            <a:chOff x="0" y="0"/>
            <a:chExt cx="550964" cy="62492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50963" cy="624921"/>
            </a:xfrm>
            <a:custGeom>
              <a:avLst/>
              <a:gdLst/>
              <a:ahLst/>
              <a:cxnLst/>
              <a:rect r="r" b="b" t="t" l="l"/>
              <a:pathLst>
                <a:path h="624921" w="550963">
                  <a:moveTo>
                    <a:pt x="0" y="0"/>
                  </a:moveTo>
                  <a:lnTo>
                    <a:pt x="550963" y="0"/>
                  </a:lnTo>
                  <a:lnTo>
                    <a:pt x="550963" y="624921"/>
                  </a:lnTo>
                  <a:lnTo>
                    <a:pt x="0" y="62492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6468" t="0" r="-56469" b="2683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550964" cy="6249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2160">
                  <a:solidFill>
                    <a:srgbClr val="E8743B"/>
                  </a:solidFill>
                  <a:latin typeface="Roca Two"/>
                  <a:ea typeface="Roca Two"/>
                  <a:cs typeface="Roca Two"/>
                  <a:sym typeface="Roca Two"/>
                </a:rPr>
                <a:t>→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601391" y="4062413"/>
            <a:ext cx="9025252" cy="995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9"/>
              </a:lnSpc>
            </a:pPr>
            <a:r>
              <a:rPr lang="en-US" sz="2799">
                <a:solidFill>
                  <a:srgbClr val="1A2733"/>
                </a:solidFill>
                <a:latin typeface="IBM Plex Sans"/>
                <a:ea typeface="IBM Plex Sans"/>
                <a:cs typeface="IBM Plex Sans"/>
                <a:sym typeface="IBM Plex Sans"/>
              </a:rPr>
              <a:t>Job matching via cosine similarity between</a:t>
            </a:r>
          </a:p>
          <a:p>
            <a:pPr algn="l">
              <a:lnSpc>
                <a:spcPts val="3859"/>
              </a:lnSpc>
            </a:pPr>
            <a:r>
              <a:rPr lang="en-US" sz="2799">
                <a:solidFill>
                  <a:srgbClr val="1A2733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profile and offers.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97156" y="5397398"/>
            <a:ext cx="413223" cy="468691"/>
            <a:chOff x="0" y="0"/>
            <a:chExt cx="550964" cy="62492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0963" cy="624921"/>
            </a:xfrm>
            <a:custGeom>
              <a:avLst/>
              <a:gdLst/>
              <a:ahLst/>
              <a:cxnLst/>
              <a:rect r="r" b="b" t="t" l="l"/>
              <a:pathLst>
                <a:path h="624921" w="550963">
                  <a:moveTo>
                    <a:pt x="0" y="0"/>
                  </a:moveTo>
                  <a:lnTo>
                    <a:pt x="550963" y="0"/>
                  </a:lnTo>
                  <a:lnTo>
                    <a:pt x="550963" y="624921"/>
                  </a:lnTo>
                  <a:lnTo>
                    <a:pt x="0" y="62492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6468" t="0" r="-56469" b="2683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550964" cy="6249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2160">
                  <a:solidFill>
                    <a:srgbClr val="E8743B"/>
                  </a:solidFill>
                  <a:latin typeface="Roca Two"/>
                  <a:ea typeface="Roca Two"/>
                  <a:cs typeface="Roca Two"/>
                  <a:sym typeface="Roca Two"/>
                </a:rPr>
                <a:t>→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601391" y="5289652"/>
            <a:ext cx="8455266" cy="995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9"/>
              </a:lnSpc>
            </a:pPr>
            <a:r>
              <a:rPr lang="en-US" sz="2799">
                <a:solidFill>
                  <a:srgbClr val="1A2733"/>
                </a:solidFill>
                <a:latin typeface="IBM Plex Sans"/>
                <a:ea typeface="IBM Plex Sans"/>
                <a:cs typeface="IBM Plex Sans"/>
                <a:sym typeface="IBM Plex Sans"/>
              </a:rPr>
              <a:t>Knowledge retrieval over the ANEM RAG</a:t>
            </a:r>
          </a:p>
          <a:p>
            <a:pPr algn="l">
              <a:lnSpc>
                <a:spcPts val="3859"/>
              </a:lnSpc>
            </a:pPr>
            <a:r>
              <a:rPr lang="en-US" sz="2799">
                <a:solidFill>
                  <a:srgbClr val="1A2733"/>
                </a:solidFill>
                <a:latin typeface="IBM Plex Sans"/>
                <a:ea typeface="IBM Plex Sans"/>
                <a:cs typeface="IBM Plex Sans"/>
                <a:sym typeface="IBM Plex Sans"/>
              </a:rPr>
              <a:t>knowledge base.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97156" y="6624638"/>
            <a:ext cx="413223" cy="468691"/>
            <a:chOff x="0" y="0"/>
            <a:chExt cx="550964" cy="62492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50963" cy="624921"/>
            </a:xfrm>
            <a:custGeom>
              <a:avLst/>
              <a:gdLst/>
              <a:ahLst/>
              <a:cxnLst/>
              <a:rect r="r" b="b" t="t" l="l"/>
              <a:pathLst>
                <a:path h="624921" w="550963">
                  <a:moveTo>
                    <a:pt x="0" y="0"/>
                  </a:moveTo>
                  <a:lnTo>
                    <a:pt x="550963" y="0"/>
                  </a:lnTo>
                  <a:lnTo>
                    <a:pt x="550963" y="624921"/>
                  </a:lnTo>
                  <a:lnTo>
                    <a:pt x="0" y="62492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6468" t="0" r="-56469" b="26838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550964" cy="6249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2160">
                  <a:solidFill>
                    <a:srgbClr val="E8743B"/>
                  </a:solidFill>
                  <a:latin typeface="Roca Two"/>
                  <a:ea typeface="Roca Two"/>
                  <a:cs typeface="Roca Two"/>
                  <a:sym typeface="Roca Two"/>
                </a:rPr>
                <a:t>→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601391" y="6516881"/>
            <a:ext cx="9832048" cy="995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9"/>
              </a:lnSpc>
            </a:pPr>
            <a:r>
              <a:rPr lang="en-US" sz="2799">
                <a:solidFill>
                  <a:srgbClr val="1A2733"/>
                </a:solidFill>
                <a:latin typeface="IBM Plex Sans"/>
                <a:ea typeface="IBM Plex Sans"/>
                <a:cs typeface="IBM Plex Sans"/>
                <a:sym typeface="IBM Plex Sans"/>
              </a:rPr>
              <a:t>Fairness analysis by masking identity signals in</a:t>
            </a:r>
          </a:p>
          <a:p>
            <a:pPr algn="l">
              <a:lnSpc>
                <a:spcPts val="3859"/>
              </a:lnSpc>
            </a:pPr>
            <a:r>
              <a:rPr lang="en-US" sz="2799">
                <a:solidFill>
                  <a:srgbClr val="1A2733"/>
                </a:solidFill>
                <a:latin typeface="IBM Plex Sans"/>
                <a:ea typeface="IBM Plex Sans"/>
                <a:cs typeface="IBM Plex Sans"/>
                <a:sym typeface="IBM Plex Sans"/>
              </a:rPr>
              <a:t>input.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045008" y="2873950"/>
            <a:ext cx="3390900" cy="2019300"/>
            <a:chOff x="0" y="0"/>
            <a:chExt cx="4521200" cy="2692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521200" cy="2692400"/>
            </a:xfrm>
            <a:custGeom>
              <a:avLst/>
              <a:gdLst/>
              <a:ahLst/>
              <a:cxnLst/>
              <a:rect r="r" b="b" t="t" l="l"/>
              <a:pathLst>
                <a:path h="2692400" w="452120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4228592" y="0"/>
                  </a:lnTo>
                  <a:cubicBezTo>
                    <a:pt x="4390136" y="0"/>
                    <a:pt x="4521200" y="131064"/>
                    <a:pt x="4521200" y="292608"/>
                  </a:cubicBezTo>
                  <a:lnTo>
                    <a:pt x="4521200" y="2399792"/>
                  </a:lnTo>
                  <a:cubicBezTo>
                    <a:pt x="4521200" y="2561336"/>
                    <a:pt x="4390136" y="2692400"/>
                    <a:pt x="4228592" y="2692400"/>
                  </a:cubicBezTo>
                  <a:lnTo>
                    <a:pt x="292608" y="2692400"/>
                  </a:lnTo>
                  <a:cubicBezTo>
                    <a:pt x="131064" y="2692400"/>
                    <a:pt x="0" y="2561336"/>
                    <a:pt x="0" y="239979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354123" y="3067498"/>
            <a:ext cx="2205199" cy="1387160"/>
            <a:chOff x="0" y="0"/>
            <a:chExt cx="2940266" cy="184954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940269" cy="1849547"/>
            </a:xfrm>
            <a:custGeom>
              <a:avLst/>
              <a:gdLst/>
              <a:ahLst/>
              <a:cxnLst/>
              <a:rect r="r" b="b" t="t" l="l"/>
              <a:pathLst>
                <a:path h="1849547" w="2940269">
                  <a:moveTo>
                    <a:pt x="0" y="0"/>
                  </a:moveTo>
                  <a:lnTo>
                    <a:pt x="2940269" y="0"/>
                  </a:lnTo>
                  <a:lnTo>
                    <a:pt x="2940269" y="1849547"/>
                  </a:lnTo>
                  <a:lnTo>
                    <a:pt x="0" y="184954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852" t="0" r="-9852" b="25841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2940266" cy="18495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08"/>
                </a:lnSpc>
              </a:pPr>
              <a:r>
                <a:rPr lang="en-US" sz="6340">
                  <a:solidFill>
                    <a:srgbClr val="16324F"/>
                  </a:solidFill>
                  <a:latin typeface="Roca Two"/>
                  <a:ea typeface="Roca Two"/>
                  <a:cs typeface="Roca Two"/>
                  <a:sym typeface="Roca Two"/>
                </a:rPr>
                <a:t>83%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354123" y="4117924"/>
            <a:ext cx="2784662" cy="371475"/>
            <a:chOff x="0" y="0"/>
            <a:chExt cx="3712883" cy="4953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712885" cy="495301"/>
            </a:xfrm>
            <a:custGeom>
              <a:avLst/>
              <a:gdLst/>
              <a:ahLst/>
              <a:cxnLst/>
              <a:rect r="r" b="b" t="t" l="l"/>
              <a:pathLst>
                <a:path h="495301" w="3712885">
                  <a:moveTo>
                    <a:pt x="0" y="0"/>
                  </a:moveTo>
                  <a:lnTo>
                    <a:pt x="3712885" y="0"/>
                  </a:lnTo>
                  <a:lnTo>
                    <a:pt x="3712885" y="495301"/>
                  </a:lnTo>
                  <a:lnTo>
                    <a:pt x="0" y="49530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064" r="0" b="-9606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3712883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6E7A8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Intent accuracy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800382" y="2873950"/>
            <a:ext cx="3390900" cy="2019300"/>
            <a:chOff x="0" y="0"/>
            <a:chExt cx="4521200" cy="2692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521200" cy="2692400"/>
            </a:xfrm>
            <a:custGeom>
              <a:avLst/>
              <a:gdLst/>
              <a:ahLst/>
              <a:cxnLst/>
              <a:rect r="r" b="b" t="t" l="l"/>
              <a:pathLst>
                <a:path h="2692400" w="452120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4228592" y="0"/>
                  </a:lnTo>
                  <a:cubicBezTo>
                    <a:pt x="4390136" y="0"/>
                    <a:pt x="4521200" y="131064"/>
                    <a:pt x="4521200" y="292608"/>
                  </a:cubicBezTo>
                  <a:lnTo>
                    <a:pt x="4521200" y="2399792"/>
                  </a:lnTo>
                  <a:cubicBezTo>
                    <a:pt x="4521200" y="2561336"/>
                    <a:pt x="4390136" y="2692400"/>
                    <a:pt x="4228592" y="2692400"/>
                  </a:cubicBezTo>
                  <a:lnTo>
                    <a:pt x="292608" y="2692400"/>
                  </a:lnTo>
                  <a:cubicBezTo>
                    <a:pt x="131064" y="2692400"/>
                    <a:pt x="0" y="2561336"/>
                    <a:pt x="0" y="239979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4109506" y="3067498"/>
            <a:ext cx="2699918" cy="1387160"/>
            <a:chOff x="0" y="0"/>
            <a:chExt cx="3599891" cy="184954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599893" cy="1849547"/>
            </a:xfrm>
            <a:custGeom>
              <a:avLst/>
              <a:gdLst/>
              <a:ahLst/>
              <a:cxnLst/>
              <a:rect r="r" b="b" t="t" l="l"/>
              <a:pathLst>
                <a:path h="1849547" w="3599893">
                  <a:moveTo>
                    <a:pt x="0" y="0"/>
                  </a:moveTo>
                  <a:lnTo>
                    <a:pt x="3599893" y="0"/>
                  </a:lnTo>
                  <a:lnTo>
                    <a:pt x="3599893" y="1849547"/>
                  </a:lnTo>
                  <a:lnTo>
                    <a:pt x="0" y="184954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" r="0" b="2499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3599891" cy="18495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08"/>
                </a:lnSpc>
              </a:pPr>
              <a:r>
                <a:rPr lang="en-US" sz="6340">
                  <a:solidFill>
                    <a:srgbClr val="16324F"/>
                  </a:solidFill>
                  <a:latin typeface="Roca Two"/>
                  <a:ea typeface="Roca Two"/>
                  <a:cs typeface="Roca Two"/>
                  <a:sym typeface="Roca Two"/>
                </a:rPr>
                <a:t>100%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4109506" y="4117924"/>
            <a:ext cx="3637512" cy="371475"/>
            <a:chOff x="0" y="0"/>
            <a:chExt cx="4850016" cy="4953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850011" cy="495301"/>
            </a:xfrm>
            <a:custGeom>
              <a:avLst/>
              <a:gdLst/>
              <a:ahLst/>
              <a:cxnLst/>
              <a:rect r="r" b="b" t="t" l="l"/>
              <a:pathLst>
                <a:path h="495301" w="4850011">
                  <a:moveTo>
                    <a:pt x="0" y="0"/>
                  </a:moveTo>
                  <a:lnTo>
                    <a:pt x="4850011" y="0"/>
                  </a:lnTo>
                  <a:lnTo>
                    <a:pt x="4850011" y="495301"/>
                  </a:lnTo>
                  <a:lnTo>
                    <a:pt x="0" y="49530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0798" r="0" b="-140798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4850016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6E7A8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Answers found in KB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046275" y="5258248"/>
            <a:ext cx="7143750" cy="2000250"/>
            <a:chOff x="0" y="0"/>
            <a:chExt cx="9525000" cy="26670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525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9525000">
                  <a:moveTo>
                    <a:pt x="0" y="292608"/>
                  </a:moveTo>
                  <a:cubicBezTo>
                    <a:pt x="0" y="130937"/>
                    <a:pt x="130937" y="0"/>
                    <a:pt x="292608" y="0"/>
                  </a:cubicBezTo>
                  <a:lnTo>
                    <a:pt x="9232392" y="0"/>
                  </a:lnTo>
                  <a:cubicBezTo>
                    <a:pt x="9394063" y="0"/>
                    <a:pt x="9525000" y="130937"/>
                    <a:pt x="9525000" y="292608"/>
                  </a:cubicBezTo>
                  <a:lnTo>
                    <a:pt x="9525000" y="2374392"/>
                  </a:lnTo>
                  <a:cubicBezTo>
                    <a:pt x="9525000" y="2535936"/>
                    <a:pt x="9394063" y="2667000"/>
                    <a:pt x="9232392" y="2667000"/>
                  </a:cubicBezTo>
                  <a:lnTo>
                    <a:pt x="292608" y="2667000"/>
                  </a:lnTo>
                  <a:cubicBezTo>
                    <a:pt x="130937" y="2667000"/>
                    <a:pt x="0" y="2536063"/>
                    <a:pt x="0" y="2374392"/>
                  </a:cubicBezTo>
                  <a:close/>
                </a:path>
              </a:pathLst>
            </a:custGeom>
            <a:solidFill>
              <a:srgbClr val="16324F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0354123" y="5596680"/>
            <a:ext cx="1973028" cy="428625"/>
            <a:chOff x="0" y="0"/>
            <a:chExt cx="2630703" cy="5715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630707" cy="571501"/>
            </a:xfrm>
            <a:custGeom>
              <a:avLst/>
              <a:gdLst/>
              <a:ahLst/>
              <a:cxnLst/>
              <a:rect r="r" b="b" t="t" l="l"/>
              <a:pathLst>
                <a:path h="571501" w="2630707">
                  <a:moveTo>
                    <a:pt x="0" y="0"/>
                  </a:moveTo>
                  <a:lnTo>
                    <a:pt x="2630707" y="0"/>
                  </a:lnTo>
                  <a:lnTo>
                    <a:pt x="2630707" y="571501"/>
                  </a:lnTo>
                  <a:lnTo>
                    <a:pt x="0" y="57150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692" r="0" b="-3969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2630703" cy="571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Strengths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0354123" y="6115498"/>
            <a:ext cx="8267014" cy="811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2300">
                <a:solidFill>
                  <a:srgbClr val="D0D6DC"/>
                </a:solidFill>
                <a:latin typeface="IBM Plex Sans"/>
                <a:ea typeface="IBM Plex Sans"/>
                <a:cs typeface="IBM Plex Sans"/>
                <a:sym typeface="IBM Plex Sans"/>
              </a:rPr>
              <a:t>Fast, transparent and cheap to run, with no GPU</a:t>
            </a:r>
          </a:p>
          <a:p>
            <a:pPr algn="l">
              <a:lnSpc>
                <a:spcPts val="3168"/>
              </a:lnSpc>
            </a:pPr>
            <a:r>
              <a:rPr lang="en-US" sz="2300">
                <a:solidFill>
                  <a:srgbClr val="D0D6DC"/>
                </a:solidFill>
                <a:latin typeface="IBM Plex Sans"/>
                <a:ea typeface="IBM Plex Sans"/>
                <a:cs typeface="IBM Plex Sans"/>
                <a:sym typeface="IBM Plex Sans"/>
              </a:rPr>
              <a:t>required.</a:t>
            </a:r>
          </a:p>
        </p:txBody>
      </p:sp>
      <p:sp>
        <p:nvSpPr>
          <p:cNvPr name="Freeform 48" id="48" descr="preencoded.png"/>
          <p:cNvSpPr/>
          <p:nvPr/>
        </p:nvSpPr>
        <p:spPr>
          <a:xfrm flipH="false" flipV="false" rot="0">
            <a:off x="10045008" y="2873950"/>
            <a:ext cx="3390900" cy="2019300"/>
          </a:xfrm>
          <a:custGeom>
            <a:avLst/>
            <a:gdLst/>
            <a:ahLst/>
            <a:cxnLst/>
            <a:rect r="r" b="b" t="t" l="l"/>
            <a:pathLst>
              <a:path h="2019300" w="3390900">
                <a:moveTo>
                  <a:pt x="0" y="0"/>
                </a:moveTo>
                <a:lnTo>
                  <a:pt x="3390900" y="0"/>
                </a:lnTo>
                <a:lnTo>
                  <a:pt x="3390900" y="2019300"/>
                </a:lnTo>
                <a:lnTo>
                  <a:pt x="0" y="2019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 descr="preencoded.png"/>
          <p:cNvSpPr/>
          <p:nvPr/>
        </p:nvSpPr>
        <p:spPr>
          <a:xfrm flipH="false" flipV="false" rot="0">
            <a:off x="13800382" y="2873950"/>
            <a:ext cx="3390900" cy="2019300"/>
          </a:xfrm>
          <a:custGeom>
            <a:avLst/>
            <a:gdLst/>
            <a:ahLst/>
            <a:cxnLst/>
            <a:rect r="r" b="b" t="t" l="l"/>
            <a:pathLst>
              <a:path h="2019300" w="3390900">
                <a:moveTo>
                  <a:pt x="0" y="0"/>
                </a:moveTo>
                <a:lnTo>
                  <a:pt x="3390900" y="0"/>
                </a:lnTo>
                <a:lnTo>
                  <a:pt x="3390900" y="2019300"/>
                </a:lnTo>
                <a:lnTo>
                  <a:pt x="0" y="20193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0" id="50"/>
          <p:cNvSpPr txBox="true"/>
          <p:nvPr/>
        </p:nvSpPr>
        <p:spPr>
          <a:xfrm rot="0">
            <a:off x="16954500" y="9496425"/>
            <a:ext cx="7620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6E7A86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20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2227320" y="350275"/>
            <a:ext cx="7362595" cy="891916"/>
            <a:chOff x="0" y="0"/>
            <a:chExt cx="9816793" cy="1189222"/>
          </a:xfrm>
        </p:grpSpPr>
        <p:grpSp>
          <p:nvGrpSpPr>
            <p:cNvPr name="Group 52" id="52"/>
            <p:cNvGrpSpPr/>
            <p:nvPr/>
          </p:nvGrpSpPr>
          <p:grpSpPr>
            <a:xfrm rot="0">
              <a:off x="0" y="0"/>
              <a:ext cx="9816793" cy="1189222"/>
              <a:chOff x="0" y="0"/>
              <a:chExt cx="2829729" cy="342798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2829729" cy="342798"/>
              </a:xfrm>
              <a:custGeom>
                <a:avLst/>
                <a:gdLst/>
                <a:ahLst/>
                <a:cxnLst/>
                <a:rect r="r" b="b" t="t" l="l"/>
                <a:pathLst>
                  <a:path h="342798" w="2829729">
                    <a:moveTo>
                      <a:pt x="105152" y="0"/>
                    </a:moveTo>
                    <a:lnTo>
                      <a:pt x="2724577" y="0"/>
                    </a:lnTo>
                    <a:cubicBezTo>
                      <a:pt x="2782651" y="0"/>
                      <a:pt x="2829729" y="47078"/>
                      <a:pt x="2829729" y="105152"/>
                    </a:cubicBezTo>
                    <a:lnTo>
                      <a:pt x="2829729" y="237646"/>
                    </a:lnTo>
                    <a:cubicBezTo>
                      <a:pt x="2829729" y="295720"/>
                      <a:pt x="2782651" y="342798"/>
                      <a:pt x="2724577" y="342798"/>
                    </a:cubicBezTo>
                    <a:lnTo>
                      <a:pt x="105152" y="342798"/>
                    </a:lnTo>
                    <a:cubicBezTo>
                      <a:pt x="47078" y="342798"/>
                      <a:pt x="0" y="295720"/>
                      <a:pt x="0" y="237646"/>
                    </a:cubicBezTo>
                    <a:lnTo>
                      <a:pt x="0" y="105152"/>
                    </a:lnTo>
                    <a:cubicBezTo>
                      <a:pt x="0" y="47078"/>
                      <a:pt x="47078" y="0"/>
                      <a:pt x="1051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57150" cap="rnd">
                <a:solidFill>
                  <a:srgbClr val="034088"/>
                </a:solidFill>
                <a:prstDash val="solid"/>
                <a:round/>
              </a:ln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66675"/>
                <a:ext cx="2829729" cy="4094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180"/>
                  </a:lnSpc>
                </a:pPr>
              </a:p>
            </p:txBody>
          </p:sp>
        </p:grpSp>
        <p:sp>
          <p:nvSpPr>
            <p:cNvPr name="TextBox 55" id="55"/>
            <p:cNvSpPr txBox="true"/>
            <p:nvPr/>
          </p:nvSpPr>
          <p:spPr>
            <a:xfrm rot="0">
              <a:off x="259915" y="190484"/>
              <a:ext cx="8673508" cy="741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50"/>
                </a:lnSpc>
                <a:spcBef>
                  <a:spcPct val="0"/>
                </a:spcBef>
              </a:pPr>
              <a:r>
                <a:rPr lang="en-US" b="true" sz="3321">
                  <a:solidFill>
                    <a:srgbClr val="16324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Two-Approach Methodology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72625" y="2381250"/>
            <a:ext cx="7810500" cy="5314950"/>
            <a:chOff x="0" y="0"/>
            <a:chExt cx="10414000" cy="7086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14000" cy="7086600"/>
            </a:xfrm>
            <a:custGeom>
              <a:avLst/>
              <a:gdLst/>
              <a:ahLst/>
              <a:cxnLst/>
              <a:rect r="r" b="b" t="t" l="l"/>
              <a:pathLst>
                <a:path h="7086600" w="10414000">
                  <a:moveTo>
                    <a:pt x="708660" y="0"/>
                  </a:moveTo>
                  <a:lnTo>
                    <a:pt x="9705340" y="0"/>
                  </a:lnTo>
                  <a:cubicBezTo>
                    <a:pt x="10096722" y="0"/>
                    <a:pt x="10414000" y="317278"/>
                    <a:pt x="10414000" y="708660"/>
                  </a:cubicBezTo>
                  <a:lnTo>
                    <a:pt x="10414000" y="6377940"/>
                  </a:lnTo>
                  <a:cubicBezTo>
                    <a:pt x="10414000" y="6769322"/>
                    <a:pt x="10096722" y="7086600"/>
                    <a:pt x="9705340" y="7086600"/>
                  </a:cubicBezTo>
                  <a:lnTo>
                    <a:pt x="708660" y="7086600"/>
                  </a:lnTo>
                  <a:cubicBezTo>
                    <a:pt x="317278" y="7086600"/>
                    <a:pt x="0" y="6769322"/>
                    <a:pt x="0" y="6377940"/>
                  </a:cubicBezTo>
                  <a:lnTo>
                    <a:pt x="0" y="708660"/>
                  </a:lnTo>
                  <a:cubicBezTo>
                    <a:pt x="0" y="317278"/>
                    <a:pt x="317278" y="0"/>
                    <a:pt x="70866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0414000" cy="710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95375" y="2667000"/>
            <a:ext cx="7143750" cy="4762500"/>
            <a:chOff x="0" y="0"/>
            <a:chExt cx="9525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525000" cy="6350063"/>
            </a:xfrm>
            <a:custGeom>
              <a:avLst/>
              <a:gdLst/>
              <a:ahLst/>
              <a:cxnLst/>
              <a:rect r="r" b="b" t="t" l="l"/>
              <a:pathLst>
                <a:path h="6350063" w="9525000">
                  <a:moveTo>
                    <a:pt x="0" y="0"/>
                  </a:moveTo>
                  <a:lnTo>
                    <a:pt x="9525000" y="0"/>
                  </a:lnTo>
                  <a:lnTo>
                    <a:pt x="9525000" y="6350063"/>
                  </a:lnTo>
                  <a:lnTo>
                    <a:pt x="0" y="6350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991" t="-9990" r="-4991" b="-9989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906000" y="2555557"/>
            <a:ext cx="666750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 strike="noStrike" u="none">
                <a:solidFill>
                  <a:srgbClr val="16324F"/>
                </a:solidFill>
                <a:latin typeface="IBM Plex Sans"/>
                <a:ea typeface="IBM Plex Sans"/>
                <a:cs typeface="IBM Plex Sans"/>
                <a:sym typeface="IBM Plex Sans"/>
              </a:rPr>
              <a:t>Identity Masking Logic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96500" y="3327400"/>
            <a:ext cx="6667500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9"/>
              </a:lnSpc>
              <a:spcBef>
                <a:spcPct val="0"/>
              </a:spcBef>
            </a:pPr>
            <a:r>
              <a:rPr lang="en-US" sz="2299" strike="noStrike" u="none">
                <a:solidFill>
                  <a:srgbClr val="6E7A86"/>
                </a:solidFill>
                <a:latin typeface="IBM Plex Sans"/>
                <a:ea typeface="IBM Plex Sans"/>
                <a:cs typeface="IBM Plex Sans"/>
                <a:sym typeface="IBM Plex Sans"/>
              </a:rPr>
              <a:t>RequAI reduces bias by focusing strictly on</a:t>
            </a:r>
          </a:p>
          <a:p>
            <a:pPr algn="l" marL="0" indent="0" lvl="0">
              <a:lnSpc>
                <a:spcPts val="3219"/>
              </a:lnSpc>
              <a:spcBef>
                <a:spcPct val="0"/>
              </a:spcBef>
            </a:pPr>
            <a:r>
              <a:rPr lang="en-US" sz="2299" strike="noStrike" u="none">
                <a:solidFill>
                  <a:srgbClr val="6E7A86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professional suitability rather than identity signals.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96500" y="4346575"/>
            <a:ext cx="6477000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1A2733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  Masking: Automatic removal of Name, Gender, and Age markers.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96500" y="5276850"/>
            <a:ext cx="6477000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1A2733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  Skill-Centric: Matching is calculated only on experience and skills.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96500" y="6129893"/>
            <a:ext cx="6477000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1A2733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  Recovery: Match scores improve for diverse profiles after bias signals are removed.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954500" y="9286875"/>
            <a:ext cx="762000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6E7A86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22</a:t>
            </a:r>
          </a:p>
          <a:p>
            <a:pPr algn="r" marL="0" indent="0" lvl="0">
              <a:lnSpc>
                <a:spcPts val="3359"/>
              </a:lnSpc>
              <a:spcBef>
                <a:spcPct val="0"/>
              </a:spcBef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12228236" y="582742"/>
            <a:ext cx="7362595" cy="891916"/>
            <a:chOff x="0" y="0"/>
            <a:chExt cx="9816793" cy="1189222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9816793" cy="1189222"/>
              <a:chOff x="0" y="0"/>
              <a:chExt cx="2829729" cy="342798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829729" cy="342798"/>
              </a:xfrm>
              <a:custGeom>
                <a:avLst/>
                <a:gdLst/>
                <a:ahLst/>
                <a:cxnLst/>
                <a:rect r="r" b="b" t="t" l="l"/>
                <a:pathLst>
                  <a:path h="342798" w="2829729">
                    <a:moveTo>
                      <a:pt x="105152" y="0"/>
                    </a:moveTo>
                    <a:lnTo>
                      <a:pt x="2724577" y="0"/>
                    </a:lnTo>
                    <a:cubicBezTo>
                      <a:pt x="2782651" y="0"/>
                      <a:pt x="2829729" y="47078"/>
                      <a:pt x="2829729" y="105152"/>
                    </a:cubicBezTo>
                    <a:lnTo>
                      <a:pt x="2829729" y="237646"/>
                    </a:lnTo>
                    <a:cubicBezTo>
                      <a:pt x="2829729" y="295720"/>
                      <a:pt x="2782651" y="342798"/>
                      <a:pt x="2724577" y="342798"/>
                    </a:cubicBezTo>
                    <a:lnTo>
                      <a:pt x="105152" y="342798"/>
                    </a:lnTo>
                    <a:cubicBezTo>
                      <a:pt x="47078" y="342798"/>
                      <a:pt x="0" y="295720"/>
                      <a:pt x="0" y="237646"/>
                    </a:cubicBezTo>
                    <a:lnTo>
                      <a:pt x="0" y="105152"/>
                    </a:lnTo>
                    <a:cubicBezTo>
                      <a:pt x="0" y="47078"/>
                      <a:pt x="47078" y="0"/>
                      <a:pt x="1051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57150" cap="rnd">
                <a:solidFill>
                  <a:srgbClr val="034088"/>
                </a:solidFill>
                <a:prstDash val="solid"/>
                <a:round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66675"/>
                <a:ext cx="2829729" cy="4094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180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259915" y="190484"/>
              <a:ext cx="8673508" cy="741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50"/>
                </a:lnSpc>
                <a:spcBef>
                  <a:spcPct val="0"/>
                </a:spcBef>
              </a:pPr>
              <a:r>
                <a:rPr lang="en-US" b="true" sz="3321">
                  <a:solidFill>
                    <a:srgbClr val="16324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Two-Approach Methodology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59616" y="691012"/>
            <a:ext cx="12570634" cy="1975988"/>
            <a:chOff x="0" y="0"/>
            <a:chExt cx="16760845" cy="26346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760842" cy="2634652"/>
            </a:xfrm>
            <a:custGeom>
              <a:avLst/>
              <a:gdLst/>
              <a:ahLst/>
              <a:cxnLst/>
              <a:rect r="r" b="b" t="t" l="l"/>
              <a:pathLst>
                <a:path h="2634652" w="16760842">
                  <a:moveTo>
                    <a:pt x="0" y="0"/>
                  </a:moveTo>
                  <a:lnTo>
                    <a:pt x="16760842" y="0"/>
                  </a:lnTo>
                  <a:lnTo>
                    <a:pt x="16760842" y="2634652"/>
                  </a:lnTo>
                  <a:lnTo>
                    <a:pt x="0" y="26346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898" r="13009" b="-2976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9525"/>
              <a:ext cx="16760845" cy="262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383"/>
                </a:lnSpc>
              </a:pPr>
              <a:r>
                <a:rPr lang="en-US" b="true" sz="5319" spc="-132">
                  <a:solidFill>
                    <a:srgbClr val="16324F"/>
                  </a:solidFill>
                  <a:latin typeface="Roca Two Bold"/>
                  <a:ea typeface="Roca Two Bold"/>
                  <a:cs typeface="Roca Two Bold"/>
                  <a:sym typeface="Roca Two Bold"/>
                </a:rPr>
                <a:t>Fai</a:t>
              </a:r>
              <a:r>
                <a:rPr lang="en-US" b="true" sz="5319" spc="-132">
                  <a:solidFill>
                    <a:srgbClr val="16324F"/>
                  </a:solidFill>
                  <a:latin typeface="Roca Two Bold"/>
                  <a:ea typeface="Roca Two Bold"/>
                  <a:cs typeface="Roca Two Bold"/>
                  <a:sym typeface="Roca Two Bold"/>
                </a:rPr>
                <a:t>rness: Eliminating Recruitment</a:t>
              </a:r>
            </a:p>
            <a:p>
              <a:pPr algn="l">
                <a:lnSpc>
                  <a:spcPts val="6384"/>
                </a:lnSpc>
              </a:pPr>
              <a:r>
                <a:rPr lang="en-US" b="true" sz="5320" spc="-134">
                  <a:solidFill>
                    <a:srgbClr val="16324F"/>
                  </a:solidFill>
                  <a:latin typeface="Roca Two Bold"/>
                  <a:ea typeface="Roca Two Bold"/>
                  <a:cs typeface="Roca Two Bold"/>
                  <a:sym typeface="Roca Two Bold"/>
                </a:rPr>
                <a:t> Bias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24933" y="786708"/>
            <a:ext cx="10557777" cy="1166363"/>
            <a:chOff x="0" y="0"/>
            <a:chExt cx="14077036" cy="15551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077037" cy="1555152"/>
            </a:xfrm>
            <a:custGeom>
              <a:avLst/>
              <a:gdLst/>
              <a:ahLst/>
              <a:cxnLst/>
              <a:rect r="r" b="b" t="t" l="l"/>
              <a:pathLst>
                <a:path h="1555152" w="14077037">
                  <a:moveTo>
                    <a:pt x="0" y="0"/>
                  </a:moveTo>
                  <a:lnTo>
                    <a:pt x="14077037" y="0"/>
                  </a:lnTo>
                  <a:lnTo>
                    <a:pt x="14077037" y="1555152"/>
                  </a:lnTo>
                  <a:lnTo>
                    <a:pt x="0" y="15551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9218" r="0" b="-11353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14077036" cy="15456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384"/>
                </a:lnSpc>
              </a:pPr>
              <a:r>
                <a:rPr lang="en-US" b="true" sz="5320" spc="-134">
                  <a:solidFill>
                    <a:srgbClr val="16324F"/>
                  </a:solidFill>
                  <a:latin typeface="Roca Two Bold"/>
                  <a:ea typeface="Roca Two Bold"/>
                  <a:cs typeface="Roca Two Bold"/>
                  <a:sym typeface="Roca Two Bold"/>
                </a:rPr>
                <a:t>Approach 2 — Multilingual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97156" y="1917802"/>
            <a:ext cx="13869324" cy="447675"/>
            <a:chOff x="0" y="0"/>
            <a:chExt cx="18492432" cy="5969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492429" cy="596901"/>
            </a:xfrm>
            <a:custGeom>
              <a:avLst/>
              <a:gdLst/>
              <a:ahLst/>
              <a:cxnLst/>
              <a:rect r="r" b="b" t="t" l="l"/>
              <a:pathLst>
                <a:path h="596901" w="18492429">
                  <a:moveTo>
                    <a:pt x="0" y="0"/>
                  </a:moveTo>
                  <a:lnTo>
                    <a:pt x="18492429" y="0"/>
                  </a:lnTo>
                  <a:lnTo>
                    <a:pt x="18492429" y="596901"/>
                  </a:lnTo>
                  <a:lnTo>
                    <a:pt x="0" y="59690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53660" r="0" b="-55366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18492432" cy="587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87"/>
                </a:lnSpc>
              </a:pPr>
              <a:r>
                <a:rPr lang="en-US" sz="2740">
                  <a:solidFill>
                    <a:srgbClr val="6E7A8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Language-aware pipeline across six languages and code-mixed text.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98128" y="2873950"/>
            <a:ext cx="5057775" cy="5314950"/>
            <a:chOff x="0" y="0"/>
            <a:chExt cx="6743700" cy="7086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743700" cy="7086600"/>
            </a:xfrm>
            <a:custGeom>
              <a:avLst/>
              <a:gdLst/>
              <a:ahLst/>
              <a:cxnLst/>
              <a:rect r="r" b="b" t="t" l="l"/>
              <a:pathLst>
                <a:path h="7086600" w="6743700">
                  <a:moveTo>
                    <a:pt x="0" y="316992"/>
                  </a:moveTo>
                  <a:cubicBezTo>
                    <a:pt x="0" y="141986"/>
                    <a:pt x="141986" y="0"/>
                    <a:pt x="316992" y="0"/>
                  </a:cubicBezTo>
                  <a:lnTo>
                    <a:pt x="6426708" y="0"/>
                  </a:lnTo>
                  <a:cubicBezTo>
                    <a:pt x="6601714" y="0"/>
                    <a:pt x="6743700" y="141986"/>
                    <a:pt x="6743700" y="316992"/>
                  </a:cubicBezTo>
                  <a:lnTo>
                    <a:pt x="6743700" y="6769608"/>
                  </a:lnTo>
                  <a:cubicBezTo>
                    <a:pt x="6743700" y="6944740"/>
                    <a:pt x="6601714" y="7086600"/>
                    <a:pt x="6426708" y="7086600"/>
                  </a:cubicBezTo>
                  <a:lnTo>
                    <a:pt x="316992" y="7086600"/>
                  </a:lnTo>
                  <a:cubicBezTo>
                    <a:pt x="141986" y="7086600"/>
                    <a:pt x="0" y="6944614"/>
                    <a:pt x="0" y="676960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26216" y="3230909"/>
            <a:ext cx="2063001" cy="440253"/>
            <a:chOff x="0" y="0"/>
            <a:chExt cx="2750668" cy="58700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50661" cy="587004"/>
            </a:xfrm>
            <a:custGeom>
              <a:avLst/>
              <a:gdLst/>
              <a:ahLst/>
              <a:cxnLst/>
              <a:rect r="r" b="b" t="t" l="l"/>
              <a:pathLst>
                <a:path h="587004" w="2750661">
                  <a:moveTo>
                    <a:pt x="0" y="0"/>
                  </a:moveTo>
                  <a:lnTo>
                    <a:pt x="2750661" y="0"/>
                  </a:lnTo>
                  <a:lnTo>
                    <a:pt x="2750661" y="587004"/>
                  </a:lnTo>
                  <a:lnTo>
                    <a:pt x="0" y="5870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525" r="0" b="-2808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750668" cy="5870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3"/>
                </a:lnSpc>
              </a:pPr>
              <a:r>
                <a:rPr lang="en-US" sz="2019" spc="403">
                  <a:solidFill>
                    <a:srgbClr val="2A9D8F"/>
                  </a:solidFill>
                  <a:latin typeface="Roca Two"/>
                  <a:ea typeface="Roca Two"/>
                  <a:cs typeface="Roca Two"/>
                  <a:sym typeface="Roca Two"/>
                </a:rPr>
                <a:t>STAGE 01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26216" y="3778596"/>
            <a:ext cx="4759862" cy="523875"/>
            <a:chOff x="0" y="0"/>
            <a:chExt cx="6346482" cy="6985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46488" cy="698499"/>
            </a:xfrm>
            <a:custGeom>
              <a:avLst/>
              <a:gdLst/>
              <a:ahLst/>
              <a:cxnLst/>
              <a:rect r="r" b="b" t="t" l="l"/>
              <a:pathLst>
                <a:path h="698499" w="6346488">
                  <a:moveTo>
                    <a:pt x="0" y="0"/>
                  </a:moveTo>
                  <a:lnTo>
                    <a:pt x="6346488" y="0"/>
                  </a:lnTo>
                  <a:lnTo>
                    <a:pt x="6346488" y="698499"/>
                  </a:lnTo>
                  <a:lnTo>
                    <a:pt x="0" y="69849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038" r="0" b="-127039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6346482" cy="698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92"/>
                </a:lnSpc>
              </a:pPr>
              <a:r>
                <a:rPr lang="en-US" sz="3160">
                  <a:solidFill>
                    <a:srgbClr val="16324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Language Detection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26216" y="4469454"/>
            <a:ext cx="5415753" cy="811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2300">
                <a:solidFill>
                  <a:srgbClr val="6E7A86"/>
                </a:solidFill>
                <a:latin typeface="IBM Plex Sans"/>
                <a:ea typeface="IBM Plex Sans"/>
                <a:cs typeface="IBM Plex Sans"/>
                <a:sym typeface="IBM Plex Sans"/>
              </a:rPr>
              <a:t>Logistic Regression selected as</a:t>
            </a:r>
          </a:p>
          <a:p>
            <a:pPr algn="l">
              <a:lnSpc>
                <a:spcPts val="3168"/>
              </a:lnSpc>
            </a:pPr>
            <a:r>
              <a:rPr lang="en-US" sz="2300">
                <a:solidFill>
                  <a:srgbClr val="6E7A86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best detector.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426216" y="5668718"/>
            <a:ext cx="2918165" cy="1071524"/>
            <a:chOff x="0" y="0"/>
            <a:chExt cx="3890886" cy="142869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890883" cy="1428697"/>
            </a:xfrm>
            <a:custGeom>
              <a:avLst/>
              <a:gdLst/>
              <a:ahLst/>
              <a:cxnLst/>
              <a:rect r="r" b="b" t="t" l="l"/>
              <a:pathLst>
                <a:path h="1428697" w="3890883">
                  <a:moveTo>
                    <a:pt x="0" y="0"/>
                  </a:moveTo>
                  <a:lnTo>
                    <a:pt x="3890883" y="0"/>
                  </a:lnTo>
                  <a:lnTo>
                    <a:pt x="3890883" y="1428697"/>
                  </a:lnTo>
                  <a:lnTo>
                    <a:pt x="0" y="14286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174" r="0" b="1004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3890886" cy="14286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880"/>
                </a:lnSpc>
              </a:pPr>
              <a:r>
                <a:rPr lang="en-US" sz="4900">
                  <a:solidFill>
                    <a:srgbClr val="E8743B"/>
                  </a:solidFill>
                  <a:latin typeface="Roca Two"/>
                  <a:ea typeface="Roca Two"/>
                  <a:cs typeface="Roca Two"/>
                  <a:sym typeface="Roca Two"/>
                </a:rPr>
                <a:t>99.34%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26216" y="6456912"/>
            <a:ext cx="2152383" cy="333375"/>
            <a:chOff x="0" y="0"/>
            <a:chExt cx="2869844" cy="444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869843" cy="444501"/>
            </a:xfrm>
            <a:custGeom>
              <a:avLst/>
              <a:gdLst/>
              <a:ahLst/>
              <a:cxnLst/>
              <a:rect r="r" b="b" t="t" l="l"/>
              <a:pathLst>
                <a:path h="444501" w="2869843">
                  <a:moveTo>
                    <a:pt x="0" y="0"/>
                  </a:moveTo>
                  <a:lnTo>
                    <a:pt x="2869843" y="0"/>
                  </a:lnTo>
                  <a:lnTo>
                    <a:pt x="2869843" y="444501"/>
                  </a:lnTo>
                  <a:lnTo>
                    <a:pt x="0" y="44450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5801" r="0" b="-75801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2869844" cy="454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3"/>
                </a:lnSpc>
              </a:pPr>
              <a:r>
                <a:rPr lang="en-US" sz="2019">
                  <a:solidFill>
                    <a:srgbClr val="6E7A8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Test accuracy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426216" y="6918874"/>
            <a:ext cx="1878997" cy="755889"/>
            <a:chOff x="0" y="0"/>
            <a:chExt cx="2505329" cy="100785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505333" cy="1007852"/>
            </a:xfrm>
            <a:custGeom>
              <a:avLst/>
              <a:gdLst/>
              <a:ahLst/>
              <a:cxnLst/>
              <a:rect r="r" b="b" t="t" l="l"/>
              <a:pathLst>
                <a:path h="1007852" w="2505333">
                  <a:moveTo>
                    <a:pt x="0" y="0"/>
                  </a:moveTo>
                  <a:lnTo>
                    <a:pt x="2505333" y="0"/>
                  </a:lnTo>
                  <a:lnTo>
                    <a:pt x="2505333" y="1007852"/>
                  </a:lnTo>
                  <a:lnTo>
                    <a:pt x="0" y="10078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93" r="0" b="1502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2505329" cy="1007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52"/>
                </a:lnSpc>
              </a:pPr>
              <a:r>
                <a:rPr lang="en-US" sz="3460">
                  <a:solidFill>
                    <a:srgbClr val="16324F"/>
                  </a:solidFill>
                  <a:latin typeface="Roca Two"/>
                  <a:ea typeface="Roca Two"/>
                  <a:cs typeface="Roca Two"/>
                  <a:sym typeface="Roca Two"/>
                </a:rPr>
                <a:t>97.15%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26216" y="7495584"/>
            <a:ext cx="2135353" cy="333375"/>
            <a:chOff x="0" y="0"/>
            <a:chExt cx="2847137" cy="4445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847141" cy="444501"/>
            </a:xfrm>
            <a:custGeom>
              <a:avLst/>
              <a:gdLst/>
              <a:ahLst/>
              <a:cxnLst/>
              <a:rect r="r" b="b" t="t" l="l"/>
              <a:pathLst>
                <a:path h="444501" w="2847141">
                  <a:moveTo>
                    <a:pt x="0" y="0"/>
                  </a:moveTo>
                  <a:lnTo>
                    <a:pt x="2847141" y="0"/>
                  </a:lnTo>
                  <a:lnTo>
                    <a:pt x="2847141" y="444501"/>
                  </a:lnTo>
                  <a:lnTo>
                    <a:pt x="0" y="44450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4806" r="0" b="-7480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2847137" cy="454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3"/>
                </a:lnSpc>
              </a:pPr>
              <a:r>
                <a:rPr lang="en-US" sz="2019">
                  <a:solidFill>
                    <a:srgbClr val="6E7A8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Challenge set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615036" y="2873950"/>
            <a:ext cx="5057775" cy="5314950"/>
            <a:chOff x="0" y="0"/>
            <a:chExt cx="6743700" cy="70866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743700" cy="7086600"/>
            </a:xfrm>
            <a:custGeom>
              <a:avLst/>
              <a:gdLst/>
              <a:ahLst/>
              <a:cxnLst/>
              <a:rect r="r" b="b" t="t" l="l"/>
              <a:pathLst>
                <a:path h="7086600" w="6743700">
                  <a:moveTo>
                    <a:pt x="0" y="316992"/>
                  </a:moveTo>
                  <a:cubicBezTo>
                    <a:pt x="0" y="141986"/>
                    <a:pt x="141986" y="0"/>
                    <a:pt x="316992" y="0"/>
                  </a:cubicBezTo>
                  <a:lnTo>
                    <a:pt x="6426708" y="0"/>
                  </a:lnTo>
                  <a:cubicBezTo>
                    <a:pt x="6601714" y="0"/>
                    <a:pt x="6743700" y="141986"/>
                    <a:pt x="6743700" y="316992"/>
                  </a:cubicBezTo>
                  <a:lnTo>
                    <a:pt x="6743700" y="6769608"/>
                  </a:lnTo>
                  <a:cubicBezTo>
                    <a:pt x="6743700" y="6944740"/>
                    <a:pt x="6601714" y="7086600"/>
                    <a:pt x="6426708" y="7086600"/>
                  </a:cubicBezTo>
                  <a:lnTo>
                    <a:pt x="316992" y="7086600"/>
                  </a:lnTo>
                  <a:cubicBezTo>
                    <a:pt x="141986" y="7086600"/>
                    <a:pt x="0" y="6944614"/>
                    <a:pt x="0" y="676960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6943134" y="3230909"/>
            <a:ext cx="2124523" cy="440253"/>
            <a:chOff x="0" y="0"/>
            <a:chExt cx="2832697" cy="58700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832696" cy="587004"/>
            </a:xfrm>
            <a:custGeom>
              <a:avLst/>
              <a:gdLst/>
              <a:ahLst/>
              <a:cxnLst/>
              <a:rect r="r" b="b" t="t" l="l"/>
              <a:pathLst>
                <a:path h="587004" w="2832696">
                  <a:moveTo>
                    <a:pt x="0" y="0"/>
                  </a:moveTo>
                  <a:lnTo>
                    <a:pt x="2832696" y="0"/>
                  </a:lnTo>
                  <a:lnTo>
                    <a:pt x="2832696" y="587004"/>
                  </a:lnTo>
                  <a:lnTo>
                    <a:pt x="0" y="5870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248" r="0" b="-30808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2832697" cy="5870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3"/>
                </a:lnSpc>
              </a:pPr>
              <a:r>
                <a:rPr lang="en-US" sz="2019" spc="403">
                  <a:solidFill>
                    <a:srgbClr val="2A9D8F"/>
                  </a:solidFill>
                  <a:latin typeface="Roca Two"/>
                  <a:ea typeface="Roca Two"/>
                  <a:cs typeface="Roca Two"/>
                  <a:sym typeface="Roca Two"/>
                </a:rPr>
                <a:t>STAGE 02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943134" y="3778596"/>
            <a:ext cx="4819460" cy="523875"/>
            <a:chOff x="0" y="0"/>
            <a:chExt cx="6425946" cy="6985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425941" cy="698499"/>
            </a:xfrm>
            <a:custGeom>
              <a:avLst/>
              <a:gdLst/>
              <a:ahLst/>
              <a:cxnLst/>
              <a:rect r="r" b="b" t="t" l="l"/>
              <a:pathLst>
                <a:path h="698499" w="6425941">
                  <a:moveTo>
                    <a:pt x="0" y="0"/>
                  </a:moveTo>
                  <a:lnTo>
                    <a:pt x="6425941" y="0"/>
                  </a:lnTo>
                  <a:lnTo>
                    <a:pt x="6425941" y="698499"/>
                  </a:lnTo>
                  <a:lnTo>
                    <a:pt x="0" y="69849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9255" r="0" b="-12925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6425946" cy="698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92"/>
                </a:lnSpc>
              </a:pPr>
              <a:r>
                <a:rPr lang="en-US" sz="3160">
                  <a:solidFill>
                    <a:srgbClr val="16324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Intent Classification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6943134" y="4469454"/>
            <a:ext cx="5125145" cy="811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2300">
                <a:solidFill>
                  <a:srgbClr val="6E7A86"/>
                </a:solidFill>
                <a:latin typeface="IBM Plex Sans"/>
                <a:ea typeface="IBM Plex Sans"/>
                <a:cs typeface="IBM Plex Sans"/>
                <a:sym typeface="IBM Plex Sans"/>
              </a:rPr>
              <a:t>Char TF-IDF and SVM over</a:t>
            </a:r>
          </a:p>
          <a:p>
            <a:pPr algn="l">
              <a:lnSpc>
                <a:spcPts val="3168"/>
              </a:lnSpc>
            </a:pPr>
            <a:r>
              <a:rPr lang="en-US" sz="2300">
                <a:solidFill>
                  <a:srgbClr val="6E7A86"/>
                </a:solidFill>
                <a:latin typeface="IBM Plex Sans"/>
                <a:ea typeface="IBM Plex Sans"/>
                <a:cs typeface="IBM Plex Sans"/>
                <a:sym typeface="IBM Plex Sans"/>
              </a:rPr>
              <a:t>45,330 examples, 18 intents.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6943134" y="5668718"/>
            <a:ext cx="2809818" cy="1071524"/>
            <a:chOff x="0" y="0"/>
            <a:chExt cx="3746424" cy="142869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746421" cy="1428697"/>
            </a:xfrm>
            <a:custGeom>
              <a:avLst/>
              <a:gdLst/>
              <a:ahLst/>
              <a:cxnLst/>
              <a:rect r="r" b="b" t="t" l="l"/>
              <a:pathLst>
                <a:path h="1428697" w="3746421">
                  <a:moveTo>
                    <a:pt x="0" y="0"/>
                  </a:moveTo>
                  <a:lnTo>
                    <a:pt x="3746421" y="0"/>
                  </a:lnTo>
                  <a:lnTo>
                    <a:pt x="3746421" y="1428697"/>
                  </a:lnTo>
                  <a:lnTo>
                    <a:pt x="0" y="14286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204" r="0" b="1201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3746424" cy="14286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880"/>
                </a:lnSpc>
              </a:pPr>
              <a:r>
                <a:rPr lang="en-US" sz="4900">
                  <a:solidFill>
                    <a:srgbClr val="E8743B"/>
                  </a:solidFill>
                  <a:latin typeface="Roca Two"/>
                  <a:ea typeface="Roca Two"/>
                  <a:cs typeface="Roca Two"/>
                  <a:sym typeface="Roca Two"/>
                </a:rPr>
                <a:t>99.74%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943134" y="6456912"/>
            <a:ext cx="2152383" cy="333375"/>
            <a:chOff x="0" y="0"/>
            <a:chExt cx="2869844" cy="4445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869843" cy="444501"/>
            </a:xfrm>
            <a:custGeom>
              <a:avLst/>
              <a:gdLst/>
              <a:ahLst/>
              <a:cxnLst/>
              <a:rect r="r" b="b" t="t" l="l"/>
              <a:pathLst>
                <a:path h="444501" w="2869843">
                  <a:moveTo>
                    <a:pt x="0" y="0"/>
                  </a:moveTo>
                  <a:lnTo>
                    <a:pt x="2869843" y="0"/>
                  </a:lnTo>
                  <a:lnTo>
                    <a:pt x="2869843" y="444501"/>
                  </a:lnTo>
                  <a:lnTo>
                    <a:pt x="0" y="44450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5801" r="0" b="-75801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2869844" cy="454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3"/>
                </a:lnSpc>
              </a:pPr>
              <a:r>
                <a:rPr lang="en-US" sz="2019">
                  <a:solidFill>
                    <a:srgbClr val="6E7A8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Test accuracy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6943134" y="6918874"/>
            <a:ext cx="463525" cy="755889"/>
            <a:chOff x="0" y="0"/>
            <a:chExt cx="618033" cy="100785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18035" cy="1007852"/>
            </a:xfrm>
            <a:custGeom>
              <a:avLst/>
              <a:gdLst/>
              <a:ahLst/>
              <a:cxnLst/>
              <a:rect r="r" b="b" t="t" l="l"/>
              <a:pathLst>
                <a:path h="1007852" w="618035">
                  <a:moveTo>
                    <a:pt x="0" y="0"/>
                  </a:moveTo>
                  <a:lnTo>
                    <a:pt x="618035" y="0"/>
                  </a:lnTo>
                  <a:lnTo>
                    <a:pt x="618035" y="1007852"/>
                  </a:lnTo>
                  <a:lnTo>
                    <a:pt x="0" y="10078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2917" t="0" r="-102917" b="26913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618033" cy="1007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52"/>
                </a:lnSpc>
              </a:pPr>
              <a:r>
                <a:rPr lang="en-US" sz="3460">
                  <a:solidFill>
                    <a:srgbClr val="16324F"/>
                  </a:solidFill>
                  <a:latin typeface="Roca Two"/>
                  <a:ea typeface="Roca Two"/>
                  <a:cs typeface="Roca Two"/>
                  <a:sym typeface="Roca Two"/>
                </a:rPr>
                <a:t>6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6943134" y="7495584"/>
            <a:ext cx="2974658" cy="333375"/>
            <a:chOff x="0" y="0"/>
            <a:chExt cx="3966210" cy="4445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966211" cy="444501"/>
            </a:xfrm>
            <a:custGeom>
              <a:avLst/>
              <a:gdLst/>
              <a:ahLst/>
              <a:cxnLst/>
              <a:rect r="r" b="b" t="t" l="l"/>
              <a:pathLst>
                <a:path h="444501" w="3966211">
                  <a:moveTo>
                    <a:pt x="0" y="0"/>
                  </a:moveTo>
                  <a:lnTo>
                    <a:pt x="3966211" y="0"/>
                  </a:lnTo>
                  <a:lnTo>
                    <a:pt x="3966211" y="444501"/>
                  </a:lnTo>
                  <a:lnTo>
                    <a:pt x="0" y="44450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861" r="0" b="-123861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3966210" cy="454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3"/>
                </a:lnSpc>
              </a:pPr>
              <a:r>
                <a:rPr lang="en-US" sz="2019">
                  <a:solidFill>
                    <a:srgbClr val="6E7A8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Languages covered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2131945" y="2873950"/>
            <a:ext cx="5057775" cy="5314950"/>
            <a:chOff x="0" y="0"/>
            <a:chExt cx="6743700" cy="70866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743700" cy="7086600"/>
            </a:xfrm>
            <a:custGeom>
              <a:avLst/>
              <a:gdLst/>
              <a:ahLst/>
              <a:cxnLst/>
              <a:rect r="r" b="b" t="t" l="l"/>
              <a:pathLst>
                <a:path h="7086600" w="6743700">
                  <a:moveTo>
                    <a:pt x="0" y="316992"/>
                  </a:moveTo>
                  <a:cubicBezTo>
                    <a:pt x="0" y="141986"/>
                    <a:pt x="141986" y="0"/>
                    <a:pt x="316992" y="0"/>
                  </a:cubicBezTo>
                  <a:lnTo>
                    <a:pt x="6426708" y="0"/>
                  </a:lnTo>
                  <a:cubicBezTo>
                    <a:pt x="6601714" y="0"/>
                    <a:pt x="6743700" y="141986"/>
                    <a:pt x="6743700" y="316992"/>
                  </a:cubicBezTo>
                  <a:lnTo>
                    <a:pt x="6743700" y="6769608"/>
                  </a:lnTo>
                  <a:cubicBezTo>
                    <a:pt x="6743700" y="6944740"/>
                    <a:pt x="6601714" y="7086600"/>
                    <a:pt x="6426708" y="7086600"/>
                  </a:cubicBezTo>
                  <a:lnTo>
                    <a:pt x="316992" y="7086600"/>
                  </a:lnTo>
                  <a:cubicBezTo>
                    <a:pt x="141986" y="7086600"/>
                    <a:pt x="0" y="6944614"/>
                    <a:pt x="0" y="6769608"/>
                  </a:cubicBezTo>
                  <a:close/>
                </a:path>
              </a:pathLst>
            </a:custGeom>
            <a:solidFill>
              <a:srgbClr val="16324F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2460043" y="3230909"/>
            <a:ext cx="2124904" cy="440253"/>
            <a:chOff x="0" y="0"/>
            <a:chExt cx="2833205" cy="58700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833211" cy="587004"/>
            </a:xfrm>
            <a:custGeom>
              <a:avLst/>
              <a:gdLst/>
              <a:ahLst/>
              <a:cxnLst/>
              <a:rect r="r" b="b" t="t" l="l"/>
              <a:pathLst>
                <a:path h="587004" w="2833211">
                  <a:moveTo>
                    <a:pt x="0" y="0"/>
                  </a:moveTo>
                  <a:lnTo>
                    <a:pt x="2833211" y="0"/>
                  </a:lnTo>
                  <a:lnTo>
                    <a:pt x="2833211" y="587004"/>
                  </a:lnTo>
                  <a:lnTo>
                    <a:pt x="0" y="5870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265" r="0" b="-30825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2833205" cy="5870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3"/>
                </a:lnSpc>
              </a:pPr>
              <a:r>
                <a:rPr lang="en-US" sz="2019" spc="403">
                  <a:solidFill>
                    <a:srgbClr val="E8743B"/>
                  </a:solidFill>
                  <a:latin typeface="Roca Two"/>
                  <a:ea typeface="Roca Two"/>
                  <a:cs typeface="Roca Two"/>
                  <a:sym typeface="Roca Two"/>
                </a:rPr>
                <a:t>STAGE 03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2460043" y="3778596"/>
            <a:ext cx="3988470" cy="523875"/>
            <a:chOff x="0" y="0"/>
            <a:chExt cx="5317960" cy="6985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317965" cy="698499"/>
            </a:xfrm>
            <a:custGeom>
              <a:avLst/>
              <a:gdLst/>
              <a:ahLst/>
              <a:cxnLst/>
              <a:rect r="r" b="b" t="t" l="l"/>
              <a:pathLst>
                <a:path h="698499" w="5317965">
                  <a:moveTo>
                    <a:pt x="0" y="0"/>
                  </a:moveTo>
                  <a:lnTo>
                    <a:pt x="5317965" y="0"/>
                  </a:lnTo>
                  <a:lnTo>
                    <a:pt x="5317965" y="698499"/>
                  </a:lnTo>
                  <a:lnTo>
                    <a:pt x="0" y="69849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8347" r="0" b="-98347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5317960" cy="698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92"/>
                </a:lnSpc>
              </a:pPr>
              <a:r>
                <a:rPr lang="en-US" sz="316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Entity Extraction</a:t>
              </a: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12460043" y="4469454"/>
            <a:ext cx="5279155" cy="1214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2300">
                <a:solidFill>
                  <a:srgbClr val="C5CCD3"/>
                </a:solidFill>
                <a:latin typeface="IBM Plex Sans"/>
                <a:ea typeface="IBM Plex Sans"/>
                <a:cs typeface="IBM Plex Sans"/>
                <a:sym typeface="IBM Plex Sans"/>
              </a:rPr>
              <a:t>XLM-RoBERTa identifies skills,</a:t>
            </a:r>
          </a:p>
          <a:p>
            <a:pPr algn="l">
              <a:lnSpc>
                <a:spcPts val="3168"/>
              </a:lnSpc>
            </a:pPr>
            <a:r>
              <a:rPr lang="en-US" sz="2300">
                <a:solidFill>
                  <a:srgbClr val="C5CCD3"/>
                </a:solidFill>
                <a:latin typeface="IBM Plex Sans"/>
                <a:ea typeface="IBM Plex Sans"/>
                <a:cs typeface="IBM Plex Sans"/>
                <a:sym typeface="IBM Plex Sans"/>
              </a:rPr>
              <a:t>roles and locations in</a:t>
            </a:r>
          </a:p>
          <a:p>
            <a:pPr algn="l">
              <a:lnSpc>
                <a:spcPts val="3168"/>
              </a:lnSpc>
            </a:pPr>
            <a:r>
              <a:rPr lang="en-US" sz="2300">
                <a:solidFill>
                  <a:srgbClr val="C5CCD3"/>
                </a:solidFill>
                <a:latin typeface="IBM Plex Sans"/>
                <a:ea typeface="IBM Plex Sans"/>
                <a:cs typeface="IBM Plex Sans"/>
                <a:sym typeface="IBM Plex Sans"/>
              </a:rPr>
              <a:t>multilingual text.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2460043" y="6118622"/>
            <a:ext cx="4401064" cy="1469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287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Transformer-based,</a:t>
            </a:r>
          </a:p>
          <a:p>
            <a:pPr algn="l">
              <a:lnSpc>
                <a:spcPts val="3959"/>
              </a:lnSpc>
            </a:pPr>
            <a:r>
              <a:rPr lang="en-US" sz="287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cross-lingual entity recognition.</a:t>
            </a:r>
          </a:p>
        </p:txBody>
      </p:sp>
      <p:sp>
        <p:nvSpPr>
          <p:cNvPr name="Freeform 62" id="62" descr="preencoded.png"/>
          <p:cNvSpPr/>
          <p:nvPr/>
        </p:nvSpPr>
        <p:spPr>
          <a:xfrm flipH="false" flipV="false" rot="0">
            <a:off x="2365715" y="5883850"/>
            <a:ext cx="4400550" cy="2305050"/>
          </a:xfrm>
          <a:custGeom>
            <a:avLst/>
            <a:gdLst/>
            <a:ahLst/>
            <a:cxnLst/>
            <a:rect r="r" b="b" t="t" l="l"/>
            <a:pathLst>
              <a:path h="2305050" w="4400550">
                <a:moveTo>
                  <a:pt x="0" y="0"/>
                </a:moveTo>
                <a:lnTo>
                  <a:pt x="4400550" y="0"/>
                </a:lnTo>
                <a:lnTo>
                  <a:pt x="4400550" y="2305050"/>
                </a:lnTo>
                <a:lnTo>
                  <a:pt x="0" y="230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3" id="63" descr="preencoded.png"/>
          <p:cNvSpPr/>
          <p:nvPr/>
        </p:nvSpPr>
        <p:spPr>
          <a:xfrm flipH="false" flipV="false" rot="0">
            <a:off x="6943649" y="5557618"/>
            <a:ext cx="4400550" cy="2305050"/>
          </a:xfrm>
          <a:custGeom>
            <a:avLst/>
            <a:gdLst/>
            <a:ahLst/>
            <a:cxnLst/>
            <a:rect r="r" b="b" t="t" l="l"/>
            <a:pathLst>
              <a:path h="2305050" w="4400550">
                <a:moveTo>
                  <a:pt x="0" y="0"/>
                </a:moveTo>
                <a:lnTo>
                  <a:pt x="4400550" y="0"/>
                </a:lnTo>
                <a:lnTo>
                  <a:pt x="4400550" y="2305050"/>
                </a:lnTo>
                <a:lnTo>
                  <a:pt x="0" y="2305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4" id="64" descr="preencoded.png"/>
          <p:cNvSpPr/>
          <p:nvPr/>
        </p:nvSpPr>
        <p:spPr>
          <a:xfrm flipH="false" flipV="false" rot="0">
            <a:off x="12460557" y="5962202"/>
            <a:ext cx="4400550" cy="1200150"/>
          </a:xfrm>
          <a:custGeom>
            <a:avLst/>
            <a:gdLst/>
            <a:ahLst/>
            <a:cxnLst/>
            <a:rect r="r" b="b" t="t" l="l"/>
            <a:pathLst>
              <a:path h="1200150" w="4400550">
                <a:moveTo>
                  <a:pt x="0" y="0"/>
                </a:moveTo>
                <a:lnTo>
                  <a:pt x="4400550" y="0"/>
                </a:lnTo>
                <a:lnTo>
                  <a:pt x="4400550" y="1200150"/>
                </a:lnTo>
                <a:lnTo>
                  <a:pt x="0" y="12001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5" id="65"/>
          <p:cNvSpPr txBox="true"/>
          <p:nvPr/>
        </p:nvSpPr>
        <p:spPr>
          <a:xfrm rot="0">
            <a:off x="16954500" y="9496425"/>
            <a:ext cx="7620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6E7A86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23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12227320" y="350275"/>
            <a:ext cx="7362595" cy="891916"/>
            <a:chOff x="0" y="0"/>
            <a:chExt cx="9816793" cy="1189222"/>
          </a:xfrm>
        </p:grpSpPr>
        <p:grpSp>
          <p:nvGrpSpPr>
            <p:cNvPr name="Group 67" id="67"/>
            <p:cNvGrpSpPr/>
            <p:nvPr/>
          </p:nvGrpSpPr>
          <p:grpSpPr>
            <a:xfrm rot="0">
              <a:off x="0" y="0"/>
              <a:ext cx="9816793" cy="1189222"/>
              <a:chOff x="0" y="0"/>
              <a:chExt cx="2829729" cy="342798"/>
            </a:xfrm>
          </p:grpSpPr>
          <p:sp>
            <p:nvSpPr>
              <p:cNvPr name="Freeform 68" id="68"/>
              <p:cNvSpPr/>
              <p:nvPr/>
            </p:nvSpPr>
            <p:spPr>
              <a:xfrm flipH="false" flipV="false" rot="0">
                <a:off x="0" y="0"/>
                <a:ext cx="2829729" cy="342798"/>
              </a:xfrm>
              <a:custGeom>
                <a:avLst/>
                <a:gdLst/>
                <a:ahLst/>
                <a:cxnLst/>
                <a:rect r="r" b="b" t="t" l="l"/>
                <a:pathLst>
                  <a:path h="342798" w="2829729">
                    <a:moveTo>
                      <a:pt x="105152" y="0"/>
                    </a:moveTo>
                    <a:lnTo>
                      <a:pt x="2724577" y="0"/>
                    </a:lnTo>
                    <a:cubicBezTo>
                      <a:pt x="2782651" y="0"/>
                      <a:pt x="2829729" y="47078"/>
                      <a:pt x="2829729" y="105152"/>
                    </a:cubicBezTo>
                    <a:lnTo>
                      <a:pt x="2829729" y="237646"/>
                    </a:lnTo>
                    <a:cubicBezTo>
                      <a:pt x="2829729" y="295720"/>
                      <a:pt x="2782651" y="342798"/>
                      <a:pt x="2724577" y="342798"/>
                    </a:cubicBezTo>
                    <a:lnTo>
                      <a:pt x="105152" y="342798"/>
                    </a:lnTo>
                    <a:cubicBezTo>
                      <a:pt x="47078" y="342798"/>
                      <a:pt x="0" y="295720"/>
                      <a:pt x="0" y="237646"/>
                    </a:cubicBezTo>
                    <a:lnTo>
                      <a:pt x="0" y="105152"/>
                    </a:lnTo>
                    <a:cubicBezTo>
                      <a:pt x="0" y="47078"/>
                      <a:pt x="47078" y="0"/>
                      <a:pt x="1051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57150" cap="rnd">
                <a:solidFill>
                  <a:srgbClr val="034088"/>
                </a:solidFill>
                <a:prstDash val="solid"/>
                <a:round/>
              </a:ln>
            </p:spPr>
          </p:sp>
          <p:sp>
            <p:nvSpPr>
              <p:cNvPr name="TextBox 69" id="69"/>
              <p:cNvSpPr txBox="true"/>
              <p:nvPr/>
            </p:nvSpPr>
            <p:spPr>
              <a:xfrm>
                <a:off x="0" y="-66675"/>
                <a:ext cx="2829729" cy="4094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180"/>
                  </a:lnSpc>
                </a:pPr>
              </a:p>
            </p:txBody>
          </p:sp>
        </p:grpSp>
        <p:sp>
          <p:nvSpPr>
            <p:cNvPr name="TextBox 70" id="70"/>
            <p:cNvSpPr txBox="true"/>
            <p:nvPr/>
          </p:nvSpPr>
          <p:spPr>
            <a:xfrm rot="0">
              <a:off x="259915" y="190484"/>
              <a:ext cx="8673508" cy="741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50"/>
                </a:lnSpc>
                <a:spcBef>
                  <a:spcPct val="0"/>
                </a:spcBef>
              </a:pPr>
              <a:r>
                <a:rPr lang="en-US" b="true" sz="3321">
                  <a:solidFill>
                    <a:srgbClr val="16324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Two-Approach Methodology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6863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ED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809750" y="685800"/>
            <a:ext cx="10477500" cy="862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47"/>
              </a:lnSpc>
              <a:spcBef>
                <a:spcPct val="0"/>
              </a:spcBef>
            </a:pPr>
            <a:r>
              <a:rPr lang="en-US" b="true" sz="5033" strike="noStrike" u="none">
                <a:solidFill>
                  <a:srgbClr val="031862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Training Strategy: Logic &amp; Data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95375" y="1857375"/>
            <a:ext cx="14287500" cy="28575"/>
            <a:chOff x="0" y="0"/>
            <a:chExt cx="19050000" cy="38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050000" cy="38100"/>
            </a:xfrm>
            <a:custGeom>
              <a:avLst/>
              <a:gdLst/>
              <a:ahLst/>
              <a:cxnLst/>
              <a:rect r="r" b="b" t="t" l="l"/>
              <a:pathLst>
                <a:path h="38100" w="19050000">
                  <a:moveTo>
                    <a:pt x="0" y="0"/>
                  </a:moveTo>
                  <a:lnTo>
                    <a:pt x="19050000" y="0"/>
                  </a:lnTo>
                  <a:lnTo>
                    <a:pt x="19050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6324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9050000" cy="57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95375" y="2381250"/>
            <a:ext cx="7414921" cy="5045763"/>
            <a:chOff x="0" y="0"/>
            <a:chExt cx="10414000" cy="7086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14000" cy="7086600"/>
            </a:xfrm>
            <a:custGeom>
              <a:avLst/>
              <a:gdLst/>
              <a:ahLst/>
              <a:cxnLst/>
              <a:rect r="r" b="b" t="t" l="l"/>
              <a:pathLst>
                <a:path h="7086600" w="10414000">
                  <a:moveTo>
                    <a:pt x="708660" y="0"/>
                  </a:moveTo>
                  <a:lnTo>
                    <a:pt x="9705340" y="0"/>
                  </a:lnTo>
                  <a:cubicBezTo>
                    <a:pt x="10096722" y="0"/>
                    <a:pt x="10414000" y="317278"/>
                    <a:pt x="10414000" y="708660"/>
                  </a:cubicBezTo>
                  <a:lnTo>
                    <a:pt x="10414000" y="6377940"/>
                  </a:lnTo>
                  <a:cubicBezTo>
                    <a:pt x="10414000" y="6769322"/>
                    <a:pt x="10096722" y="7086600"/>
                    <a:pt x="9705340" y="7086600"/>
                  </a:cubicBezTo>
                  <a:lnTo>
                    <a:pt x="708660" y="7086600"/>
                  </a:lnTo>
                  <a:cubicBezTo>
                    <a:pt x="317278" y="7086600"/>
                    <a:pt x="0" y="6769322"/>
                    <a:pt x="0" y="6377940"/>
                  </a:cubicBezTo>
                  <a:lnTo>
                    <a:pt x="0" y="708660"/>
                  </a:lnTo>
                  <a:cubicBezTo>
                    <a:pt x="0" y="317278"/>
                    <a:pt x="317278" y="0"/>
                    <a:pt x="70866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0414000" cy="710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461673" y="2381250"/>
            <a:ext cx="7797627" cy="5045763"/>
            <a:chOff x="0" y="0"/>
            <a:chExt cx="10951497" cy="7086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51497" cy="7086600"/>
            </a:xfrm>
            <a:custGeom>
              <a:avLst/>
              <a:gdLst/>
              <a:ahLst/>
              <a:cxnLst/>
              <a:rect r="r" b="b" t="t" l="l"/>
              <a:pathLst>
                <a:path h="7086600" w="10951497">
                  <a:moveTo>
                    <a:pt x="745236" y="0"/>
                  </a:moveTo>
                  <a:lnTo>
                    <a:pt x="10206261" y="0"/>
                  </a:lnTo>
                  <a:cubicBezTo>
                    <a:pt x="10617843" y="0"/>
                    <a:pt x="10951497" y="317278"/>
                    <a:pt x="10951497" y="708660"/>
                  </a:cubicBezTo>
                  <a:lnTo>
                    <a:pt x="10951497" y="6377940"/>
                  </a:lnTo>
                  <a:cubicBezTo>
                    <a:pt x="10951497" y="6769322"/>
                    <a:pt x="10617843" y="7086600"/>
                    <a:pt x="10206261" y="7086600"/>
                  </a:cubicBezTo>
                  <a:lnTo>
                    <a:pt x="745236" y="7086600"/>
                  </a:lnTo>
                  <a:cubicBezTo>
                    <a:pt x="333654" y="7086600"/>
                    <a:pt x="0" y="6769322"/>
                    <a:pt x="0" y="6377940"/>
                  </a:cubicBezTo>
                  <a:lnTo>
                    <a:pt x="0" y="708660"/>
                  </a:lnTo>
                  <a:cubicBezTo>
                    <a:pt x="0" y="317278"/>
                    <a:pt x="333654" y="0"/>
                    <a:pt x="745236" y="0"/>
                  </a:cubicBezTo>
                  <a:close/>
                </a:path>
              </a:pathLst>
            </a:custGeom>
            <a:solidFill>
              <a:srgbClr val="16324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0951497" cy="710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906000" y="2529522"/>
            <a:ext cx="6667500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39"/>
              </a:lnSpc>
              <a:spcBef>
                <a:spcPct val="0"/>
              </a:spcBef>
            </a:pPr>
            <a:r>
              <a:rPr lang="en-US" sz="3599" strike="noStrike" u="non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Hybrid Logic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95375" y="7855638"/>
            <a:ext cx="14287500" cy="1216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9"/>
              </a:lnSpc>
              <a:spcBef>
                <a:spcPct val="0"/>
              </a:spcBef>
            </a:pPr>
            <a:r>
              <a:rPr lang="en-US" sz="3499" strike="noStrike" u="none">
                <a:solidFill>
                  <a:srgbClr val="6E7A86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LLM is not "retrained" but "grounded" in reliable knowledge to prevent hallucinations.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28750" y="2529522"/>
            <a:ext cx="6667500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39"/>
              </a:lnSpc>
              <a:spcBef>
                <a:spcPct val="0"/>
              </a:spcBef>
            </a:pPr>
            <a:r>
              <a:rPr lang="en-US" sz="3599" strike="noStrike" u="none">
                <a:solidFill>
                  <a:srgbClr val="16324F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 Foundation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06000" y="3401922"/>
            <a:ext cx="7205662" cy="2947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93"/>
              </a:lnSpc>
              <a:spcBef>
                <a:spcPct val="0"/>
              </a:spcBef>
            </a:pPr>
            <a:r>
              <a:rPr lang="en-US" sz="3352" strike="noStrike" u="none">
                <a:solidFill>
                  <a:srgbClr val="D0D6DC"/>
                </a:solidFill>
                <a:latin typeface="IBM Plex Sans"/>
                <a:ea typeface="IBM Plex Sans"/>
                <a:cs typeface="IBM Plex Sans"/>
                <a:sym typeface="IBM Plex Sans"/>
              </a:rPr>
              <a:t>NLU: Trained on SVM for speed.</a:t>
            </a:r>
          </a:p>
          <a:p>
            <a:pPr algn="l" marL="0" indent="0" lvl="0">
              <a:lnSpc>
                <a:spcPts val="4693"/>
              </a:lnSpc>
              <a:spcBef>
                <a:spcPct val="0"/>
              </a:spcBef>
            </a:pPr>
            <a:r>
              <a:rPr lang="en-US" sz="3352" strike="noStrike" u="none">
                <a:solidFill>
                  <a:srgbClr val="D0D6DC"/>
                </a:solidFill>
                <a:latin typeface="IBM Plex Sans"/>
                <a:ea typeface="IBM Plex Sans"/>
                <a:cs typeface="IBM Plex Sans"/>
                <a:sym typeface="IBM Plex Sans"/>
              </a:rPr>
              <a:t>Entities: XLM-RoBERTa for precision.</a:t>
            </a:r>
          </a:p>
          <a:p>
            <a:pPr algn="l" marL="0" indent="0" lvl="0">
              <a:lnSpc>
                <a:spcPts val="4693"/>
              </a:lnSpc>
              <a:spcBef>
                <a:spcPct val="0"/>
              </a:spcBef>
            </a:pPr>
            <a:r>
              <a:rPr lang="en-US" sz="3352" strike="noStrike" u="none">
                <a:solidFill>
                  <a:srgbClr val="D0D6DC"/>
                </a:solidFill>
                <a:latin typeface="IBM Plex Sans"/>
                <a:ea typeface="IBM Plex Sans"/>
                <a:cs typeface="IBM Plex Sans"/>
                <a:sym typeface="IBM Plex Sans"/>
              </a:rPr>
              <a:t>LLM: Prompt Engineering to ground LLMs</a:t>
            </a:r>
          </a:p>
          <a:p>
            <a:pPr algn="l" marL="0" indent="0" lvl="0">
              <a:lnSpc>
                <a:spcPts val="4693"/>
              </a:lnSpc>
              <a:spcBef>
                <a:spcPct val="0"/>
              </a:spcBef>
            </a:pPr>
            <a:r>
              <a:rPr lang="en-US" sz="3352" strike="noStrike" u="none">
                <a:solidFill>
                  <a:srgbClr val="D0D6DC"/>
                </a:solidFill>
                <a:latin typeface="IBM Plex Sans"/>
                <a:ea typeface="IBM Plex Sans"/>
                <a:cs typeface="IBM Plex Sans"/>
                <a:sym typeface="IBM Plex Sans"/>
              </a:rPr>
              <a:t>in official ANEM procedures (RAG).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28750" y="3329305"/>
            <a:ext cx="7081546" cy="2988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44"/>
              </a:lnSpc>
              <a:spcBef>
                <a:spcPct val="0"/>
              </a:spcBef>
            </a:pPr>
            <a:r>
              <a:rPr lang="en-US" sz="3389" strike="noStrike" u="none">
                <a:solidFill>
                  <a:srgbClr val="6E7A86"/>
                </a:solidFill>
                <a:latin typeface="IBM Plex Sans"/>
                <a:ea typeface="IBM Plex Sans"/>
                <a:cs typeface="IBM Plex Sans"/>
                <a:sym typeface="IBM Plex Sans"/>
              </a:rPr>
              <a:t>We curated a massive dataset of 45,330 examples</a:t>
            </a:r>
          </a:p>
          <a:p>
            <a:pPr algn="l" marL="0" indent="0" lvl="0">
              <a:lnSpc>
                <a:spcPts val="4744"/>
              </a:lnSpc>
              <a:spcBef>
                <a:spcPct val="0"/>
              </a:spcBef>
            </a:pPr>
            <a:r>
              <a:rPr lang="en-US" sz="3389" strike="noStrike" u="none">
                <a:solidFill>
                  <a:srgbClr val="6E7A86"/>
                </a:solidFill>
                <a:latin typeface="IBM Plex Sans"/>
                <a:ea typeface="IBM Plex Sans"/>
                <a:cs typeface="IBM Plex Sans"/>
                <a:sym typeface="IBM Plex Sans"/>
              </a:rPr>
              <a:t>covering 18 intents across 6 languages. This includes</a:t>
            </a:r>
          </a:p>
          <a:p>
            <a:pPr algn="l" marL="0" indent="0" lvl="0">
              <a:lnSpc>
                <a:spcPts val="4744"/>
              </a:lnSpc>
              <a:spcBef>
                <a:spcPct val="0"/>
              </a:spcBef>
            </a:pPr>
            <a:r>
              <a:rPr lang="en-US" sz="3389" strike="noStrike" u="none">
                <a:solidFill>
                  <a:srgbClr val="6E7A86"/>
                </a:solidFill>
                <a:latin typeface="IBM Plex Sans"/>
                <a:ea typeface="IBM Plex Sans"/>
                <a:cs typeface="IBM Plex Sans"/>
                <a:sym typeface="IBM Plex Sans"/>
              </a:rPr>
              <a:t>specific Algerian code-mixed inputs.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954500" y="9496425"/>
            <a:ext cx="7620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6E7A86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24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227320" y="350275"/>
            <a:ext cx="7362595" cy="891916"/>
            <a:chOff x="0" y="0"/>
            <a:chExt cx="9816793" cy="1189222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9816793" cy="1189222"/>
              <a:chOff x="0" y="0"/>
              <a:chExt cx="2829729" cy="342798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829729" cy="342798"/>
              </a:xfrm>
              <a:custGeom>
                <a:avLst/>
                <a:gdLst/>
                <a:ahLst/>
                <a:cxnLst/>
                <a:rect r="r" b="b" t="t" l="l"/>
                <a:pathLst>
                  <a:path h="342798" w="2829729">
                    <a:moveTo>
                      <a:pt x="105152" y="0"/>
                    </a:moveTo>
                    <a:lnTo>
                      <a:pt x="2724577" y="0"/>
                    </a:lnTo>
                    <a:cubicBezTo>
                      <a:pt x="2782651" y="0"/>
                      <a:pt x="2829729" y="47078"/>
                      <a:pt x="2829729" y="105152"/>
                    </a:cubicBezTo>
                    <a:lnTo>
                      <a:pt x="2829729" y="237646"/>
                    </a:lnTo>
                    <a:cubicBezTo>
                      <a:pt x="2829729" y="295720"/>
                      <a:pt x="2782651" y="342798"/>
                      <a:pt x="2724577" y="342798"/>
                    </a:cubicBezTo>
                    <a:lnTo>
                      <a:pt x="105152" y="342798"/>
                    </a:lnTo>
                    <a:cubicBezTo>
                      <a:pt x="47078" y="342798"/>
                      <a:pt x="0" y="295720"/>
                      <a:pt x="0" y="237646"/>
                    </a:cubicBezTo>
                    <a:lnTo>
                      <a:pt x="0" y="105152"/>
                    </a:lnTo>
                    <a:cubicBezTo>
                      <a:pt x="0" y="47078"/>
                      <a:pt x="47078" y="0"/>
                      <a:pt x="1051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57150" cap="rnd">
                <a:solidFill>
                  <a:srgbClr val="034088"/>
                </a:solidFill>
                <a:prstDash val="solid"/>
                <a:round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66675"/>
                <a:ext cx="2829729" cy="4094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180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259915" y="190484"/>
              <a:ext cx="8673508" cy="741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50"/>
                </a:lnSpc>
                <a:spcBef>
                  <a:spcPct val="0"/>
                </a:spcBef>
              </a:pPr>
              <a:r>
                <a:rPr lang="en-US" b="true" sz="3321">
                  <a:solidFill>
                    <a:srgbClr val="16324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Two-Approach Methodology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6324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96053" y="796233"/>
            <a:ext cx="8872214" cy="1262543"/>
            <a:chOff x="0" y="0"/>
            <a:chExt cx="11829618" cy="16833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829614" cy="1683390"/>
            </a:xfrm>
            <a:custGeom>
              <a:avLst/>
              <a:gdLst/>
              <a:ahLst/>
              <a:cxnLst/>
              <a:rect r="r" b="b" t="t" l="l"/>
              <a:pathLst>
                <a:path h="1683390" w="11829614">
                  <a:moveTo>
                    <a:pt x="0" y="0"/>
                  </a:moveTo>
                  <a:lnTo>
                    <a:pt x="11829614" y="0"/>
                  </a:lnTo>
                  <a:lnTo>
                    <a:pt x="11829614" y="1683390"/>
                  </a:lnTo>
                  <a:lnTo>
                    <a:pt x="0" y="16833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959" r="0" b="-7389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1829618" cy="1692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911"/>
                </a:lnSpc>
              </a:pPr>
              <a:r>
                <a:rPr lang="en-US" b="true" sz="5759" spc="-143">
                  <a:solidFill>
                    <a:srgbClr val="FFFFFF"/>
                  </a:solidFill>
                  <a:latin typeface="Roca Two Bold"/>
                  <a:ea typeface="Roca Two Bold"/>
                  <a:cs typeface="Roca Two Bold"/>
                  <a:sym typeface="Roca Two Bold"/>
                </a:rPr>
                <a:t>Evaluation &amp; Results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97156" y="2291505"/>
            <a:ext cx="4554588" cy="1759671"/>
            <a:chOff x="0" y="0"/>
            <a:chExt cx="6072784" cy="23462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072784" cy="2346230"/>
            </a:xfrm>
            <a:custGeom>
              <a:avLst/>
              <a:gdLst/>
              <a:ahLst/>
              <a:cxnLst/>
              <a:rect r="r" b="b" t="t" l="l"/>
              <a:pathLst>
                <a:path h="2346230" w="6072784">
                  <a:moveTo>
                    <a:pt x="0" y="0"/>
                  </a:moveTo>
                  <a:lnTo>
                    <a:pt x="6072784" y="0"/>
                  </a:lnTo>
                  <a:lnTo>
                    <a:pt x="6072784" y="2346230"/>
                  </a:lnTo>
                  <a:lnTo>
                    <a:pt x="0" y="23462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54" r="0" b="12487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6072784" cy="23367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71"/>
                </a:lnSpc>
              </a:pPr>
              <a:r>
                <a:rPr lang="en-US" sz="8059">
                  <a:solidFill>
                    <a:srgbClr val="E8743B"/>
                  </a:solidFill>
                  <a:latin typeface="Roca Two"/>
                  <a:ea typeface="Roca Two"/>
                  <a:cs typeface="Roca Two"/>
                  <a:sym typeface="Roca Two"/>
                </a:rPr>
                <a:t>99.74%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97156" y="3641227"/>
            <a:ext cx="2950283" cy="400050"/>
            <a:chOff x="0" y="0"/>
            <a:chExt cx="3933711" cy="533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933707" cy="533400"/>
            </a:xfrm>
            <a:custGeom>
              <a:avLst/>
              <a:gdLst/>
              <a:ahLst/>
              <a:cxnLst/>
              <a:rect r="r" b="b" t="t" l="l"/>
              <a:pathLst>
                <a:path h="533400" w="3933707">
                  <a:moveTo>
                    <a:pt x="0" y="0"/>
                  </a:moveTo>
                  <a:lnTo>
                    <a:pt x="3933707" y="0"/>
                  </a:lnTo>
                  <a:lnTo>
                    <a:pt x="3933707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697" r="0" b="-9369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3933711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27"/>
                </a:lnSpc>
              </a:pPr>
              <a:r>
                <a:rPr lang="en-US" sz="2440">
                  <a:solidFill>
                    <a:srgbClr val="DCE0E5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Intent accuracy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97156" y="4097979"/>
            <a:ext cx="3339941" cy="333375"/>
            <a:chOff x="0" y="0"/>
            <a:chExt cx="4453255" cy="4445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453256" cy="444501"/>
            </a:xfrm>
            <a:custGeom>
              <a:avLst/>
              <a:gdLst/>
              <a:ahLst/>
              <a:cxnLst/>
              <a:rect r="r" b="b" t="t" l="l"/>
              <a:pathLst>
                <a:path h="444501" w="4453256">
                  <a:moveTo>
                    <a:pt x="0" y="0"/>
                  </a:moveTo>
                  <a:lnTo>
                    <a:pt x="4453256" y="0"/>
                  </a:lnTo>
                  <a:lnTo>
                    <a:pt x="4453256" y="444501"/>
                  </a:lnTo>
                  <a:lnTo>
                    <a:pt x="0" y="4445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5211" r="0" b="-14521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4453255" cy="454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3"/>
                </a:lnSpc>
              </a:pPr>
              <a:r>
                <a:rPr lang="en-US" sz="2019">
                  <a:solidFill>
                    <a:srgbClr val="96A3B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Multilingual approach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234883" y="2291505"/>
            <a:ext cx="4232062" cy="1759671"/>
            <a:chOff x="0" y="0"/>
            <a:chExt cx="5642750" cy="234622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642749" cy="2346230"/>
            </a:xfrm>
            <a:custGeom>
              <a:avLst/>
              <a:gdLst/>
              <a:ahLst/>
              <a:cxnLst/>
              <a:rect r="r" b="b" t="t" l="l"/>
              <a:pathLst>
                <a:path h="2346230" w="5642749">
                  <a:moveTo>
                    <a:pt x="0" y="0"/>
                  </a:moveTo>
                  <a:lnTo>
                    <a:pt x="5642749" y="0"/>
                  </a:lnTo>
                  <a:lnTo>
                    <a:pt x="5642749" y="2346230"/>
                  </a:lnTo>
                  <a:lnTo>
                    <a:pt x="0" y="23462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83" r="0" b="16059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9525"/>
              <a:ext cx="5642750" cy="23367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71"/>
                </a:lnSpc>
              </a:pPr>
              <a:r>
                <a:rPr lang="en-US" sz="8059">
                  <a:solidFill>
                    <a:srgbClr val="E8743B"/>
                  </a:solidFill>
                  <a:latin typeface="Roca Two"/>
                  <a:ea typeface="Roca Two"/>
                  <a:cs typeface="Roca Two"/>
                  <a:sym typeface="Roca Two"/>
                </a:rPr>
                <a:t>97.15%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234883" y="3641227"/>
            <a:ext cx="3666144" cy="400050"/>
            <a:chOff x="0" y="0"/>
            <a:chExt cx="4888192" cy="533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888189" cy="533400"/>
            </a:xfrm>
            <a:custGeom>
              <a:avLst/>
              <a:gdLst/>
              <a:ahLst/>
              <a:cxnLst/>
              <a:rect r="r" b="b" t="t" l="l"/>
              <a:pathLst>
                <a:path h="533400" w="4888189">
                  <a:moveTo>
                    <a:pt x="0" y="0"/>
                  </a:moveTo>
                  <a:lnTo>
                    <a:pt x="4888189" y="0"/>
                  </a:lnTo>
                  <a:lnTo>
                    <a:pt x="4888189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565" r="0" b="-12856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4888192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27"/>
                </a:lnSpc>
              </a:pPr>
              <a:r>
                <a:rPr lang="en-US" sz="2440">
                  <a:solidFill>
                    <a:srgbClr val="DCE0E5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Language detection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234883" y="4097979"/>
            <a:ext cx="2135353" cy="333375"/>
            <a:chOff x="0" y="0"/>
            <a:chExt cx="2847137" cy="4445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847141" cy="444501"/>
            </a:xfrm>
            <a:custGeom>
              <a:avLst/>
              <a:gdLst/>
              <a:ahLst/>
              <a:cxnLst/>
              <a:rect r="r" b="b" t="t" l="l"/>
              <a:pathLst>
                <a:path h="444501" w="2847141">
                  <a:moveTo>
                    <a:pt x="0" y="0"/>
                  </a:moveTo>
                  <a:lnTo>
                    <a:pt x="2847141" y="0"/>
                  </a:lnTo>
                  <a:lnTo>
                    <a:pt x="2847141" y="444501"/>
                  </a:lnTo>
                  <a:lnTo>
                    <a:pt x="0" y="4445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806" r="0" b="-7480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2847137" cy="454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3"/>
                </a:lnSpc>
              </a:pPr>
              <a:r>
                <a:rPr lang="en-US" sz="2019">
                  <a:solidFill>
                    <a:srgbClr val="96A3B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Challenge set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72600" y="2291505"/>
            <a:ext cx="3405340" cy="1759671"/>
            <a:chOff x="0" y="0"/>
            <a:chExt cx="4540453" cy="234622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540448" cy="2346230"/>
            </a:xfrm>
            <a:custGeom>
              <a:avLst/>
              <a:gdLst/>
              <a:ahLst/>
              <a:cxnLst/>
              <a:rect r="r" b="b" t="t" l="l"/>
              <a:pathLst>
                <a:path h="2346230" w="4540448">
                  <a:moveTo>
                    <a:pt x="0" y="0"/>
                  </a:moveTo>
                  <a:lnTo>
                    <a:pt x="4540448" y="0"/>
                  </a:lnTo>
                  <a:lnTo>
                    <a:pt x="4540448" y="2346230"/>
                  </a:lnTo>
                  <a:lnTo>
                    <a:pt x="0" y="23462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9" r="0" b="2521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9525"/>
              <a:ext cx="4540453" cy="23367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71"/>
                </a:lnSpc>
              </a:pPr>
              <a:r>
                <a:rPr lang="en-US" sz="8059">
                  <a:solidFill>
                    <a:srgbClr val="E8743B"/>
                  </a:solidFill>
                  <a:latin typeface="Roca Two"/>
                  <a:ea typeface="Roca Two"/>
                  <a:cs typeface="Roca Two"/>
                  <a:sym typeface="Roca Two"/>
                </a:rPr>
                <a:t>100%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372600" y="3641227"/>
            <a:ext cx="3395472" cy="400050"/>
            <a:chOff x="0" y="0"/>
            <a:chExt cx="4527296" cy="533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527293" cy="533400"/>
            </a:xfrm>
            <a:custGeom>
              <a:avLst/>
              <a:gdLst/>
              <a:ahLst/>
              <a:cxnLst/>
              <a:rect r="r" b="b" t="t" l="l"/>
              <a:pathLst>
                <a:path h="533400" w="4527293">
                  <a:moveTo>
                    <a:pt x="0" y="0"/>
                  </a:moveTo>
                  <a:lnTo>
                    <a:pt x="4527293" y="0"/>
                  </a:lnTo>
                  <a:lnTo>
                    <a:pt x="4527293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381" r="0" b="-11538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4527296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27"/>
                </a:lnSpc>
              </a:pPr>
              <a:r>
                <a:rPr lang="en-US" sz="2440">
                  <a:solidFill>
                    <a:srgbClr val="DCE0E5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Answers retrieved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372600" y="4097979"/>
            <a:ext cx="2567969" cy="333375"/>
            <a:chOff x="0" y="0"/>
            <a:chExt cx="3423958" cy="4445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423960" cy="444501"/>
            </a:xfrm>
            <a:custGeom>
              <a:avLst/>
              <a:gdLst/>
              <a:ahLst/>
              <a:cxnLst/>
              <a:rect r="r" b="b" t="t" l="l"/>
              <a:pathLst>
                <a:path h="444501" w="3423960">
                  <a:moveTo>
                    <a:pt x="0" y="0"/>
                  </a:moveTo>
                  <a:lnTo>
                    <a:pt x="3423960" y="0"/>
                  </a:lnTo>
                  <a:lnTo>
                    <a:pt x="3423960" y="444501"/>
                  </a:lnTo>
                  <a:lnTo>
                    <a:pt x="0" y="4445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091" r="0" b="-10009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3423958" cy="454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3"/>
                </a:lnSpc>
              </a:pPr>
              <a:r>
                <a:rPr lang="en-US" sz="2019">
                  <a:solidFill>
                    <a:srgbClr val="96A3B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Knowledge base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510317" y="2291505"/>
            <a:ext cx="929221" cy="1759671"/>
            <a:chOff x="0" y="0"/>
            <a:chExt cx="1238961" cy="234622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38965" cy="2346230"/>
            </a:xfrm>
            <a:custGeom>
              <a:avLst/>
              <a:gdLst/>
              <a:ahLst/>
              <a:cxnLst/>
              <a:rect r="r" b="b" t="t" l="l"/>
              <a:pathLst>
                <a:path h="2346230" w="1238965">
                  <a:moveTo>
                    <a:pt x="0" y="0"/>
                  </a:moveTo>
                  <a:lnTo>
                    <a:pt x="1238965" y="0"/>
                  </a:lnTo>
                  <a:lnTo>
                    <a:pt x="1238965" y="2346230"/>
                  </a:lnTo>
                  <a:lnTo>
                    <a:pt x="0" y="23462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0179" t="0" r="-130178" b="2584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9525"/>
              <a:ext cx="1238961" cy="23367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71"/>
                </a:lnSpc>
              </a:pPr>
              <a:r>
                <a:rPr lang="en-US" sz="8059">
                  <a:solidFill>
                    <a:srgbClr val="E8743B"/>
                  </a:solidFill>
                  <a:latin typeface="Roca Two"/>
                  <a:ea typeface="Roca Two"/>
                  <a:cs typeface="Roca Two"/>
                  <a:sym typeface="Roca Two"/>
                </a:rPr>
                <a:t>6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3510317" y="3641227"/>
            <a:ext cx="2047904" cy="400050"/>
            <a:chOff x="0" y="0"/>
            <a:chExt cx="2730538" cy="533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730539" cy="533400"/>
            </a:xfrm>
            <a:custGeom>
              <a:avLst/>
              <a:gdLst/>
              <a:ahLst/>
              <a:cxnLst/>
              <a:rect r="r" b="b" t="t" l="l"/>
              <a:pathLst>
                <a:path h="533400" w="2730539">
                  <a:moveTo>
                    <a:pt x="0" y="0"/>
                  </a:moveTo>
                  <a:lnTo>
                    <a:pt x="2730539" y="0"/>
                  </a:lnTo>
                  <a:lnTo>
                    <a:pt x="2730539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746" r="0" b="-49746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2730538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27"/>
                </a:lnSpc>
              </a:pPr>
              <a:r>
                <a:rPr lang="en-US" sz="2440">
                  <a:solidFill>
                    <a:srgbClr val="DCE0E5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Languages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10317" y="4097979"/>
            <a:ext cx="3883800" cy="333375"/>
            <a:chOff x="0" y="0"/>
            <a:chExt cx="5178400" cy="4445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78405" cy="444501"/>
            </a:xfrm>
            <a:custGeom>
              <a:avLst/>
              <a:gdLst/>
              <a:ahLst/>
              <a:cxnLst/>
              <a:rect r="r" b="b" t="t" l="l"/>
              <a:pathLst>
                <a:path h="444501" w="5178405">
                  <a:moveTo>
                    <a:pt x="0" y="0"/>
                  </a:moveTo>
                  <a:lnTo>
                    <a:pt x="5178405" y="0"/>
                  </a:lnTo>
                  <a:lnTo>
                    <a:pt x="5178405" y="444501"/>
                  </a:lnTo>
                  <a:lnTo>
                    <a:pt x="0" y="4445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999" r="0" b="-176998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5178400" cy="454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3"/>
                </a:lnSpc>
              </a:pPr>
              <a:r>
                <a:rPr lang="en-US" sz="2019">
                  <a:solidFill>
                    <a:srgbClr val="96A3B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Including Darija &amp; Arabizi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097156" y="5318227"/>
            <a:ext cx="6135100" cy="91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sz="26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18 intents</a:t>
            </a:r>
            <a:r>
              <a:rPr lang="en-US" sz="2600">
                <a:solidFill>
                  <a:srgbClr val="D0D6DC"/>
                </a:solidFill>
                <a:latin typeface="IBM Plex Sans"/>
                <a:ea typeface="IBM Plex Sans"/>
                <a:cs typeface="IBM Plex Sans"/>
                <a:sym typeface="IBM Plex Sans"/>
              </a:rPr>
              <a:t> learned from 45,330</a:t>
            </a:r>
          </a:p>
          <a:p>
            <a:pPr algn="l">
              <a:lnSpc>
                <a:spcPts val="3564"/>
              </a:lnSpc>
            </a:pPr>
            <a:r>
              <a:rPr lang="en-US" sz="2600">
                <a:solidFill>
                  <a:srgbClr val="D0D6DC"/>
                </a:solidFill>
                <a:latin typeface="IBM Plex Sans"/>
                <a:ea typeface="IBM Plex Sans"/>
                <a:cs typeface="IBM Plex Sans"/>
                <a:sym typeface="IBM Plex Sans"/>
              </a:rPr>
              <a:t>labelled examples.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644583" y="5318227"/>
            <a:ext cx="5537254" cy="91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sz="26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Cosine matching</a:t>
            </a:r>
            <a:r>
              <a:rPr lang="en-US" sz="2600">
                <a:solidFill>
                  <a:srgbClr val="D0D6DC"/>
                </a:solidFill>
                <a:latin typeface="IBM Plex Sans"/>
                <a:ea typeface="IBM Plex Sans"/>
                <a:cs typeface="IBM Plex Sans"/>
                <a:sym typeface="IBM Plex Sans"/>
              </a:rPr>
              <a:t> surfaces</a:t>
            </a:r>
          </a:p>
          <a:p>
            <a:pPr algn="l">
              <a:lnSpc>
                <a:spcPts val="3564"/>
              </a:lnSpc>
            </a:pPr>
            <a:r>
              <a:rPr lang="en-US" sz="2600">
                <a:solidFill>
                  <a:srgbClr val="D0D6DC"/>
                </a:solidFill>
                <a:latin typeface="IBM Plex Sans"/>
                <a:ea typeface="IBM Plex Sans"/>
                <a:cs typeface="IBM Plex Sans"/>
                <a:sym typeface="IBM Plex Sans"/>
              </a:rPr>
              <a:t>semantically relevant offers.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192000" y="5318227"/>
            <a:ext cx="6392037" cy="91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sz="26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Bias analysis</a:t>
            </a:r>
            <a:r>
              <a:rPr lang="en-US" sz="2600">
                <a:solidFill>
                  <a:srgbClr val="D0D6DC"/>
                </a:solidFill>
                <a:latin typeface="IBM Plex Sans"/>
                <a:ea typeface="IBM Plex Sans"/>
                <a:cs typeface="IBM Plex Sans"/>
                <a:sym typeface="IBM Plex Sans"/>
              </a:rPr>
              <a:t> confirms fairer</a:t>
            </a:r>
          </a:p>
          <a:p>
            <a:pPr algn="l">
              <a:lnSpc>
                <a:spcPts val="3564"/>
              </a:lnSpc>
            </a:pPr>
            <a:r>
              <a:rPr lang="en-US" sz="2600">
                <a:solidFill>
                  <a:srgbClr val="D0D6DC"/>
                </a:solidFill>
                <a:latin typeface="IBM Plex Sans"/>
                <a:ea typeface="IBM Plex Sans"/>
                <a:cs typeface="IBM Plex Sans"/>
                <a:sym typeface="IBM Plex Sans"/>
              </a:rPr>
              <a:t>ranking when identity is masked.</a:t>
            </a:r>
          </a:p>
        </p:txBody>
      </p:sp>
      <p:sp>
        <p:nvSpPr>
          <p:cNvPr name="Freeform 48" id="48" descr="preencoded.png"/>
          <p:cNvSpPr/>
          <p:nvPr/>
        </p:nvSpPr>
        <p:spPr>
          <a:xfrm flipH="false" flipV="false" rot="0">
            <a:off x="1095375" y="4976441"/>
            <a:ext cx="16097250" cy="1276350"/>
          </a:xfrm>
          <a:custGeom>
            <a:avLst/>
            <a:gdLst/>
            <a:ahLst/>
            <a:cxnLst/>
            <a:rect r="r" b="b" t="t" l="l"/>
            <a:pathLst>
              <a:path h="1276350" w="16097250">
                <a:moveTo>
                  <a:pt x="0" y="0"/>
                </a:moveTo>
                <a:lnTo>
                  <a:pt x="16097250" y="0"/>
                </a:lnTo>
                <a:lnTo>
                  <a:pt x="16097250" y="1276350"/>
                </a:lnTo>
                <a:lnTo>
                  <a:pt x="0" y="12763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16954500" y="9496425"/>
            <a:ext cx="7620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6E7A86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25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3578002" y="582742"/>
            <a:ext cx="7362595" cy="891916"/>
            <a:chOff x="0" y="0"/>
            <a:chExt cx="9816793" cy="1189222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0" y="0"/>
              <a:ext cx="9816793" cy="1189222"/>
              <a:chOff x="0" y="0"/>
              <a:chExt cx="2829729" cy="342798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2829729" cy="342798"/>
              </a:xfrm>
              <a:custGeom>
                <a:avLst/>
                <a:gdLst/>
                <a:ahLst/>
                <a:cxnLst/>
                <a:rect r="r" b="b" t="t" l="l"/>
                <a:pathLst>
                  <a:path h="342798" w="2829729">
                    <a:moveTo>
                      <a:pt x="105152" y="0"/>
                    </a:moveTo>
                    <a:lnTo>
                      <a:pt x="2724577" y="0"/>
                    </a:lnTo>
                    <a:cubicBezTo>
                      <a:pt x="2782651" y="0"/>
                      <a:pt x="2829729" y="47078"/>
                      <a:pt x="2829729" y="105152"/>
                    </a:cubicBezTo>
                    <a:lnTo>
                      <a:pt x="2829729" y="237646"/>
                    </a:lnTo>
                    <a:cubicBezTo>
                      <a:pt x="2829729" y="295720"/>
                      <a:pt x="2782651" y="342798"/>
                      <a:pt x="2724577" y="342798"/>
                    </a:cubicBezTo>
                    <a:lnTo>
                      <a:pt x="105152" y="342798"/>
                    </a:lnTo>
                    <a:cubicBezTo>
                      <a:pt x="47078" y="342798"/>
                      <a:pt x="0" y="295720"/>
                      <a:pt x="0" y="237646"/>
                    </a:cubicBezTo>
                    <a:lnTo>
                      <a:pt x="0" y="105152"/>
                    </a:lnTo>
                    <a:cubicBezTo>
                      <a:pt x="0" y="47078"/>
                      <a:pt x="47078" y="0"/>
                      <a:pt x="1051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57150" cap="rnd">
                <a:solidFill>
                  <a:srgbClr val="034088"/>
                </a:solidFill>
                <a:prstDash val="solid"/>
                <a:round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66675"/>
                <a:ext cx="2829729" cy="4094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180"/>
                  </a:lnSpc>
                </a:pPr>
              </a:p>
            </p:txBody>
          </p:sp>
        </p:grpSp>
        <p:sp>
          <p:nvSpPr>
            <p:cNvPr name="TextBox 54" id="54"/>
            <p:cNvSpPr txBox="true"/>
            <p:nvPr/>
          </p:nvSpPr>
          <p:spPr>
            <a:xfrm rot="0">
              <a:off x="571643" y="190484"/>
              <a:ext cx="8673508" cy="741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50"/>
                </a:lnSpc>
                <a:spcBef>
                  <a:spcPct val="0"/>
                </a:spcBef>
              </a:pPr>
              <a:r>
                <a:rPr lang="en-US" b="true" sz="3321">
                  <a:solidFill>
                    <a:srgbClr val="16324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Evaluation &amp; Results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05578" y="796233"/>
            <a:ext cx="9410271" cy="1262543"/>
            <a:chOff x="0" y="0"/>
            <a:chExt cx="12547028" cy="16833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547024" cy="1683390"/>
            </a:xfrm>
            <a:custGeom>
              <a:avLst/>
              <a:gdLst/>
              <a:ahLst/>
              <a:cxnLst/>
              <a:rect r="r" b="b" t="t" l="l"/>
              <a:pathLst>
                <a:path h="1683390" w="12547024">
                  <a:moveTo>
                    <a:pt x="0" y="0"/>
                  </a:moveTo>
                  <a:lnTo>
                    <a:pt x="12547024" y="0"/>
                  </a:lnTo>
                  <a:lnTo>
                    <a:pt x="12547024" y="1683390"/>
                  </a:lnTo>
                  <a:lnTo>
                    <a:pt x="0" y="16833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8263" r="0" b="-8219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2547028" cy="1692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911"/>
                </a:lnSpc>
              </a:pPr>
              <a:r>
                <a:rPr lang="en-US" b="true" sz="5759" spc="-143">
                  <a:solidFill>
                    <a:srgbClr val="16324F"/>
                  </a:solidFill>
                  <a:latin typeface="Roca Two Bold"/>
                  <a:ea typeface="Roca Two Bold"/>
                  <a:cs typeface="Roca Two Bold"/>
                  <a:sym typeface="Roca Two Bold"/>
                </a:rPr>
                <a:t>Comparative Analysis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90612" y="2328491"/>
            <a:ext cx="16106775" cy="6429375"/>
            <a:chOff x="0" y="0"/>
            <a:chExt cx="21475700" cy="8572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475700" cy="8572500"/>
            </a:xfrm>
            <a:custGeom>
              <a:avLst/>
              <a:gdLst/>
              <a:ahLst/>
              <a:cxnLst/>
              <a:rect r="r" b="b" t="t" l="l"/>
              <a:pathLst>
                <a:path h="8572500" w="21475700">
                  <a:moveTo>
                    <a:pt x="0" y="292989"/>
                  </a:moveTo>
                  <a:cubicBezTo>
                    <a:pt x="0" y="131191"/>
                    <a:pt x="131191" y="0"/>
                    <a:pt x="292989" y="0"/>
                  </a:cubicBezTo>
                  <a:lnTo>
                    <a:pt x="21182712" y="0"/>
                  </a:lnTo>
                  <a:cubicBezTo>
                    <a:pt x="21344510" y="0"/>
                    <a:pt x="21475700" y="131191"/>
                    <a:pt x="21475700" y="292989"/>
                  </a:cubicBezTo>
                  <a:lnTo>
                    <a:pt x="21475700" y="8279511"/>
                  </a:lnTo>
                  <a:cubicBezTo>
                    <a:pt x="21475700" y="8441309"/>
                    <a:pt x="21344510" y="8572500"/>
                    <a:pt x="21182712" y="8572500"/>
                  </a:cubicBezTo>
                  <a:lnTo>
                    <a:pt x="292989" y="8572500"/>
                  </a:lnTo>
                  <a:cubicBezTo>
                    <a:pt x="131191" y="8572500"/>
                    <a:pt x="0" y="8441309"/>
                    <a:pt x="0" y="8279511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215" t="0" r="-1215" b="0"/>
              </a:stretch>
            </a:blipFill>
            <a:ln w="9526" cap="sq">
              <a:solidFill>
                <a:srgbClr val="D9D0C2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105872" y="2341436"/>
            <a:ext cx="5705475" cy="1466850"/>
            <a:chOff x="0" y="0"/>
            <a:chExt cx="7607300" cy="1955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607300" cy="1955800"/>
            </a:xfrm>
            <a:custGeom>
              <a:avLst/>
              <a:gdLst/>
              <a:ahLst/>
              <a:cxnLst/>
              <a:rect r="r" b="b" t="t" l="l"/>
              <a:pathLst>
                <a:path h="1955800" w="7607300">
                  <a:moveTo>
                    <a:pt x="0" y="0"/>
                  </a:moveTo>
                  <a:lnTo>
                    <a:pt x="7607300" y="0"/>
                  </a:lnTo>
                  <a:lnTo>
                    <a:pt x="7607300" y="1955800"/>
                  </a:lnTo>
                  <a:lnTo>
                    <a:pt x="0" y="1955800"/>
                  </a:lnTo>
                  <a:close/>
                </a:path>
              </a:pathLst>
            </a:custGeom>
            <a:solidFill>
              <a:srgbClr val="16324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812385" y="2341436"/>
            <a:ext cx="5181600" cy="1466850"/>
            <a:chOff x="0" y="0"/>
            <a:chExt cx="6908800" cy="1955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08800" cy="1955800"/>
            </a:xfrm>
            <a:custGeom>
              <a:avLst/>
              <a:gdLst/>
              <a:ahLst/>
              <a:cxnLst/>
              <a:rect r="r" b="b" t="t" l="l"/>
              <a:pathLst>
                <a:path h="1955800" w="6908800">
                  <a:moveTo>
                    <a:pt x="0" y="0"/>
                  </a:moveTo>
                  <a:lnTo>
                    <a:pt x="6908800" y="0"/>
                  </a:lnTo>
                  <a:lnTo>
                    <a:pt x="6908800" y="1955800"/>
                  </a:lnTo>
                  <a:lnTo>
                    <a:pt x="0" y="1955800"/>
                  </a:lnTo>
                  <a:close/>
                </a:path>
              </a:pathLst>
            </a:custGeom>
            <a:solidFill>
              <a:srgbClr val="16324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076152" y="2646607"/>
            <a:ext cx="2654065" cy="631271"/>
            <a:chOff x="0" y="0"/>
            <a:chExt cx="3538753" cy="84169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538755" cy="841693"/>
            </a:xfrm>
            <a:custGeom>
              <a:avLst/>
              <a:gdLst/>
              <a:ahLst/>
              <a:cxnLst/>
              <a:rect r="r" b="b" t="t" l="l"/>
              <a:pathLst>
                <a:path h="841693" w="3538755">
                  <a:moveTo>
                    <a:pt x="0" y="0"/>
                  </a:moveTo>
                  <a:lnTo>
                    <a:pt x="3538755" y="0"/>
                  </a:lnTo>
                  <a:lnTo>
                    <a:pt x="3538755" y="841693"/>
                  </a:lnTo>
                  <a:lnTo>
                    <a:pt x="0" y="84169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954" r="0" b="-18888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3538753" cy="851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55"/>
                </a:lnSpc>
              </a:pPr>
              <a:r>
                <a:rPr lang="en-US" sz="2879">
                  <a:solidFill>
                    <a:srgbClr val="FFFFFF"/>
                  </a:solidFill>
                  <a:latin typeface="Roca Two"/>
                  <a:ea typeface="Roca Two"/>
                  <a:cs typeface="Roca Two"/>
                  <a:sym typeface="Roca Two"/>
                </a:rPr>
                <a:t>Approach 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347015" y="3176292"/>
            <a:ext cx="2112331" cy="333375"/>
            <a:chOff x="0" y="0"/>
            <a:chExt cx="2816441" cy="444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816443" cy="444501"/>
            </a:xfrm>
            <a:custGeom>
              <a:avLst/>
              <a:gdLst/>
              <a:ahLst/>
              <a:cxnLst/>
              <a:rect r="r" b="b" t="t" l="l"/>
              <a:pathLst>
                <a:path h="444501" w="2816443">
                  <a:moveTo>
                    <a:pt x="0" y="0"/>
                  </a:moveTo>
                  <a:lnTo>
                    <a:pt x="2816443" y="0"/>
                  </a:lnTo>
                  <a:lnTo>
                    <a:pt x="2816443" y="444501"/>
                  </a:lnTo>
                  <a:lnTo>
                    <a:pt x="0" y="44450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460" r="0" b="-7346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2816441" cy="454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23"/>
                </a:lnSpc>
              </a:pPr>
              <a:r>
                <a:rPr lang="en-US" sz="2019">
                  <a:solidFill>
                    <a:srgbClr val="A2ADB9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Classical NLP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997776" y="2341436"/>
            <a:ext cx="5181600" cy="1466850"/>
            <a:chOff x="0" y="0"/>
            <a:chExt cx="6908800" cy="1955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908800" cy="1955800"/>
            </a:xfrm>
            <a:custGeom>
              <a:avLst/>
              <a:gdLst/>
              <a:ahLst/>
              <a:cxnLst/>
              <a:rect r="r" b="b" t="t" l="l"/>
              <a:pathLst>
                <a:path h="1955800" w="6908800">
                  <a:moveTo>
                    <a:pt x="0" y="0"/>
                  </a:moveTo>
                  <a:lnTo>
                    <a:pt x="6908800" y="0"/>
                  </a:lnTo>
                  <a:lnTo>
                    <a:pt x="6908800" y="1955800"/>
                  </a:lnTo>
                  <a:lnTo>
                    <a:pt x="0" y="1955800"/>
                  </a:lnTo>
                  <a:close/>
                </a:path>
              </a:pathLst>
            </a:custGeom>
            <a:solidFill>
              <a:srgbClr val="E8743B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3217557" y="2646607"/>
            <a:ext cx="2741905" cy="631271"/>
            <a:chOff x="0" y="0"/>
            <a:chExt cx="3655873" cy="84169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655875" cy="841693"/>
            </a:xfrm>
            <a:custGeom>
              <a:avLst/>
              <a:gdLst/>
              <a:ahLst/>
              <a:cxnLst/>
              <a:rect r="r" b="b" t="t" l="l"/>
              <a:pathLst>
                <a:path h="841693" w="3655875">
                  <a:moveTo>
                    <a:pt x="0" y="0"/>
                  </a:moveTo>
                  <a:lnTo>
                    <a:pt x="3655875" y="0"/>
                  </a:lnTo>
                  <a:lnTo>
                    <a:pt x="3655875" y="841693"/>
                  </a:lnTo>
                  <a:lnTo>
                    <a:pt x="0" y="84169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665" r="0" b="-2159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3655873" cy="851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55"/>
                </a:lnSpc>
              </a:pPr>
              <a:r>
                <a:rPr lang="en-US" sz="2879">
                  <a:solidFill>
                    <a:srgbClr val="FFFFFF"/>
                  </a:solidFill>
                  <a:latin typeface="Roca Two"/>
                  <a:ea typeface="Roca Two"/>
                  <a:cs typeface="Roca Two"/>
                  <a:sym typeface="Roca Two"/>
                </a:rPr>
                <a:t>Approach 2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425907" y="3176292"/>
            <a:ext cx="2325348" cy="333375"/>
            <a:chOff x="0" y="0"/>
            <a:chExt cx="3100464" cy="4445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100467" cy="444501"/>
            </a:xfrm>
            <a:custGeom>
              <a:avLst/>
              <a:gdLst/>
              <a:ahLst/>
              <a:cxnLst/>
              <a:rect r="r" b="b" t="t" l="l"/>
              <a:pathLst>
                <a:path h="444501" w="3100467">
                  <a:moveTo>
                    <a:pt x="0" y="0"/>
                  </a:moveTo>
                  <a:lnTo>
                    <a:pt x="3100467" y="0"/>
                  </a:lnTo>
                  <a:lnTo>
                    <a:pt x="3100467" y="444501"/>
                  </a:lnTo>
                  <a:lnTo>
                    <a:pt x="0" y="44450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5911" r="0" b="-8591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3100464" cy="454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23"/>
                </a:lnSpc>
              </a:pPr>
              <a:r>
                <a:rPr lang="en-US" sz="2019">
                  <a:solidFill>
                    <a:srgbClr val="FAE3D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Multilingual DL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05872" y="3807028"/>
            <a:ext cx="5705475" cy="990600"/>
            <a:chOff x="0" y="0"/>
            <a:chExt cx="7607300" cy="1320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607300" cy="1320800"/>
            </a:xfrm>
            <a:custGeom>
              <a:avLst/>
              <a:gdLst/>
              <a:ahLst/>
              <a:cxnLst/>
              <a:rect r="r" b="b" t="t" l="l"/>
              <a:pathLst>
                <a:path h="1320800" w="7607300">
                  <a:moveTo>
                    <a:pt x="0" y="0"/>
                  </a:moveTo>
                  <a:lnTo>
                    <a:pt x="7607300" y="0"/>
                  </a:lnTo>
                  <a:lnTo>
                    <a:pt x="7607300" y="1320800"/>
                  </a:lnTo>
                  <a:lnTo>
                    <a:pt x="0" y="132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472355" y="4083996"/>
            <a:ext cx="3117447" cy="428625"/>
            <a:chOff x="0" y="0"/>
            <a:chExt cx="4156596" cy="5715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156592" cy="571501"/>
            </a:xfrm>
            <a:custGeom>
              <a:avLst/>
              <a:gdLst/>
              <a:ahLst/>
              <a:cxnLst/>
              <a:rect r="r" b="b" t="t" l="l"/>
              <a:pathLst>
                <a:path h="571501" w="4156592">
                  <a:moveTo>
                    <a:pt x="0" y="0"/>
                  </a:moveTo>
                  <a:lnTo>
                    <a:pt x="4156592" y="0"/>
                  </a:lnTo>
                  <a:lnTo>
                    <a:pt x="4156592" y="571501"/>
                  </a:lnTo>
                  <a:lnTo>
                    <a:pt x="0" y="57150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1717" r="0" b="-9171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4156596" cy="571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A273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Intent accuracy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812385" y="3807028"/>
            <a:ext cx="5181600" cy="990600"/>
            <a:chOff x="0" y="0"/>
            <a:chExt cx="6908800" cy="1320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908800" cy="1320800"/>
            </a:xfrm>
            <a:custGeom>
              <a:avLst/>
              <a:gdLst/>
              <a:ahLst/>
              <a:cxnLst/>
              <a:rect r="r" b="b" t="t" l="l"/>
              <a:pathLst>
                <a:path h="1320800" w="6908800">
                  <a:moveTo>
                    <a:pt x="0" y="0"/>
                  </a:moveTo>
                  <a:lnTo>
                    <a:pt x="6908800" y="0"/>
                  </a:lnTo>
                  <a:lnTo>
                    <a:pt x="6908800" y="1320800"/>
                  </a:lnTo>
                  <a:lnTo>
                    <a:pt x="0" y="132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891073" y="4083996"/>
            <a:ext cx="1024223" cy="428625"/>
            <a:chOff x="0" y="0"/>
            <a:chExt cx="1365631" cy="5715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65627" cy="571501"/>
            </a:xfrm>
            <a:custGeom>
              <a:avLst/>
              <a:gdLst/>
              <a:ahLst/>
              <a:cxnLst/>
              <a:rect r="r" b="b" t="t" l="l"/>
              <a:pathLst>
                <a:path h="571501" w="1365627">
                  <a:moveTo>
                    <a:pt x="0" y="0"/>
                  </a:moveTo>
                  <a:lnTo>
                    <a:pt x="1365627" y="0"/>
                  </a:lnTo>
                  <a:lnTo>
                    <a:pt x="1365627" y="571501"/>
                  </a:lnTo>
                  <a:lnTo>
                    <a:pt x="0" y="57150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693" t="0" r="-369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1365631" cy="571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6E7A8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83%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997776" y="3807028"/>
            <a:ext cx="5181600" cy="990600"/>
            <a:chOff x="0" y="0"/>
            <a:chExt cx="6908800" cy="1320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908800" cy="1320800"/>
            </a:xfrm>
            <a:custGeom>
              <a:avLst/>
              <a:gdLst/>
              <a:ahLst/>
              <a:cxnLst/>
              <a:rect r="r" b="b" t="t" l="l"/>
              <a:pathLst>
                <a:path h="1320800" w="6908800">
                  <a:moveTo>
                    <a:pt x="0" y="0"/>
                  </a:moveTo>
                  <a:lnTo>
                    <a:pt x="6908800" y="0"/>
                  </a:lnTo>
                  <a:lnTo>
                    <a:pt x="6908800" y="1320800"/>
                  </a:lnTo>
                  <a:lnTo>
                    <a:pt x="0" y="132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3761587" y="4083996"/>
            <a:ext cx="1653988" cy="428625"/>
            <a:chOff x="0" y="0"/>
            <a:chExt cx="2205317" cy="5715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205315" cy="571501"/>
            </a:xfrm>
            <a:custGeom>
              <a:avLst/>
              <a:gdLst/>
              <a:ahLst/>
              <a:cxnLst/>
              <a:rect r="r" b="b" t="t" l="l"/>
              <a:pathLst>
                <a:path h="571501" w="2205315">
                  <a:moveTo>
                    <a:pt x="0" y="0"/>
                  </a:moveTo>
                  <a:lnTo>
                    <a:pt x="2205315" y="0"/>
                  </a:lnTo>
                  <a:lnTo>
                    <a:pt x="2205315" y="571501"/>
                  </a:lnTo>
                  <a:lnTo>
                    <a:pt x="0" y="57150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189" r="0" b="-25189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2205317" cy="571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16324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99.74%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105872" y="4794352"/>
            <a:ext cx="5705475" cy="990600"/>
            <a:chOff x="0" y="0"/>
            <a:chExt cx="7607300" cy="1320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607300" cy="1320800"/>
            </a:xfrm>
            <a:custGeom>
              <a:avLst/>
              <a:gdLst/>
              <a:ahLst/>
              <a:cxnLst/>
              <a:rect r="r" b="b" t="t" l="l"/>
              <a:pathLst>
                <a:path h="1320800" w="7607300">
                  <a:moveTo>
                    <a:pt x="0" y="0"/>
                  </a:moveTo>
                  <a:lnTo>
                    <a:pt x="7607300" y="0"/>
                  </a:lnTo>
                  <a:lnTo>
                    <a:pt x="7607300" y="1320800"/>
                  </a:lnTo>
                  <a:lnTo>
                    <a:pt x="0" y="1320800"/>
                  </a:lnTo>
                  <a:close/>
                </a:path>
              </a:pathLst>
            </a:custGeom>
            <a:solidFill>
              <a:srgbClr val="F7F3ED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472355" y="5071320"/>
            <a:ext cx="3550253" cy="428625"/>
            <a:chOff x="0" y="0"/>
            <a:chExt cx="4733671" cy="5715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733666" cy="571501"/>
            </a:xfrm>
            <a:custGeom>
              <a:avLst/>
              <a:gdLst/>
              <a:ahLst/>
              <a:cxnLst/>
              <a:rect r="r" b="b" t="t" l="l"/>
              <a:pathLst>
                <a:path h="571501" w="4733666">
                  <a:moveTo>
                    <a:pt x="0" y="0"/>
                  </a:moveTo>
                  <a:lnTo>
                    <a:pt x="4733666" y="0"/>
                  </a:lnTo>
                  <a:lnTo>
                    <a:pt x="4733666" y="571501"/>
                  </a:lnTo>
                  <a:lnTo>
                    <a:pt x="0" y="57150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1392" r="0" b="-11139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4733671" cy="571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A273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Language support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812385" y="4794352"/>
            <a:ext cx="5181600" cy="990600"/>
            <a:chOff x="0" y="0"/>
            <a:chExt cx="6908800" cy="1320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908800" cy="1320800"/>
            </a:xfrm>
            <a:custGeom>
              <a:avLst/>
              <a:gdLst/>
              <a:ahLst/>
              <a:cxnLst/>
              <a:rect r="r" b="b" t="t" l="l"/>
              <a:pathLst>
                <a:path h="1320800" w="6908800">
                  <a:moveTo>
                    <a:pt x="0" y="0"/>
                  </a:moveTo>
                  <a:lnTo>
                    <a:pt x="6908800" y="0"/>
                  </a:lnTo>
                  <a:lnTo>
                    <a:pt x="6908800" y="1320800"/>
                  </a:lnTo>
                  <a:lnTo>
                    <a:pt x="0" y="1320800"/>
                  </a:lnTo>
                  <a:close/>
                </a:path>
              </a:pathLst>
            </a:custGeom>
            <a:solidFill>
              <a:srgbClr val="F7F3ED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8629498" y="5071320"/>
            <a:ext cx="1547384" cy="428625"/>
            <a:chOff x="0" y="0"/>
            <a:chExt cx="2063179" cy="5715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063173" cy="571501"/>
            </a:xfrm>
            <a:custGeom>
              <a:avLst/>
              <a:gdLst/>
              <a:ahLst/>
              <a:cxnLst/>
              <a:rect r="r" b="b" t="t" l="l"/>
              <a:pathLst>
                <a:path h="571501" w="2063173">
                  <a:moveTo>
                    <a:pt x="0" y="0"/>
                  </a:moveTo>
                  <a:lnTo>
                    <a:pt x="2063173" y="0"/>
                  </a:lnTo>
                  <a:lnTo>
                    <a:pt x="2063173" y="571501"/>
                  </a:lnTo>
                  <a:lnTo>
                    <a:pt x="0" y="57150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343" r="0" b="-20342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2063179" cy="571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6E7A8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Limited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1997776" y="4794352"/>
            <a:ext cx="5181600" cy="990600"/>
            <a:chOff x="0" y="0"/>
            <a:chExt cx="6908800" cy="1320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908800" cy="1320800"/>
            </a:xfrm>
            <a:custGeom>
              <a:avLst/>
              <a:gdLst/>
              <a:ahLst/>
              <a:cxnLst/>
              <a:rect r="r" b="b" t="t" l="l"/>
              <a:pathLst>
                <a:path h="1320800" w="6908800">
                  <a:moveTo>
                    <a:pt x="0" y="0"/>
                  </a:moveTo>
                  <a:lnTo>
                    <a:pt x="6908800" y="0"/>
                  </a:lnTo>
                  <a:lnTo>
                    <a:pt x="6908800" y="1320800"/>
                  </a:lnTo>
                  <a:lnTo>
                    <a:pt x="0" y="1320800"/>
                  </a:lnTo>
                  <a:close/>
                </a:path>
              </a:pathLst>
            </a:custGeom>
            <a:solidFill>
              <a:srgbClr val="F7F3ED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3377558" y="5071320"/>
            <a:ext cx="2421893" cy="428625"/>
            <a:chOff x="0" y="0"/>
            <a:chExt cx="3229191" cy="5715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229192" cy="571501"/>
            </a:xfrm>
            <a:custGeom>
              <a:avLst/>
              <a:gdLst/>
              <a:ahLst/>
              <a:cxnLst/>
              <a:rect r="r" b="b" t="t" l="l"/>
              <a:pathLst>
                <a:path h="571501" w="3229192">
                  <a:moveTo>
                    <a:pt x="0" y="0"/>
                  </a:moveTo>
                  <a:lnTo>
                    <a:pt x="3229192" y="0"/>
                  </a:lnTo>
                  <a:lnTo>
                    <a:pt x="3229192" y="571501"/>
                  </a:lnTo>
                  <a:lnTo>
                    <a:pt x="0" y="57150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097" r="0" b="-60097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3229191" cy="571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16324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6 languages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105872" y="5781675"/>
            <a:ext cx="5705475" cy="990600"/>
            <a:chOff x="0" y="0"/>
            <a:chExt cx="7607300" cy="13208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607300" cy="1320800"/>
            </a:xfrm>
            <a:custGeom>
              <a:avLst/>
              <a:gdLst/>
              <a:ahLst/>
              <a:cxnLst/>
              <a:rect r="r" b="b" t="t" l="l"/>
              <a:pathLst>
                <a:path h="1320800" w="7607300">
                  <a:moveTo>
                    <a:pt x="0" y="0"/>
                  </a:moveTo>
                  <a:lnTo>
                    <a:pt x="7607300" y="0"/>
                  </a:lnTo>
                  <a:lnTo>
                    <a:pt x="7607300" y="1320800"/>
                  </a:lnTo>
                  <a:lnTo>
                    <a:pt x="0" y="132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472355" y="6058643"/>
            <a:ext cx="3263713" cy="428625"/>
            <a:chOff x="0" y="0"/>
            <a:chExt cx="4351617" cy="5715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351616" cy="571501"/>
            </a:xfrm>
            <a:custGeom>
              <a:avLst/>
              <a:gdLst/>
              <a:ahLst/>
              <a:cxnLst/>
              <a:rect r="r" b="b" t="t" l="l"/>
              <a:pathLst>
                <a:path h="571501" w="4351616">
                  <a:moveTo>
                    <a:pt x="0" y="0"/>
                  </a:moveTo>
                  <a:lnTo>
                    <a:pt x="4351616" y="0"/>
                  </a:lnTo>
                  <a:lnTo>
                    <a:pt x="4351616" y="571501"/>
                  </a:lnTo>
                  <a:lnTo>
                    <a:pt x="0" y="57150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8366" r="0" b="-9836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4351617" cy="571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A273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Entity extraction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812385" y="5781675"/>
            <a:ext cx="5181600" cy="990600"/>
            <a:chOff x="0" y="0"/>
            <a:chExt cx="6908800" cy="13208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908800" cy="1320800"/>
            </a:xfrm>
            <a:custGeom>
              <a:avLst/>
              <a:gdLst/>
              <a:ahLst/>
              <a:cxnLst/>
              <a:rect r="r" b="b" t="t" l="l"/>
              <a:pathLst>
                <a:path h="1320800" w="6908800">
                  <a:moveTo>
                    <a:pt x="0" y="0"/>
                  </a:moveTo>
                  <a:lnTo>
                    <a:pt x="6908800" y="0"/>
                  </a:lnTo>
                  <a:lnTo>
                    <a:pt x="6908800" y="1320800"/>
                  </a:lnTo>
                  <a:lnTo>
                    <a:pt x="0" y="132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8240601" y="6058643"/>
            <a:ext cx="2325157" cy="428625"/>
            <a:chOff x="0" y="0"/>
            <a:chExt cx="3100210" cy="5715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100208" cy="571501"/>
            </a:xfrm>
            <a:custGeom>
              <a:avLst/>
              <a:gdLst/>
              <a:ahLst/>
              <a:cxnLst/>
              <a:rect r="r" b="b" t="t" l="l"/>
              <a:pathLst>
                <a:path h="571501" w="3100208">
                  <a:moveTo>
                    <a:pt x="0" y="0"/>
                  </a:moveTo>
                  <a:lnTo>
                    <a:pt x="3100208" y="0"/>
                  </a:lnTo>
                  <a:lnTo>
                    <a:pt x="3100208" y="571501"/>
                  </a:lnTo>
                  <a:lnTo>
                    <a:pt x="0" y="57150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5700" r="0" b="-55699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3100210" cy="571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6E7A8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Rule-based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1997776" y="5781675"/>
            <a:ext cx="5181600" cy="990600"/>
            <a:chOff x="0" y="0"/>
            <a:chExt cx="6908800" cy="13208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908800" cy="1320800"/>
            </a:xfrm>
            <a:custGeom>
              <a:avLst/>
              <a:gdLst/>
              <a:ahLst/>
              <a:cxnLst/>
              <a:rect r="r" b="b" t="t" l="l"/>
              <a:pathLst>
                <a:path h="1320800" w="6908800">
                  <a:moveTo>
                    <a:pt x="0" y="0"/>
                  </a:moveTo>
                  <a:lnTo>
                    <a:pt x="6908800" y="0"/>
                  </a:lnTo>
                  <a:lnTo>
                    <a:pt x="6908800" y="1320800"/>
                  </a:lnTo>
                  <a:lnTo>
                    <a:pt x="0" y="132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3162969" y="6058643"/>
            <a:ext cx="2851223" cy="428625"/>
            <a:chOff x="0" y="0"/>
            <a:chExt cx="3801631" cy="5715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801627" cy="571501"/>
            </a:xfrm>
            <a:custGeom>
              <a:avLst/>
              <a:gdLst/>
              <a:ahLst/>
              <a:cxnLst/>
              <a:rect r="r" b="b" t="t" l="l"/>
              <a:pathLst>
                <a:path h="571501" w="3801627">
                  <a:moveTo>
                    <a:pt x="0" y="0"/>
                  </a:moveTo>
                  <a:lnTo>
                    <a:pt x="3801627" y="0"/>
                  </a:lnTo>
                  <a:lnTo>
                    <a:pt x="3801627" y="571501"/>
                  </a:lnTo>
                  <a:lnTo>
                    <a:pt x="0" y="57150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614" r="0" b="-79614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3801631" cy="571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16324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XLM-RoBERTa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105872" y="6768998"/>
            <a:ext cx="5705475" cy="990600"/>
            <a:chOff x="0" y="0"/>
            <a:chExt cx="7607300" cy="13208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607300" cy="1320800"/>
            </a:xfrm>
            <a:custGeom>
              <a:avLst/>
              <a:gdLst/>
              <a:ahLst/>
              <a:cxnLst/>
              <a:rect r="r" b="b" t="t" l="l"/>
              <a:pathLst>
                <a:path h="1320800" w="7607300">
                  <a:moveTo>
                    <a:pt x="0" y="0"/>
                  </a:moveTo>
                  <a:lnTo>
                    <a:pt x="7607300" y="0"/>
                  </a:lnTo>
                  <a:lnTo>
                    <a:pt x="7607300" y="1320800"/>
                  </a:lnTo>
                  <a:lnTo>
                    <a:pt x="0" y="1320800"/>
                  </a:lnTo>
                  <a:close/>
                </a:path>
              </a:pathLst>
            </a:custGeom>
            <a:solidFill>
              <a:srgbClr val="F7F3ED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472355" y="7045966"/>
            <a:ext cx="2775956" cy="428625"/>
            <a:chOff x="0" y="0"/>
            <a:chExt cx="3701275" cy="5715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701277" cy="571501"/>
            </a:xfrm>
            <a:custGeom>
              <a:avLst/>
              <a:gdLst/>
              <a:ahLst/>
              <a:cxnLst/>
              <a:rect r="r" b="b" t="t" l="l"/>
              <a:pathLst>
                <a:path h="571501" w="3701277">
                  <a:moveTo>
                    <a:pt x="0" y="0"/>
                  </a:moveTo>
                  <a:lnTo>
                    <a:pt x="3701277" y="0"/>
                  </a:lnTo>
                  <a:lnTo>
                    <a:pt x="3701277" y="571501"/>
                  </a:lnTo>
                  <a:lnTo>
                    <a:pt x="0" y="57150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193" r="0" b="-76192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0"/>
              <a:ext cx="3701275" cy="571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A273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Compute cost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6812385" y="6768998"/>
            <a:ext cx="5181600" cy="990600"/>
            <a:chOff x="0" y="0"/>
            <a:chExt cx="6908800" cy="13208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908800" cy="1320800"/>
            </a:xfrm>
            <a:custGeom>
              <a:avLst/>
              <a:gdLst/>
              <a:ahLst/>
              <a:cxnLst/>
              <a:rect r="r" b="b" t="t" l="l"/>
              <a:pathLst>
                <a:path h="1320800" w="6908800">
                  <a:moveTo>
                    <a:pt x="0" y="0"/>
                  </a:moveTo>
                  <a:lnTo>
                    <a:pt x="6908800" y="0"/>
                  </a:lnTo>
                  <a:lnTo>
                    <a:pt x="6908800" y="1320800"/>
                  </a:lnTo>
                  <a:lnTo>
                    <a:pt x="0" y="1320800"/>
                  </a:lnTo>
                  <a:close/>
                </a:path>
              </a:pathLst>
            </a:custGeom>
            <a:solidFill>
              <a:srgbClr val="F7F3ED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8958015" y="7045966"/>
            <a:ext cx="890330" cy="428625"/>
            <a:chOff x="0" y="0"/>
            <a:chExt cx="1187107" cy="5715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187112" cy="571501"/>
            </a:xfrm>
            <a:custGeom>
              <a:avLst/>
              <a:gdLst/>
              <a:ahLst/>
              <a:cxnLst/>
              <a:rect r="r" b="b" t="t" l="l"/>
              <a:pathLst>
                <a:path h="571501" w="1187112">
                  <a:moveTo>
                    <a:pt x="0" y="0"/>
                  </a:moveTo>
                  <a:lnTo>
                    <a:pt x="1187112" y="0"/>
                  </a:lnTo>
                  <a:lnTo>
                    <a:pt x="1187112" y="571501"/>
                  </a:lnTo>
                  <a:lnTo>
                    <a:pt x="0" y="57150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768" t="0" r="-11767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1187107" cy="571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16324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Low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1997776" y="6768998"/>
            <a:ext cx="5181600" cy="990600"/>
            <a:chOff x="0" y="0"/>
            <a:chExt cx="6908800" cy="13208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6908800" cy="1320800"/>
            </a:xfrm>
            <a:custGeom>
              <a:avLst/>
              <a:gdLst/>
              <a:ahLst/>
              <a:cxnLst/>
              <a:rect r="r" b="b" t="t" l="l"/>
              <a:pathLst>
                <a:path h="1320800" w="6908800">
                  <a:moveTo>
                    <a:pt x="0" y="0"/>
                  </a:moveTo>
                  <a:lnTo>
                    <a:pt x="6908800" y="0"/>
                  </a:lnTo>
                  <a:lnTo>
                    <a:pt x="6908800" y="1320800"/>
                  </a:lnTo>
                  <a:lnTo>
                    <a:pt x="0" y="1320800"/>
                  </a:lnTo>
                  <a:close/>
                </a:path>
              </a:pathLst>
            </a:custGeom>
            <a:solidFill>
              <a:srgbClr val="F7F3ED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3896270" y="7045966"/>
            <a:ext cx="1384478" cy="428625"/>
            <a:chOff x="0" y="0"/>
            <a:chExt cx="1845970" cy="5715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845965" cy="571501"/>
            </a:xfrm>
            <a:custGeom>
              <a:avLst/>
              <a:gdLst/>
              <a:ahLst/>
              <a:cxnLst/>
              <a:rect r="r" b="b" t="t" l="l"/>
              <a:pathLst>
                <a:path h="571501" w="1845965">
                  <a:moveTo>
                    <a:pt x="0" y="0"/>
                  </a:moveTo>
                  <a:lnTo>
                    <a:pt x="1845965" y="0"/>
                  </a:lnTo>
                  <a:lnTo>
                    <a:pt x="1845965" y="571501"/>
                  </a:lnTo>
                  <a:lnTo>
                    <a:pt x="0" y="57150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937" r="0" b="-12937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0"/>
              <a:ext cx="1845970" cy="571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6E7A8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Higher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105872" y="7756322"/>
            <a:ext cx="5705475" cy="990600"/>
            <a:chOff x="0" y="0"/>
            <a:chExt cx="7607300" cy="13208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7607300" cy="1320800"/>
            </a:xfrm>
            <a:custGeom>
              <a:avLst/>
              <a:gdLst/>
              <a:ahLst/>
              <a:cxnLst/>
              <a:rect r="r" b="b" t="t" l="l"/>
              <a:pathLst>
                <a:path h="1320800" w="7607300">
                  <a:moveTo>
                    <a:pt x="0" y="0"/>
                  </a:moveTo>
                  <a:lnTo>
                    <a:pt x="7607300" y="0"/>
                  </a:lnTo>
                  <a:lnTo>
                    <a:pt x="7607300" y="1320800"/>
                  </a:lnTo>
                  <a:lnTo>
                    <a:pt x="0" y="132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472355" y="8033299"/>
            <a:ext cx="3027093" cy="428625"/>
            <a:chOff x="0" y="0"/>
            <a:chExt cx="4036124" cy="5715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036120" cy="571501"/>
            </a:xfrm>
            <a:custGeom>
              <a:avLst/>
              <a:gdLst/>
              <a:ahLst/>
              <a:cxnLst/>
              <a:rect r="r" b="b" t="t" l="l"/>
              <a:pathLst>
                <a:path h="571501" w="4036120">
                  <a:moveTo>
                    <a:pt x="0" y="0"/>
                  </a:moveTo>
                  <a:lnTo>
                    <a:pt x="4036120" y="0"/>
                  </a:lnTo>
                  <a:lnTo>
                    <a:pt x="4036120" y="571501"/>
                  </a:lnTo>
                  <a:lnTo>
                    <a:pt x="0" y="57150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7609" r="0" b="-87609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0"/>
              <a:ext cx="4036124" cy="571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A273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Interpretability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6812385" y="7756322"/>
            <a:ext cx="5181600" cy="990600"/>
            <a:chOff x="0" y="0"/>
            <a:chExt cx="6908800" cy="13208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6908800" cy="1320800"/>
            </a:xfrm>
            <a:custGeom>
              <a:avLst/>
              <a:gdLst/>
              <a:ahLst/>
              <a:cxnLst/>
              <a:rect r="r" b="b" t="t" l="l"/>
              <a:pathLst>
                <a:path h="1320800" w="6908800">
                  <a:moveTo>
                    <a:pt x="0" y="0"/>
                  </a:moveTo>
                  <a:lnTo>
                    <a:pt x="6908800" y="0"/>
                  </a:lnTo>
                  <a:lnTo>
                    <a:pt x="6908800" y="1320800"/>
                  </a:lnTo>
                  <a:lnTo>
                    <a:pt x="0" y="132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8906770" y="8033299"/>
            <a:ext cx="992686" cy="428625"/>
            <a:chOff x="0" y="0"/>
            <a:chExt cx="1323581" cy="57150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323579" cy="571501"/>
            </a:xfrm>
            <a:custGeom>
              <a:avLst/>
              <a:gdLst/>
              <a:ahLst/>
              <a:cxnLst/>
              <a:rect r="r" b="b" t="t" l="l"/>
              <a:pathLst>
                <a:path h="571501" w="1323579">
                  <a:moveTo>
                    <a:pt x="0" y="0"/>
                  </a:moveTo>
                  <a:lnTo>
                    <a:pt x="1323579" y="0"/>
                  </a:lnTo>
                  <a:lnTo>
                    <a:pt x="1323579" y="571501"/>
                  </a:lnTo>
                  <a:lnTo>
                    <a:pt x="0" y="57150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399" t="0" r="-5399" b="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0"/>
              <a:ext cx="1323581" cy="571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16324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High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1997776" y="7756322"/>
            <a:ext cx="5181600" cy="990600"/>
            <a:chOff x="0" y="0"/>
            <a:chExt cx="6908800" cy="132080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6908800" cy="1320800"/>
            </a:xfrm>
            <a:custGeom>
              <a:avLst/>
              <a:gdLst/>
              <a:ahLst/>
              <a:cxnLst/>
              <a:rect r="r" b="b" t="t" l="l"/>
              <a:pathLst>
                <a:path h="1320800" w="6908800">
                  <a:moveTo>
                    <a:pt x="0" y="0"/>
                  </a:moveTo>
                  <a:lnTo>
                    <a:pt x="6908800" y="0"/>
                  </a:lnTo>
                  <a:lnTo>
                    <a:pt x="6908800" y="1320800"/>
                  </a:lnTo>
                  <a:lnTo>
                    <a:pt x="0" y="132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3612825" y="8033299"/>
            <a:ext cx="1951358" cy="428625"/>
            <a:chOff x="0" y="0"/>
            <a:chExt cx="2601811" cy="57150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601813" cy="571501"/>
            </a:xfrm>
            <a:custGeom>
              <a:avLst/>
              <a:gdLst/>
              <a:ahLst/>
              <a:cxnLst/>
              <a:rect r="r" b="b" t="t" l="l"/>
              <a:pathLst>
                <a:path h="571501" w="2601813">
                  <a:moveTo>
                    <a:pt x="0" y="0"/>
                  </a:moveTo>
                  <a:lnTo>
                    <a:pt x="2601813" y="0"/>
                  </a:lnTo>
                  <a:lnTo>
                    <a:pt x="2601813" y="571501"/>
                  </a:lnTo>
                  <a:lnTo>
                    <a:pt x="0" y="57150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707" r="0" b="-38707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0"/>
              <a:ext cx="2601811" cy="571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6E7A8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Moderate</a:t>
              </a:r>
            </a:p>
          </p:txBody>
        </p:sp>
      </p:grpSp>
      <p:sp>
        <p:nvSpPr>
          <p:cNvPr name="TextBox 102" id="102"/>
          <p:cNvSpPr txBox="true"/>
          <p:nvPr/>
        </p:nvSpPr>
        <p:spPr>
          <a:xfrm rot="0">
            <a:off x="1097156" y="9128074"/>
            <a:ext cx="19309109" cy="989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2600">
                <a:solidFill>
                  <a:srgbClr val="6E7A86"/>
                </a:solidFill>
                <a:latin typeface="IBM Plex Sans"/>
                <a:ea typeface="IBM Plex Sans"/>
                <a:cs typeface="IBM Plex Sans"/>
                <a:sym typeface="IBM Plex Sans"/>
              </a:rPr>
              <a:t>Approach 2 is the production choice for accuracy and language coverage; Approach 1 remains a fast,</a:t>
            </a:r>
          </a:p>
          <a:p>
            <a:pPr algn="l">
              <a:lnSpc>
                <a:spcPts val="3888"/>
              </a:lnSpc>
            </a:pPr>
            <a:r>
              <a:rPr lang="en-US" sz="2600">
                <a:solidFill>
                  <a:srgbClr val="6E7A86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transparent fallback.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16954500" y="9496425"/>
            <a:ext cx="7620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6E7A86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26</a:t>
            </a:r>
          </a:p>
        </p:txBody>
      </p:sp>
      <p:grpSp>
        <p:nvGrpSpPr>
          <p:cNvPr name="Group 104" id="104"/>
          <p:cNvGrpSpPr/>
          <p:nvPr/>
        </p:nvGrpSpPr>
        <p:grpSpPr>
          <a:xfrm rot="0">
            <a:off x="13578002" y="582742"/>
            <a:ext cx="7362595" cy="891916"/>
            <a:chOff x="0" y="0"/>
            <a:chExt cx="9816793" cy="1189222"/>
          </a:xfrm>
        </p:grpSpPr>
        <p:grpSp>
          <p:nvGrpSpPr>
            <p:cNvPr name="Group 105" id="105"/>
            <p:cNvGrpSpPr/>
            <p:nvPr/>
          </p:nvGrpSpPr>
          <p:grpSpPr>
            <a:xfrm rot="0">
              <a:off x="0" y="0"/>
              <a:ext cx="9816793" cy="1189222"/>
              <a:chOff x="0" y="0"/>
              <a:chExt cx="2829729" cy="342798"/>
            </a:xfrm>
          </p:grpSpPr>
          <p:sp>
            <p:nvSpPr>
              <p:cNvPr name="Freeform 106" id="106"/>
              <p:cNvSpPr/>
              <p:nvPr/>
            </p:nvSpPr>
            <p:spPr>
              <a:xfrm flipH="false" flipV="false" rot="0">
                <a:off x="0" y="0"/>
                <a:ext cx="2829729" cy="342798"/>
              </a:xfrm>
              <a:custGeom>
                <a:avLst/>
                <a:gdLst/>
                <a:ahLst/>
                <a:cxnLst/>
                <a:rect r="r" b="b" t="t" l="l"/>
                <a:pathLst>
                  <a:path h="342798" w="2829729">
                    <a:moveTo>
                      <a:pt x="105152" y="0"/>
                    </a:moveTo>
                    <a:lnTo>
                      <a:pt x="2724577" y="0"/>
                    </a:lnTo>
                    <a:cubicBezTo>
                      <a:pt x="2782651" y="0"/>
                      <a:pt x="2829729" y="47078"/>
                      <a:pt x="2829729" y="105152"/>
                    </a:cubicBezTo>
                    <a:lnTo>
                      <a:pt x="2829729" y="237646"/>
                    </a:lnTo>
                    <a:cubicBezTo>
                      <a:pt x="2829729" y="295720"/>
                      <a:pt x="2782651" y="342798"/>
                      <a:pt x="2724577" y="342798"/>
                    </a:cubicBezTo>
                    <a:lnTo>
                      <a:pt x="105152" y="342798"/>
                    </a:lnTo>
                    <a:cubicBezTo>
                      <a:pt x="47078" y="342798"/>
                      <a:pt x="0" y="295720"/>
                      <a:pt x="0" y="237646"/>
                    </a:cubicBezTo>
                    <a:lnTo>
                      <a:pt x="0" y="105152"/>
                    </a:lnTo>
                    <a:cubicBezTo>
                      <a:pt x="0" y="47078"/>
                      <a:pt x="47078" y="0"/>
                      <a:pt x="1051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57150" cap="rnd">
                <a:solidFill>
                  <a:srgbClr val="034088"/>
                </a:solidFill>
                <a:prstDash val="solid"/>
                <a:round/>
              </a:ln>
            </p:spPr>
          </p:sp>
          <p:sp>
            <p:nvSpPr>
              <p:cNvPr name="TextBox 107" id="107"/>
              <p:cNvSpPr txBox="true"/>
              <p:nvPr/>
            </p:nvSpPr>
            <p:spPr>
              <a:xfrm>
                <a:off x="0" y="-66675"/>
                <a:ext cx="2829729" cy="4094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180"/>
                  </a:lnSpc>
                </a:pPr>
              </a:p>
            </p:txBody>
          </p:sp>
        </p:grpSp>
        <p:sp>
          <p:nvSpPr>
            <p:cNvPr name="TextBox 108" id="108"/>
            <p:cNvSpPr txBox="true"/>
            <p:nvPr/>
          </p:nvSpPr>
          <p:spPr>
            <a:xfrm rot="0">
              <a:off x="571643" y="190484"/>
              <a:ext cx="8673508" cy="741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50"/>
                </a:lnSpc>
                <a:spcBef>
                  <a:spcPct val="0"/>
                </a:spcBef>
              </a:pPr>
              <a:r>
                <a:rPr lang="en-US" b="true" sz="3321">
                  <a:solidFill>
                    <a:srgbClr val="16324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Evaluation &amp; Results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525" y="-78505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29695" y="796233"/>
            <a:ext cx="10486577" cy="1262543"/>
            <a:chOff x="0" y="0"/>
            <a:chExt cx="13982103" cy="16833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982105" cy="1683390"/>
            </a:xfrm>
            <a:custGeom>
              <a:avLst/>
              <a:gdLst/>
              <a:ahLst/>
              <a:cxnLst/>
              <a:rect r="r" b="b" t="t" l="l"/>
              <a:pathLst>
                <a:path h="1683390" w="13982105">
                  <a:moveTo>
                    <a:pt x="0" y="0"/>
                  </a:moveTo>
                  <a:lnTo>
                    <a:pt x="13982105" y="0"/>
                  </a:lnTo>
                  <a:lnTo>
                    <a:pt x="13982105" y="1683390"/>
                  </a:lnTo>
                  <a:lnTo>
                    <a:pt x="0" y="16833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4874" r="0" b="-9880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3982103" cy="1692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911"/>
                </a:lnSpc>
              </a:pPr>
              <a:r>
                <a:rPr lang="en-US" b="true" sz="5759" spc="-143">
                  <a:solidFill>
                    <a:srgbClr val="16324F"/>
                  </a:solidFill>
                  <a:latin typeface="Roca Two Bold"/>
                  <a:ea typeface="Roca Two Bold"/>
                  <a:cs typeface="Roca Two Bold"/>
                  <a:sym typeface="Roca Two Bold"/>
                </a:rPr>
                <a:t>Implementation &amp; Stack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97156" y="1999955"/>
            <a:ext cx="13351002" cy="447675"/>
            <a:chOff x="0" y="0"/>
            <a:chExt cx="17801336" cy="5969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801334" cy="596901"/>
            </a:xfrm>
            <a:custGeom>
              <a:avLst/>
              <a:gdLst/>
              <a:ahLst/>
              <a:cxnLst/>
              <a:rect r="r" b="b" t="t" l="l"/>
              <a:pathLst>
                <a:path h="596901" w="17801334">
                  <a:moveTo>
                    <a:pt x="0" y="0"/>
                  </a:moveTo>
                  <a:lnTo>
                    <a:pt x="17801334" y="0"/>
                  </a:lnTo>
                  <a:lnTo>
                    <a:pt x="17801334" y="596901"/>
                  </a:lnTo>
                  <a:lnTo>
                    <a:pt x="0" y="59690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1100" r="0" b="-53110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17801336" cy="587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87"/>
                </a:lnSpc>
              </a:pPr>
              <a:r>
                <a:rPr lang="en-US" sz="2740">
                  <a:solidFill>
                    <a:srgbClr val="6E7A8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 containerized full-stack deployment around the chatbot engine.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98128" y="3007147"/>
            <a:ext cx="5057775" cy="3371850"/>
            <a:chOff x="0" y="0"/>
            <a:chExt cx="6743700" cy="4495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743700" cy="4495800"/>
            </a:xfrm>
            <a:custGeom>
              <a:avLst/>
              <a:gdLst/>
              <a:ahLst/>
              <a:cxnLst/>
              <a:rect r="r" b="b" t="t" l="l"/>
              <a:pathLst>
                <a:path h="4495800" w="6743700">
                  <a:moveTo>
                    <a:pt x="0" y="316992"/>
                  </a:moveTo>
                  <a:cubicBezTo>
                    <a:pt x="0" y="141986"/>
                    <a:pt x="141986" y="0"/>
                    <a:pt x="316992" y="0"/>
                  </a:cubicBezTo>
                  <a:lnTo>
                    <a:pt x="6426708" y="0"/>
                  </a:lnTo>
                  <a:cubicBezTo>
                    <a:pt x="6601714" y="0"/>
                    <a:pt x="6743700" y="141986"/>
                    <a:pt x="6743700" y="316992"/>
                  </a:cubicBezTo>
                  <a:lnTo>
                    <a:pt x="6743700" y="4178808"/>
                  </a:lnTo>
                  <a:cubicBezTo>
                    <a:pt x="6743700" y="4353941"/>
                    <a:pt x="6601714" y="4495800"/>
                    <a:pt x="6426708" y="4495800"/>
                  </a:cubicBezTo>
                  <a:lnTo>
                    <a:pt x="316992" y="4495800"/>
                  </a:lnTo>
                  <a:cubicBezTo>
                    <a:pt x="141986" y="4495800"/>
                    <a:pt x="0" y="4353814"/>
                    <a:pt x="0" y="417880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26216" y="3421704"/>
            <a:ext cx="2461365" cy="468691"/>
            <a:chOff x="0" y="0"/>
            <a:chExt cx="3281820" cy="6249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281819" cy="624921"/>
            </a:xfrm>
            <a:custGeom>
              <a:avLst/>
              <a:gdLst/>
              <a:ahLst/>
              <a:cxnLst/>
              <a:rect r="r" b="b" t="t" l="l"/>
              <a:pathLst>
                <a:path h="624921" w="3281819">
                  <a:moveTo>
                    <a:pt x="0" y="0"/>
                  </a:moveTo>
                  <a:lnTo>
                    <a:pt x="3281819" y="0"/>
                  </a:lnTo>
                  <a:lnTo>
                    <a:pt x="3281819" y="624921"/>
                  </a:lnTo>
                  <a:lnTo>
                    <a:pt x="0" y="62492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746" r="0" b="-3890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3281820" cy="6249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2160" spc="432">
                  <a:solidFill>
                    <a:srgbClr val="E8743B"/>
                  </a:solidFill>
                  <a:latin typeface="Roca Two"/>
                  <a:ea typeface="Roca Two"/>
                  <a:cs typeface="Roca Two"/>
                  <a:sym typeface="Roca Two"/>
                </a:rPr>
                <a:t>FRONTEND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26216" y="4099770"/>
            <a:ext cx="2932671" cy="523875"/>
            <a:chOff x="0" y="0"/>
            <a:chExt cx="3910228" cy="6985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910232" cy="698499"/>
            </a:xfrm>
            <a:custGeom>
              <a:avLst/>
              <a:gdLst/>
              <a:ahLst/>
              <a:cxnLst/>
              <a:rect r="r" b="b" t="t" l="l"/>
              <a:pathLst>
                <a:path h="698499" w="3910232">
                  <a:moveTo>
                    <a:pt x="0" y="0"/>
                  </a:moveTo>
                  <a:lnTo>
                    <a:pt x="3910232" y="0"/>
                  </a:lnTo>
                  <a:lnTo>
                    <a:pt x="3910232" y="698499"/>
                  </a:lnTo>
                  <a:lnTo>
                    <a:pt x="0" y="69849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078" r="0" b="-5907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3910228" cy="698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92"/>
                </a:lnSpc>
              </a:pPr>
              <a:r>
                <a:rPr lang="en-US" sz="3160">
                  <a:solidFill>
                    <a:srgbClr val="16324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React + Vite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26216" y="4739278"/>
            <a:ext cx="5501850" cy="865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6"/>
              </a:lnSpc>
            </a:pPr>
            <a:r>
              <a:rPr lang="en-US" sz="2440">
                <a:solidFill>
                  <a:srgbClr val="6E7A86"/>
                </a:solidFill>
                <a:latin typeface="IBM Plex Sans"/>
                <a:ea typeface="IBM Plex Sans"/>
                <a:cs typeface="IBM Plex Sans"/>
                <a:sym typeface="IBM Plex Sans"/>
              </a:rPr>
              <a:t>Chat interface embedded into</a:t>
            </a:r>
          </a:p>
          <a:p>
            <a:pPr algn="l">
              <a:lnSpc>
                <a:spcPts val="3366"/>
              </a:lnSpc>
            </a:pPr>
            <a:r>
              <a:rPr lang="en-US" sz="2440">
                <a:solidFill>
                  <a:srgbClr val="6E7A86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Wassit Online experience.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615036" y="3007147"/>
            <a:ext cx="5057775" cy="3371850"/>
            <a:chOff x="0" y="0"/>
            <a:chExt cx="6743700" cy="4495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743700" cy="4495800"/>
            </a:xfrm>
            <a:custGeom>
              <a:avLst/>
              <a:gdLst/>
              <a:ahLst/>
              <a:cxnLst/>
              <a:rect r="r" b="b" t="t" l="l"/>
              <a:pathLst>
                <a:path h="4495800" w="6743700">
                  <a:moveTo>
                    <a:pt x="0" y="316992"/>
                  </a:moveTo>
                  <a:cubicBezTo>
                    <a:pt x="0" y="141986"/>
                    <a:pt x="141986" y="0"/>
                    <a:pt x="316992" y="0"/>
                  </a:cubicBezTo>
                  <a:lnTo>
                    <a:pt x="6426708" y="0"/>
                  </a:lnTo>
                  <a:cubicBezTo>
                    <a:pt x="6601714" y="0"/>
                    <a:pt x="6743700" y="141986"/>
                    <a:pt x="6743700" y="316992"/>
                  </a:cubicBezTo>
                  <a:lnTo>
                    <a:pt x="6743700" y="4178808"/>
                  </a:lnTo>
                  <a:cubicBezTo>
                    <a:pt x="6743700" y="4353941"/>
                    <a:pt x="6601714" y="4495800"/>
                    <a:pt x="6426708" y="4495800"/>
                  </a:cubicBezTo>
                  <a:lnTo>
                    <a:pt x="316992" y="4495800"/>
                  </a:lnTo>
                  <a:cubicBezTo>
                    <a:pt x="141986" y="4495800"/>
                    <a:pt x="0" y="4353814"/>
                    <a:pt x="0" y="417880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943134" y="3421704"/>
            <a:ext cx="2189340" cy="468691"/>
            <a:chOff x="0" y="0"/>
            <a:chExt cx="2919120" cy="62492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919115" cy="624921"/>
            </a:xfrm>
            <a:custGeom>
              <a:avLst/>
              <a:gdLst/>
              <a:ahLst/>
              <a:cxnLst/>
              <a:rect r="r" b="b" t="t" l="l"/>
              <a:pathLst>
                <a:path h="624921" w="2919115">
                  <a:moveTo>
                    <a:pt x="0" y="0"/>
                  </a:moveTo>
                  <a:lnTo>
                    <a:pt x="2919115" y="0"/>
                  </a:lnTo>
                  <a:lnTo>
                    <a:pt x="2919115" y="624921"/>
                  </a:lnTo>
                  <a:lnTo>
                    <a:pt x="0" y="62492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437" r="0" b="-2759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2919120" cy="6249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2160" spc="432">
                  <a:solidFill>
                    <a:srgbClr val="2A9D8F"/>
                  </a:solidFill>
                  <a:latin typeface="Roca Two"/>
                  <a:ea typeface="Roca Two"/>
                  <a:cs typeface="Roca Two"/>
                  <a:sym typeface="Roca Two"/>
                </a:rPr>
                <a:t>BACKEND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943134" y="4099770"/>
            <a:ext cx="4049230" cy="523875"/>
            <a:chOff x="0" y="0"/>
            <a:chExt cx="5398973" cy="6985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398968" cy="698499"/>
            </a:xfrm>
            <a:custGeom>
              <a:avLst/>
              <a:gdLst/>
              <a:ahLst/>
              <a:cxnLst/>
              <a:rect r="r" b="b" t="t" l="l"/>
              <a:pathLst>
                <a:path h="698499" w="5398968">
                  <a:moveTo>
                    <a:pt x="0" y="0"/>
                  </a:moveTo>
                  <a:lnTo>
                    <a:pt x="5398968" y="0"/>
                  </a:lnTo>
                  <a:lnTo>
                    <a:pt x="5398968" y="698499"/>
                  </a:lnTo>
                  <a:lnTo>
                    <a:pt x="0" y="69849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0607" r="0" b="-10060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5398973" cy="698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92"/>
                </a:lnSpc>
              </a:pPr>
              <a:r>
                <a:rPr lang="en-US" sz="3160">
                  <a:solidFill>
                    <a:srgbClr val="16324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Flask + Gunicorn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6943134" y="4739278"/>
            <a:ext cx="5145853" cy="1293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6"/>
              </a:lnSpc>
            </a:pPr>
            <a:r>
              <a:rPr lang="en-US" sz="2440">
                <a:solidFill>
                  <a:srgbClr val="6E7A86"/>
                </a:solidFill>
                <a:latin typeface="IBM Plex Sans"/>
                <a:ea typeface="IBM Plex Sans"/>
                <a:cs typeface="IBM Plex Sans"/>
                <a:sym typeface="IBM Plex Sans"/>
              </a:rPr>
              <a:t>Serves the models and</a:t>
            </a:r>
          </a:p>
          <a:p>
            <a:pPr algn="l">
              <a:lnSpc>
                <a:spcPts val="3366"/>
              </a:lnSpc>
            </a:pPr>
            <a:r>
              <a:rPr lang="en-US" sz="2440">
                <a:solidFill>
                  <a:srgbClr val="6E7A86"/>
                </a:solidFill>
                <a:latin typeface="IBM Plex Sans"/>
                <a:ea typeface="IBM Plex Sans"/>
                <a:cs typeface="IBM Plex Sans"/>
                <a:sym typeface="IBM Plex Sans"/>
              </a:rPr>
              <a:t>orchestrates the processing</a:t>
            </a:r>
          </a:p>
          <a:p>
            <a:pPr algn="l">
              <a:lnSpc>
                <a:spcPts val="3366"/>
              </a:lnSpc>
            </a:pPr>
            <a:r>
              <a:rPr lang="en-US" sz="2440">
                <a:solidFill>
                  <a:srgbClr val="6E7A86"/>
                </a:solidFill>
                <a:latin typeface="IBM Plex Sans"/>
                <a:ea typeface="IBM Plex Sans"/>
                <a:cs typeface="IBM Plex Sans"/>
                <a:sym typeface="IBM Plex Sans"/>
              </a:rPr>
              <a:t>pipeline.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2131945" y="3007147"/>
            <a:ext cx="5057775" cy="3371850"/>
            <a:chOff x="0" y="0"/>
            <a:chExt cx="6743700" cy="4495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743700" cy="4495800"/>
            </a:xfrm>
            <a:custGeom>
              <a:avLst/>
              <a:gdLst/>
              <a:ahLst/>
              <a:cxnLst/>
              <a:rect r="r" b="b" t="t" l="l"/>
              <a:pathLst>
                <a:path h="4495800" w="6743700">
                  <a:moveTo>
                    <a:pt x="0" y="316992"/>
                  </a:moveTo>
                  <a:cubicBezTo>
                    <a:pt x="0" y="141986"/>
                    <a:pt x="141986" y="0"/>
                    <a:pt x="316992" y="0"/>
                  </a:cubicBezTo>
                  <a:lnTo>
                    <a:pt x="6426708" y="0"/>
                  </a:lnTo>
                  <a:cubicBezTo>
                    <a:pt x="6601714" y="0"/>
                    <a:pt x="6743700" y="141986"/>
                    <a:pt x="6743700" y="316992"/>
                  </a:cubicBezTo>
                  <a:lnTo>
                    <a:pt x="6743700" y="4178808"/>
                  </a:lnTo>
                  <a:cubicBezTo>
                    <a:pt x="6743700" y="4353941"/>
                    <a:pt x="6601714" y="4495800"/>
                    <a:pt x="6426708" y="4495800"/>
                  </a:cubicBezTo>
                  <a:lnTo>
                    <a:pt x="316992" y="4495800"/>
                  </a:lnTo>
                  <a:cubicBezTo>
                    <a:pt x="141986" y="4495800"/>
                    <a:pt x="0" y="4353814"/>
                    <a:pt x="0" y="417880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460043" y="3421704"/>
            <a:ext cx="1237821" cy="468691"/>
            <a:chOff x="0" y="0"/>
            <a:chExt cx="1650429" cy="62492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650424" cy="624921"/>
            </a:xfrm>
            <a:custGeom>
              <a:avLst/>
              <a:gdLst/>
              <a:ahLst/>
              <a:cxnLst/>
              <a:rect r="r" b="b" t="t" l="l"/>
              <a:pathLst>
                <a:path h="624921" w="1650424">
                  <a:moveTo>
                    <a:pt x="0" y="0"/>
                  </a:moveTo>
                  <a:lnTo>
                    <a:pt x="1650424" y="0"/>
                  </a:lnTo>
                  <a:lnTo>
                    <a:pt x="1650424" y="624921"/>
                  </a:lnTo>
                  <a:lnTo>
                    <a:pt x="0" y="62492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879" r="0" b="11959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1650429" cy="6249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2160" spc="432">
                  <a:solidFill>
                    <a:srgbClr val="16324F"/>
                  </a:solidFill>
                  <a:latin typeface="Roca Two"/>
                  <a:ea typeface="Roca Two"/>
                  <a:cs typeface="Roca Two"/>
                  <a:sym typeface="Roca Two"/>
                </a:rPr>
                <a:t>DATA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460043" y="4099770"/>
            <a:ext cx="1649920" cy="523875"/>
            <a:chOff x="0" y="0"/>
            <a:chExt cx="2199894" cy="6985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99899" cy="698499"/>
            </a:xfrm>
            <a:custGeom>
              <a:avLst/>
              <a:gdLst/>
              <a:ahLst/>
              <a:cxnLst/>
              <a:rect r="r" b="b" t="t" l="l"/>
              <a:pathLst>
                <a:path h="698499" w="2199899">
                  <a:moveTo>
                    <a:pt x="0" y="0"/>
                  </a:moveTo>
                  <a:lnTo>
                    <a:pt x="2199899" y="0"/>
                  </a:lnTo>
                  <a:lnTo>
                    <a:pt x="2199899" y="698499"/>
                  </a:lnTo>
                  <a:lnTo>
                    <a:pt x="0" y="69849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367" r="0" b="-11367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2199894" cy="698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92"/>
                </a:lnSpc>
              </a:pPr>
              <a:r>
                <a:rPr lang="en-US" sz="3160">
                  <a:solidFill>
                    <a:srgbClr val="16324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SQLite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2460043" y="4739278"/>
            <a:ext cx="5454644" cy="865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6"/>
              </a:lnSpc>
            </a:pPr>
            <a:r>
              <a:rPr lang="en-US" sz="2440">
                <a:solidFill>
                  <a:srgbClr val="6E7A86"/>
                </a:solidFill>
                <a:latin typeface="IBM Plex Sans"/>
                <a:ea typeface="IBM Plex Sans"/>
                <a:cs typeface="IBM Plex Sans"/>
                <a:sym typeface="IBM Plex Sans"/>
              </a:rPr>
              <a:t>Stores profiles, offers and the</a:t>
            </a:r>
          </a:p>
          <a:p>
            <a:pPr algn="l">
              <a:lnSpc>
                <a:spcPts val="3366"/>
              </a:lnSpc>
            </a:pPr>
            <a:r>
              <a:rPr lang="en-US" sz="2440">
                <a:solidFill>
                  <a:srgbClr val="6E7A86"/>
                </a:solidFill>
                <a:latin typeface="IBM Plex Sans"/>
                <a:ea typeface="IBM Plex Sans"/>
                <a:cs typeface="IBM Plex Sans"/>
                <a:sym typeface="IBM Plex Sans"/>
              </a:rPr>
              <a:t>knowledge base content.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098128" y="6836645"/>
            <a:ext cx="5057775" cy="3371850"/>
            <a:chOff x="0" y="0"/>
            <a:chExt cx="6743700" cy="4495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743700" cy="4495800"/>
            </a:xfrm>
            <a:custGeom>
              <a:avLst/>
              <a:gdLst/>
              <a:ahLst/>
              <a:cxnLst/>
              <a:rect r="r" b="b" t="t" l="l"/>
              <a:pathLst>
                <a:path h="4495800" w="6743700">
                  <a:moveTo>
                    <a:pt x="0" y="316992"/>
                  </a:moveTo>
                  <a:cubicBezTo>
                    <a:pt x="0" y="141986"/>
                    <a:pt x="141986" y="0"/>
                    <a:pt x="316992" y="0"/>
                  </a:cubicBezTo>
                  <a:lnTo>
                    <a:pt x="6426708" y="0"/>
                  </a:lnTo>
                  <a:cubicBezTo>
                    <a:pt x="6601714" y="0"/>
                    <a:pt x="6743700" y="141986"/>
                    <a:pt x="6743700" y="316992"/>
                  </a:cubicBezTo>
                  <a:lnTo>
                    <a:pt x="6743700" y="4178808"/>
                  </a:lnTo>
                  <a:cubicBezTo>
                    <a:pt x="6743700" y="4353941"/>
                    <a:pt x="6601714" y="4495800"/>
                    <a:pt x="6426708" y="4495800"/>
                  </a:cubicBezTo>
                  <a:lnTo>
                    <a:pt x="316992" y="4495800"/>
                  </a:lnTo>
                  <a:cubicBezTo>
                    <a:pt x="141986" y="4495800"/>
                    <a:pt x="0" y="4353814"/>
                    <a:pt x="0" y="417880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426216" y="7251202"/>
            <a:ext cx="1026157" cy="468691"/>
            <a:chOff x="0" y="0"/>
            <a:chExt cx="1368209" cy="62492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68208" cy="624921"/>
            </a:xfrm>
            <a:custGeom>
              <a:avLst/>
              <a:gdLst/>
              <a:ahLst/>
              <a:cxnLst/>
              <a:rect r="r" b="b" t="t" l="l"/>
              <a:pathLst>
                <a:path h="624921" w="1368208">
                  <a:moveTo>
                    <a:pt x="0" y="0"/>
                  </a:moveTo>
                  <a:lnTo>
                    <a:pt x="1368208" y="0"/>
                  </a:lnTo>
                  <a:lnTo>
                    <a:pt x="1368208" y="624921"/>
                  </a:lnTo>
                  <a:lnTo>
                    <a:pt x="0" y="62492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80" r="0" b="20758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1368209" cy="6249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2160" spc="432">
                  <a:solidFill>
                    <a:srgbClr val="2A9D8F"/>
                  </a:solidFill>
                  <a:latin typeface="Roca Two"/>
                  <a:ea typeface="Roca Two"/>
                  <a:cs typeface="Roca Two"/>
                  <a:sym typeface="Roca Two"/>
                </a:rPr>
                <a:t>LLM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426216" y="7929267"/>
            <a:ext cx="2746934" cy="523875"/>
            <a:chOff x="0" y="0"/>
            <a:chExt cx="3662578" cy="6985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662581" cy="698499"/>
            </a:xfrm>
            <a:custGeom>
              <a:avLst/>
              <a:gdLst/>
              <a:ahLst/>
              <a:cxnLst/>
              <a:rect r="r" b="b" t="t" l="l"/>
              <a:pathLst>
                <a:path h="698499" w="3662581">
                  <a:moveTo>
                    <a:pt x="0" y="0"/>
                  </a:moveTo>
                  <a:lnTo>
                    <a:pt x="3662581" y="0"/>
                  </a:lnTo>
                  <a:lnTo>
                    <a:pt x="3662581" y="698499"/>
                  </a:lnTo>
                  <a:lnTo>
                    <a:pt x="0" y="69849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169" r="0" b="-52169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3662578" cy="698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92"/>
                </a:lnSpc>
              </a:pPr>
              <a:r>
                <a:rPr lang="en-US" sz="3160">
                  <a:solidFill>
                    <a:srgbClr val="16324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Groq Cloud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426216" y="8568776"/>
            <a:ext cx="4674546" cy="1293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6"/>
              </a:lnSpc>
            </a:pPr>
            <a:r>
              <a:rPr lang="en-US" sz="2440">
                <a:solidFill>
                  <a:srgbClr val="6E7A86"/>
                </a:solidFill>
                <a:latin typeface="IBM Plex Sans"/>
                <a:ea typeface="IBM Plex Sans"/>
                <a:cs typeface="IBM Plex Sans"/>
                <a:sym typeface="IBM Plex Sans"/>
              </a:rPr>
              <a:t>Hosted LLM with prompt</a:t>
            </a:r>
          </a:p>
          <a:p>
            <a:pPr algn="l">
              <a:lnSpc>
                <a:spcPts val="3366"/>
              </a:lnSpc>
            </a:pPr>
            <a:r>
              <a:rPr lang="en-US" sz="2440">
                <a:solidFill>
                  <a:srgbClr val="6E7A86"/>
                </a:solidFill>
                <a:latin typeface="IBM Plex Sans"/>
                <a:ea typeface="IBM Plex Sans"/>
                <a:cs typeface="IBM Plex Sans"/>
                <a:sym typeface="IBM Plex Sans"/>
              </a:rPr>
              <a:t>engineering for grounded</a:t>
            </a:r>
          </a:p>
          <a:p>
            <a:pPr algn="l">
              <a:lnSpc>
                <a:spcPts val="3366"/>
              </a:lnSpc>
            </a:pPr>
            <a:r>
              <a:rPr lang="en-US" sz="2440">
                <a:solidFill>
                  <a:srgbClr val="6E7A86"/>
                </a:solidFill>
                <a:latin typeface="IBM Plex Sans"/>
                <a:ea typeface="IBM Plex Sans"/>
                <a:cs typeface="IBM Plex Sans"/>
                <a:sym typeface="IBM Plex Sans"/>
              </a:rPr>
              <a:t>generation.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6615036" y="6836645"/>
            <a:ext cx="5057775" cy="3371850"/>
            <a:chOff x="0" y="0"/>
            <a:chExt cx="6743700" cy="4495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743700" cy="4495800"/>
            </a:xfrm>
            <a:custGeom>
              <a:avLst/>
              <a:gdLst/>
              <a:ahLst/>
              <a:cxnLst/>
              <a:rect r="r" b="b" t="t" l="l"/>
              <a:pathLst>
                <a:path h="4495800" w="6743700">
                  <a:moveTo>
                    <a:pt x="0" y="316992"/>
                  </a:moveTo>
                  <a:cubicBezTo>
                    <a:pt x="0" y="141986"/>
                    <a:pt x="141986" y="0"/>
                    <a:pt x="316992" y="0"/>
                  </a:cubicBezTo>
                  <a:lnTo>
                    <a:pt x="6426708" y="0"/>
                  </a:lnTo>
                  <a:cubicBezTo>
                    <a:pt x="6601714" y="0"/>
                    <a:pt x="6743700" y="141986"/>
                    <a:pt x="6743700" y="316992"/>
                  </a:cubicBezTo>
                  <a:lnTo>
                    <a:pt x="6743700" y="4178808"/>
                  </a:lnTo>
                  <a:cubicBezTo>
                    <a:pt x="6743700" y="4353941"/>
                    <a:pt x="6601714" y="4495800"/>
                    <a:pt x="6426708" y="4495800"/>
                  </a:cubicBezTo>
                  <a:lnTo>
                    <a:pt x="316992" y="4495800"/>
                  </a:lnTo>
                  <a:cubicBezTo>
                    <a:pt x="141986" y="4495800"/>
                    <a:pt x="0" y="4353814"/>
                    <a:pt x="0" y="417880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6943134" y="7251202"/>
            <a:ext cx="1827724" cy="468691"/>
            <a:chOff x="0" y="0"/>
            <a:chExt cx="2436965" cy="62492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436971" cy="624921"/>
            </a:xfrm>
            <a:custGeom>
              <a:avLst/>
              <a:gdLst/>
              <a:ahLst/>
              <a:cxnLst/>
              <a:rect r="r" b="b" t="t" l="l"/>
              <a:pathLst>
                <a:path h="624921" w="2436971">
                  <a:moveTo>
                    <a:pt x="0" y="0"/>
                  </a:moveTo>
                  <a:lnTo>
                    <a:pt x="2436971" y="0"/>
                  </a:lnTo>
                  <a:lnTo>
                    <a:pt x="2436971" y="624921"/>
                  </a:lnTo>
                  <a:lnTo>
                    <a:pt x="0" y="62492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403" r="0" b="-1256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2436965" cy="6249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2160" spc="432">
                  <a:solidFill>
                    <a:srgbClr val="E8743B"/>
                  </a:solidFill>
                  <a:latin typeface="Roca Two"/>
                  <a:ea typeface="Roca Two"/>
                  <a:cs typeface="Roca Two"/>
                  <a:sym typeface="Roca Two"/>
                </a:rPr>
                <a:t>DEPLOY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943134" y="7929267"/>
            <a:ext cx="4102627" cy="523875"/>
            <a:chOff x="0" y="0"/>
            <a:chExt cx="5470169" cy="6985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470168" cy="698499"/>
            </a:xfrm>
            <a:custGeom>
              <a:avLst/>
              <a:gdLst/>
              <a:ahLst/>
              <a:cxnLst/>
              <a:rect r="r" b="b" t="t" l="l"/>
              <a:pathLst>
                <a:path h="698499" w="5470168">
                  <a:moveTo>
                    <a:pt x="0" y="0"/>
                  </a:moveTo>
                  <a:lnTo>
                    <a:pt x="5470168" y="0"/>
                  </a:lnTo>
                  <a:lnTo>
                    <a:pt x="5470168" y="698499"/>
                  </a:lnTo>
                  <a:lnTo>
                    <a:pt x="0" y="69849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2593" r="0" b="-102593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5470169" cy="698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92"/>
                </a:lnSpc>
              </a:pPr>
              <a:r>
                <a:rPr lang="en-US" sz="3160">
                  <a:solidFill>
                    <a:srgbClr val="16324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Docker Compose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6943134" y="8568776"/>
            <a:ext cx="5437232" cy="865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6"/>
              </a:lnSpc>
            </a:pPr>
            <a:r>
              <a:rPr lang="en-US" sz="2440">
                <a:solidFill>
                  <a:srgbClr val="6E7A86"/>
                </a:solidFill>
                <a:latin typeface="IBM Plex Sans"/>
                <a:ea typeface="IBM Plex Sans"/>
                <a:cs typeface="IBM Plex Sans"/>
                <a:sym typeface="IBM Plex Sans"/>
              </a:rPr>
              <a:t>Reproducible multi-container</a:t>
            </a:r>
          </a:p>
          <a:p>
            <a:pPr algn="l">
              <a:lnSpc>
                <a:spcPts val="3366"/>
              </a:lnSpc>
            </a:pPr>
            <a:r>
              <a:rPr lang="en-US" sz="2440">
                <a:solidFill>
                  <a:srgbClr val="6E7A86"/>
                </a:solidFill>
                <a:latin typeface="IBM Plex Sans"/>
                <a:ea typeface="IBM Plex Sans"/>
                <a:cs typeface="IBM Plex Sans"/>
                <a:sym typeface="IBM Plex Sans"/>
              </a:rPr>
              <a:t>deployment of all services.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12131945" y="6836645"/>
            <a:ext cx="5057775" cy="3371850"/>
            <a:chOff x="0" y="0"/>
            <a:chExt cx="6743700" cy="44958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743700" cy="4495800"/>
            </a:xfrm>
            <a:custGeom>
              <a:avLst/>
              <a:gdLst/>
              <a:ahLst/>
              <a:cxnLst/>
              <a:rect r="r" b="b" t="t" l="l"/>
              <a:pathLst>
                <a:path h="4495800" w="6743700">
                  <a:moveTo>
                    <a:pt x="0" y="316992"/>
                  </a:moveTo>
                  <a:cubicBezTo>
                    <a:pt x="0" y="141986"/>
                    <a:pt x="141986" y="0"/>
                    <a:pt x="316992" y="0"/>
                  </a:cubicBezTo>
                  <a:lnTo>
                    <a:pt x="6426708" y="0"/>
                  </a:lnTo>
                  <a:cubicBezTo>
                    <a:pt x="6601714" y="0"/>
                    <a:pt x="6743700" y="141986"/>
                    <a:pt x="6743700" y="316992"/>
                  </a:cubicBezTo>
                  <a:lnTo>
                    <a:pt x="6743700" y="4178808"/>
                  </a:lnTo>
                  <a:cubicBezTo>
                    <a:pt x="6743700" y="4353941"/>
                    <a:pt x="6601714" y="4495800"/>
                    <a:pt x="6426708" y="4495800"/>
                  </a:cubicBezTo>
                  <a:lnTo>
                    <a:pt x="316992" y="4495800"/>
                  </a:lnTo>
                  <a:cubicBezTo>
                    <a:pt x="141986" y="4495800"/>
                    <a:pt x="0" y="4353814"/>
                    <a:pt x="0" y="417880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2460043" y="7251202"/>
            <a:ext cx="2175015" cy="468691"/>
            <a:chOff x="0" y="0"/>
            <a:chExt cx="2900020" cy="624921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900024" cy="624921"/>
            </a:xfrm>
            <a:custGeom>
              <a:avLst/>
              <a:gdLst/>
              <a:ahLst/>
              <a:cxnLst/>
              <a:rect r="r" b="b" t="t" l="l"/>
              <a:pathLst>
                <a:path h="624921" w="2900024">
                  <a:moveTo>
                    <a:pt x="0" y="0"/>
                  </a:moveTo>
                  <a:lnTo>
                    <a:pt x="2900024" y="0"/>
                  </a:lnTo>
                  <a:lnTo>
                    <a:pt x="2900024" y="624921"/>
                  </a:lnTo>
                  <a:lnTo>
                    <a:pt x="0" y="62492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841" r="0" b="-27003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2900020" cy="6249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2160" spc="432">
                  <a:solidFill>
                    <a:srgbClr val="16324F"/>
                  </a:solidFill>
                  <a:latin typeface="Roca Two"/>
                  <a:ea typeface="Roca Two"/>
                  <a:cs typeface="Roca Two"/>
                  <a:sym typeface="Roca Two"/>
                </a:rPr>
                <a:t>GATEWAY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2460043" y="7929267"/>
            <a:ext cx="1453163" cy="523875"/>
            <a:chOff x="0" y="0"/>
            <a:chExt cx="1937550" cy="6985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937544" cy="698499"/>
            </a:xfrm>
            <a:custGeom>
              <a:avLst/>
              <a:gdLst/>
              <a:ahLst/>
              <a:cxnLst/>
              <a:rect r="r" b="b" t="t" l="l"/>
              <a:pathLst>
                <a:path h="698499" w="1937544">
                  <a:moveTo>
                    <a:pt x="0" y="0"/>
                  </a:moveTo>
                  <a:lnTo>
                    <a:pt x="1937544" y="0"/>
                  </a:lnTo>
                  <a:lnTo>
                    <a:pt x="1937544" y="698499"/>
                  </a:lnTo>
                  <a:lnTo>
                    <a:pt x="0" y="69849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9" r="0" b="-4049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1937550" cy="698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92"/>
                </a:lnSpc>
              </a:pPr>
              <a:r>
                <a:rPr lang="en-US" sz="3160">
                  <a:solidFill>
                    <a:srgbClr val="16324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Nginx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12460043" y="8568776"/>
            <a:ext cx="5680424" cy="865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6"/>
              </a:lnSpc>
            </a:pPr>
            <a:r>
              <a:rPr lang="en-US" sz="2440">
                <a:solidFill>
                  <a:srgbClr val="6E7A86"/>
                </a:solidFill>
                <a:latin typeface="IBM Plex Sans"/>
                <a:ea typeface="IBM Plex Sans"/>
                <a:cs typeface="IBM Plex Sans"/>
                <a:sym typeface="IBM Plex Sans"/>
              </a:rPr>
              <a:t>Reverse proxy routing traffic to</a:t>
            </a:r>
          </a:p>
          <a:p>
            <a:pPr algn="l">
              <a:lnSpc>
                <a:spcPts val="3366"/>
              </a:lnSpc>
            </a:pPr>
            <a:r>
              <a:rPr lang="en-US" sz="2440">
                <a:solidFill>
                  <a:srgbClr val="6E7A86"/>
                </a:solidFill>
                <a:latin typeface="IBM Plex Sans"/>
                <a:ea typeface="IBM Plex Sans"/>
                <a:cs typeface="IBM Plex Sans"/>
                <a:sym typeface="IBM Plex Sans"/>
              </a:rPr>
              <a:t>frontend and backend.</a:t>
            </a:r>
          </a:p>
        </p:txBody>
      </p:sp>
      <p:sp>
        <p:nvSpPr>
          <p:cNvPr name="Freeform 64" id="64" descr="preencoded.png"/>
          <p:cNvSpPr/>
          <p:nvPr/>
        </p:nvSpPr>
        <p:spPr>
          <a:xfrm flipH="false" flipV="false" rot="0">
            <a:off x="1098128" y="3007147"/>
            <a:ext cx="5057775" cy="3371850"/>
          </a:xfrm>
          <a:custGeom>
            <a:avLst/>
            <a:gdLst/>
            <a:ahLst/>
            <a:cxnLst/>
            <a:rect r="r" b="b" t="t" l="l"/>
            <a:pathLst>
              <a:path h="3371850" w="5057775">
                <a:moveTo>
                  <a:pt x="0" y="0"/>
                </a:moveTo>
                <a:lnTo>
                  <a:pt x="5057775" y="0"/>
                </a:lnTo>
                <a:lnTo>
                  <a:pt x="5057775" y="3371850"/>
                </a:lnTo>
                <a:lnTo>
                  <a:pt x="0" y="33718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46" r="0" b="-47"/>
            </a:stretch>
          </a:blipFill>
        </p:spPr>
      </p:sp>
      <p:sp>
        <p:nvSpPr>
          <p:cNvPr name="Freeform 65" id="65" descr="preencoded.png"/>
          <p:cNvSpPr/>
          <p:nvPr/>
        </p:nvSpPr>
        <p:spPr>
          <a:xfrm flipH="false" flipV="false" rot="0">
            <a:off x="6615036" y="3007147"/>
            <a:ext cx="5057775" cy="3371850"/>
          </a:xfrm>
          <a:custGeom>
            <a:avLst/>
            <a:gdLst/>
            <a:ahLst/>
            <a:cxnLst/>
            <a:rect r="r" b="b" t="t" l="l"/>
            <a:pathLst>
              <a:path h="3371850" w="5057775">
                <a:moveTo>
                  <a:pt x="0" y="0"/>
                </a:moveTo>
                <a:lnTo>
                  <a:pt x="5057775" y="0"/>
                </a:lnTo>
                <a:lnTo>
                  <a:pt x="5057775" y="3371850"/>
                </a:lnTo>
                <a:lnTo>
                  <a:pt x="0" y="33718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46" r="0" b="-47"/>
            </a:stretch>
          </a:blipFill>
        </p:spPr>
      </p:sp>
      <p:sp>
        <p:nvSpPr>
          <p:cNvPr name="Freeform 66" id="66" descr="preencoded.png"/>
          <p:cNvSpPr/>
          <p:nvPr/>
        </p:nvSpPr>
        <p:spPr>
          <a:xfrm flipH="false" flipV="false" rot="0">
            <a:off x="12131945" y="3007147"/>
            <a:ext cx="5057775" cy="3371850"/>
          </a:xfrm>
          <a:custGeom>
            <a:avLst/>
            <a:gdLst/>
            <a:ahLst/>
            <a:cxnLst/>
            <a:rect r="r" b="b" t="t" l="l"/>
            <a:pathLst>
              <a:path h="3371850" w="5057775">
                <a:moveTo>
                  <a:pt x="0" y="0"/>
                </a:moveTo>
                <a:lnTo>
                  <a:pt x="5057775" y="0"/>
                </a:lnTo>
                <a:lnTo>
                  <a:pt x="5057775" y="3371850"/>
                </a:lnTo>
                <a:lnTo>
                  <a:pt x="0" y="33718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46" r="0" b="-47"/>
            </a:stretch>
          </a:blipFill>
        </p:spPr>
      </p:sp>
      <p:sp>
        <p:nvSpPr>
          <p:cNvPr name="Freeform 67" id="67" descr="preencoded.png"/>
          <p:cNvSpPr/>
          <p:nvPr/>
        </p:nvSpPr>
        <p:spPr>
          <a:xfrm flipH="false" flipV="false" rot="0">
            <a:off x="1100061" y="6836645"/>
            <a:ext cx="5057775" cy="3371850"/>
          </a:xfrm>
          <a:custGeom>
            <a:avLst/>
            <a:gdLst/>
            <a:ahLst/>
            <a:cxnLst/>
            <a:rect r="r" b="b" t="t" l="l"/>
            <a:pathLst>
              <a:path h="3371850" w="5057775">
                <a:moveTo>
                  <a:pt x="0" y="0"/>
                </a:moveTo>
                <a:lnTo>
                  <a:pt x="5057775" y="0"/>
                </a:lnTo>
                <a:lnTo>
                  <a:pt x="5057775" y="3371850"/>
                </a:lnTo>
                <a:lnTo>
                  <a:pt x="0" y="33718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46" r="0" b="-47"/>
            </a:stretch>
          </a:blipFill>
        </p:spPr>
      </p:sp>
      <p:sp>
        <p:nvSpPr>
          <p:cNvPr name="Freeform 68" id="68" descr="preencoded.png"/>
          <p:cNvSpPr/>
          <p:nvPr/>
        </p:nvSpPr>
        <p:spPr>
          <a:xfrm flipH="false" flipV="false" rot="0">
            <a:off x="6615036" y="6836645"/>
            <a:ext cx="5057775" cy="3371850"/>
          </a:xfrm>
          <a:custGeom>
            <a:avLst/>
            <a:gdLst/>
            <a:ahLst/>
            <a:cxnLst/>
            <a:rect r="r" b="b" t="t" l="l"/>
            <a:pathLst>
              <a:path h="3371850" w="5057775">
                <a:moveTo>
                  <a:pt x="0" y="0"/>
                </a:moveTo>
                <a:lnTo>
                  <a:pt x="5057775" y="0"/>
                </a:lnTo>
                <a:lnTo>
                  <a:pt x="5057775" y="3371850"/>
                </a:lnTo>
                <a:lnTo>
                  <a:pt x="0" y="33718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46" r="0" b="-47"/>
            </a:stretch>
          </a:blipFill>
        </p:spPr>
      </p:sp>
      <p:sp>
        <p:nvSpPr>
          <p:cNvPr name="Freeform 69" id="69" descr="preencoded.png"/>
          <p:cNvSpPr/>
          <p:nvPr/>
        </p:nvSpPr>
        <p:spPr>
          <a:xfrm flipH="false" flipV="false" rot="0">
            <a:off x="12131945" y="6836645"/>
            <a:ext cx="5057775" cy="3371850"/>
          </a:xfrm>
          <a:custGeom>
            <a:avLst/>
            <a:gdLst/>
            <a:ahLst/>
            <a:cxnLst/>
            <a:rect r="r" b="b" t="t" l="l"/>
            <a:pathLst>
              <a:path h="3371850" w="5057775">
                <a:moveTo>
                  <a:pt x="0" y="0"/>
                </a:moveTo>
                <a:lnTo>
                  <a:pt x="5057775" y="0"/>
                </a:lnTo>
                <a:lnTo>
                  <a:pt x="5057775" y="3371850"/>
                </a:lnTo>
                <a:lnTo>
                  <a:pt x="0" y="33718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46" r="0" b="-47"/>
            </a:stretch>
          </a:blipFill>
        </p:spPr>
      </p:sp>
      <p:sp>
        <p:nvSpPr>
          <p:cNvPr name="TextBox 70" id="70"/>
          <p:cNvSpPr txBox="true"/>
          <p:nvPr/>
        </p:nvSpPr>
        <p:spPr>
          <a:xfrm rot="0">
            <a:off x="16954500" y="9496425"/>
            <a:ext cx="7620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6E7A86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27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12824662" y="582742"/>
            <a:ext cx="7362595" cy="891916"/>
            <a:chOff x="0" y="0"/>
            <a:chExt cx="9816793" cy="1189222"/>
          </a:xfrm>
        </p:grpSpPr>
        <p:grpSp>
          <p:nvGrpSpPr>
            <p:cNvPr name="Group 72" id="72"/>
            <p:cNvGrpSpPr/>
            <p:nvPr/>
          </p:nvGrpSpPr>
          <p:grpSpPr>
            <a:xfrm rot="0">
              <a:off x="0" y="0"/>
              <a:ext cx="9816793" cy="1189222"/>
              <a:chOff x="0" y="0"/>
              <a:chExt cx="2829729" cy="342798"/>
            </a:xfrm>
          </p:grpSpPr>
          <p:sp>
            <p:nvSpPr>
              <p:cNvPr name="Freeform 73" id="73"/>
              <p:cNvSpPr/>
              <p:nvPr/>
            </p:nvSpPr>
            <p:spPr>
              <a:xfrm flipH="false" flipV="false" rot="0">
                <a:off x="0" y="0"/>
                <a:ext cx="2829729" cy="342798"/>
              </a:xfrm>
              <a:custGeom>
                <a:avLst/>
                <a:gdLst/>
                <a:ahLst/>
                <a:cxnLst/>
                <a:rect r="r" b="b" t="t" l="l"/>
                <a:pathLst>
                  <a:path h="342798" w="2829729">
                    <a:moveTo>
                      <a:pt x="105152" y="0"/>
                    </a:moveTo>
                    <a:lnTo>
                      <a:pt x="2724577" y="0"/>
                    </a:lnTo>
                    <a:cubicBezTo>
                      <a:pt x="2782651" y="0"/>
                      <a:pt x="2829729" y="47078"/>
                      <a:pt x="2829729" y="105152"/>
                    </a:cubicBezTo>
                    <a:lnTo>
                      <a:pt x="2829729" y="237646"/>
                    </a:lnTo>
                    <a:cubicBezTo>
                      <a:pt x="2829729" y="295720"/>
                      <a:pt x="2782651" y="342798"/>
                      <a:pt x="2724577" y="342798"/>
                    </a:cubicBezTo>
                    <a:lnTo>
                      <a:pt x="105152" y="342798"/>
                    </a:lnTo>
                    <a:cubicBezTo>
                      <a:pt x="47078" y="342798"/>
                      <a:pt x="0" y="295720"/>
                      <a:pt x="0" y="237646"/>
                    </a:cubicBezTo>
                    <a:lnTo>
                      <a:pt x="0" y="105152"/>
                    </a:lnTo>
                    <a:cubicBezTo>
                      <a:pt x="0" y="47078"/>
                      <a:pt x="47078" y="0"/>
                      <a:pt x="1051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57150" cap="rnd">
                <a:solidFill>
                  <a:srgbClr val="034088"/>
                </a:solidFill>
                <a:prstDash val="solid"/>
                <a:round/>
              </a:ln>
            </p:spPr>
          </p:sp>
          <p:sp>
            <p:nvSpPr>
              <p:cNvPr name="TextBox 74" id="74"/>
              <p:cNvSpPr txBox="true"/>
              <p:nvPr/>
            </p:nvSpPr>
            <p:spPr>
              <a:xfrm>
                <a:off x="0" y="-66675"/>
                <a:ext cx="2829729" cy="4094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180"/>
                  </a:lnSpc>
                </a:pPr>
              </a:p>
            </p:txBody>
          </p:sp>
        </p:grpSp>
        <p:sp>
          <p:nvSpPr>
            <p:cNvPr name="TextBox 75" id="75"/>
            <p:cNvSpPr txBox="true"/>
            <p:nvPr/>
          </p:nvSpPr>
          <p:spPr>
            <a:xfrm rot="0">
              <a:off x="571643" y="190484"/>
              <a:ext cx="8673508" cy="741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50"/>
                </a:lnSpc>
                <a:spcBef>
                  <a:spcPct val="0"/>
                </a:spcBef>
              </a:pPr>
              <a:r>
                <a:rPr lang="en-US" b="true" sz="3321">
                  <a:solidFill>
                    <a:srgbClr val="16324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Implementation &amp; Stack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95375" y="2381250"/>
            <a:ext cx="7810500" cy="5314950"/>
            <a:chOff x="0" y="0"/>
            <a:chExt cx="10414000" cy="7086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14000" cy="7086600"/>
            </a:xfrm>
            <a:custGeom>
              <a:avLst/>
              <a:gdLst/>
              <a:ahLst/>
              <a:cxnLst/>
              <a:rect r="r" b="b" t="t" l="l"/>
              <a:pathLst>
                <a:path h="7086600" w="10414000">
                  <a:moveTo>
                    <a:pt x="708660" y="0"/>
                  </a:moveTo>
                  <a:lnTo>
                    <a:pt x="9705340" y="0"/>
                  </a:lnTo>
                  <a:cubicBezTo>
                    <a:pt x="10096722" y="0"/>
                    <a:pt x="10414000" y="317278"/>
                    <a:pt x="10414000" y="708660"/>
                  </a:cubicBezTo>
                  <a:lnTo>
                    <a:pt x="10414000" y="6377940"/>
                  </a:lnTo>
                  <a:cubicBezTo>
                    <a:pt x="10414000" y="6769322"/>
                    <a:pt x="10096722" y="7086600"/>
                    <a:pt x="9705340" y="7086600"/>
                  </a:cubicBezTo>
                  <a:lnTo>
                    <a:pt x="708660" y="7086600"/>
                  </a:lnTo>
                  <a:cubicBezTo>
                    <a:pt x="317278" y="7086600"/>
                    <a:pt x="0" y="6769322"/>
                    <a:pt x="0" y="6377940"/>
                  </a:cubicBezTo>
                  <a:lnTo>
                    <a:pt x="0" y="708660"/>
                  </a:lnTo>
                  <a:cubicBezTo>
                    <a:pt x="0" y="317278"/>
                    <a:pt x="317278" y="0"/>
                    <a:pt x="70866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0414000" cy="710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428750" y="2609850"/>
            <a:ext cx="666750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16324F"/>
                </a:solidFill>
                <a:latin typeface="IBM Plex Sans"/>
                <a:ea typeface="IBM Plex Sans"/>
                <a:cs typeface="IBM Plex Sans"/>
                <a:sym typeface="IBM Plex Sans"/>
              </a:rPr>
              <a:t>Why Groq for RequAI?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19250" y="4441825"/>
            <a:ext cx="6477000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1A2733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  Real-time Speed: Inference 10x-20x faster than standard GPUs.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19250" y="5295900"/>
            <a:ext cx="6477000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1A2733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  Cost Effectiveness: Free tier API allows research deployment without budget strain.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19250" y="6149975"/>
            <a:ext cx="6477000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1A2733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  Zero Lag: Essential for a fluid conversational experience on Wassit Online.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572625" y="2667000"/>
            <a:ext cx="7143750" cy="4787740"/>
            <a:chOff x="0" y="0"/>
            <a:chExt cx="10475849" cy="702091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475849" cy="7020975"/>
            </a:xfrm>
            <a:custGeom>
              <a:avLst/>
              <a:gdLst/>
              <a:ahLst/>
              <a:cxnLst/>
              <a:rect r="r" b="b" t="t" l="l"/>
              <a:pathLst>
                <a:path h="7020975" w="10475849">
                  <a:moveTo>
                    <a:pt x="0" y="0"/>
                  </a:moveTo>
                  <a:lnTo>
                    <a:pt x="10475849" y="0"/>
                  </a:lnTo>
                  <a:lnTo>
                    <a:pt x="10475849" y="7020975"/>
                  </a:lnTo>
                  <a:lnTo>
                    <a:pt x="0" y="70209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257" r="0" b="-4256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428750" y="3182620"/>
            <a:ext cx="6667500" cy="118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9"/>
              </a:lnSpc>
              <a:spcBef>
                <a:spcPct val="0"/>
              </a:spcBef>
            </a:pPr>
            <a:r>
              <a:rPr lang="en-US" sz="2299" strike="noStrike" u="none">
                <a:solidFill>
                  <a:srgbClr val="6E7A86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Traditional GPUs create bottlenecks for real-time</a:t>
            </a:r>
          </a:p>
          <a:p>
            <a:pPr algn="l" marL="0" indent="0" lvl="0">
              <a:lnSpc>
                <a:spcPts val="3219"/>
              </a:lnSpc>
              <a:spcBef>
                <a:spcPct val="0"/>
              </a:spcBef>
            </a:pPr>
            <a:r>
              <a:rPr lang="en-US" sz="2299" strike="noStrike" u="none">
                <a:solidFill>
                  <a:srgbClr val="6E7A86"/>
                </a:solidFill>
                <a:latin typeface="IBM Plex Sans"/>
                <a:ea typeface="IBM Plex Sans"/>
                <a:cs typeface="IBM Plex Sans"/>
                <a:sym typeface="IBM Plex Sans"/>
              </a:rPr>
              <a:t>multilingual generation. We utilize Groq's LPU</a:t>
            </a:r>
          </a:p>
          <a:p>
            <a:pPr algn="l" marL="0" indent="0" lvl="0">
              <a:lnSpc>
                <a:spcPts val="3219"/>
              </a:lnSpc>
              <a:spcBef>
                <a:spcPct val="0"/>
              </a:spcBef>
            </a:pPr>
            <a:r>
              <a:rPr lang="en-US" sz="2299" strike="noStrike" u="none">
                <a:solidFill>
                  <a:srgbClr val="6E7A86"/>
                </a:solidFill>
                <a:latin typeface="IBM Plex Sans"/>
                <a:ea typeface="IBM Plex Sans"/>
                <a:cs typeface="IBM Plex Sans"/>
                <a:sym typeface="IBM Plex Sans"/>
              </a:rPr>
              <a:t>(Language Processing Unit) infrastructure.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954500" y="9496425"/>
            <a:ext cx="7620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6E7A86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21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692776" y="582742"/>
            <a:ext cx="7362595" cy="891916"/>
            <a:chOff x="0" y="0"/>
            <a:chExt cx="9816793" cy="1189222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9816793" cy="1189222"/>
              <a:chOff x="0" y="0"/>
              <a:chExt cx="2829729" cy="342798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829729" cy="342798"/>
              </a:xfrm>
              <a:custGeom>
                <a:avLst/>
                <a:gdLst/>
                <a:ahLst/>
                <a:cxnLst/>
                <a:rect r="r" b="b" t="t" l="l"/>
                <a:pathLst>
                  <a:path h="342798" w="2829729">
                    <a:moveTo>
                      <a:pt x="105152" y="0"/>
                    </a:moveTo>
                    <a:lnTo>
                      <a:pt x="2724577" y="0"/>
                    </a:lnTo>
                    <a:cubicBezTo>
                      <a:pt x="2782651" y="0"/>
                      <a:pt x="2829729" y="47078"/>
                      <a:pt x="2829729" y="105152"/>
                    </a:cubicBezTo>
                    <a:lnTo>
                      <a:pt x="2829729" y="237646"/>
                    </a:lnTo>
                    <a:cubicBezTo>
                      <a:pt x="2829729" y="295720"/>
                      <a:pt x="2782651" y="342798"/>
                      <a:pt x="2724577" y="342798"/>
                    </a:cubicBezTo>
                    <a:lnTo>
                      <a:pt x="105152" y="342798"/>
                    </a:lnTo>
                    <a:cubicBezTo>
                      <a:pt x="47078" y="342798"/>
                      <a:pt x="0" y="295720"/>
                      <a:pt x="0" y="237646"/>
                    </a:cubicBezTo>
                    <a:lnTo>
                      <a:pt x="0" y="105152"/>
                    </a:lnTo>
                    <a:cubicBezTo>
                      <a:pt x="0" y="47078"/>
                      <a:pt x="47078" y="0"/>
                      <a:pt x="1051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57150" cap="rnd">
                <a:solidFill>
                  <a:srgbClr val="034088"/>
                </a:solidFill>
                <a:prstDash val="solid"/>
                <a:round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66675"/>
                <a:ext cx="2829729" cy="4094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180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571643" y="190484"/>
              <a:ext cx="8673508" cy="741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50"/>
                </a:lnSpc>
                <a:spcBef>
                  <a:spcPct val="0"/>
                </a:spcBef>
              </a:pPr>
              <a:r>
                <a:rPr lang="en-US" b="true" sz="3321">
                  <a:solidFill>
                    <a:srgbClr val="16324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Implementation &amp; Stack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28750" y="582742"/>
            <a:ext cx="10486577" cy="1262543"/>
            <a:chOff x="0" y="0"/>
            <a:chExt cx="13982103" cy="168339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982105" cy="1683390"/>
            </a:xfrm>
            <a:custGeom>
              <a:avLst/>
              <a:gdLst/>
              <a:ahLst/>
              <a:cxnLst/>
              <a:rect r="r" b="b" t="t" l="l"/>
              <a:pathLst>
                <a:path h="1683390" w="13982105">
                  <a:moveTo>
                    <a:pt x="0" y="0"/>
                  </a:moveTo>
                  <a:lnTo>
                    <a:pt x="13982105" y="0"/>
                  </a:lnTo>
                  <a:lnTo>
                    <a:pt x="13982105" y="1683390"/>
                  </a:lnTo>
                  <a:lnTo>
                    <a:pt x="0" y="16833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4874" r="0" b="-9880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13982103" cy="1692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911"/>
                </a:lnSpc>
              </a:pPr>
              <a:r>
                <a:rPr lang="en-US" b="true" sz="5759" spc="-143">
                  <a:solidFill>
                    <a:srgbClr val="16324F"/>
                  </a:solidFill>
                  <a:latin typeface="Roca Two Bold"/>
                  <a:ea typeface="Roca Two Bold"/>
                  <a:cs typeface="Roca Two Bold"/>
                  <a:sym typeface="Roca Two Bold"/>
                </a:rPr>
                <a:t>Inference Speed: The Groq LPU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657" t="0" r="657" b="0"/>
          <a:stretch>
            <a:fillRect/>
          </a:stretch>
        </p:blipFill>
        <p:spPr>
          <a:xfrm flipH="false" flipV="false" rot="0">
            <a:off x="0" y="29431"/>
            <a:ext cx="18288000" cy="104241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886717" y="3204909"/>
            <a:ext cx="11969044" cy="3877182"/>
            <a:chOff x="0" y="0"/>
            <a:chExt cx="5196705" cy="16833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6710" cy="1683390"/>
            </a:xfrm>
            <a:custGeom>
              <a:avLst/>
              <a:gdLst/>
              <a:ahLst/>
              <a:cxnLst/>
              <a:rect r="r" b="b" t="t" l="l"/>
              <a:pathLst>
                <a:path h="1683390" w="5196710">
                  <a:moveTo>
                    <a:pt x="0" y="0"/>
                  </a:moveTo>
                  <a:lnTo>
                    <a:pt x="5196710" y="0"/>
                  </a:lnTo>
                  <a:lnTo>
                    <a:pt x="5196710" y="1683390"/>
                  </a:lnTo>
                  <a:lnTo>
                    <a:pt x="0" y="16833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135" r="-78055" b="-4406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5196705" cy="1683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551"/>
                </a:lnSpc>
              </a:pPr>
              <a:r>
                <a:rPr lang="en-US" b="true" sz="10459" spc="-261">
                  <a:solidFill>
                    <a:srgbClr val="16324F"/>
                  </a:solidFill>
                  <a:latin typeface="Roca Two Bold"/>
                  <a:ea typeface="Roca Two Bold"/>
                  <a:cs typeface="Roca Two Bold"/>
                  <a:sym typeface="Roca Two Bold"/>
                </a:rPr>
                <a:t>Startup asp</a:t>
              </a:r>
              <a:r>
                <a:rPr lang="en-US" b="true" sz="10459" spc="-261">
                  <a:solidFill>
                    <a:srgbClr val="16324F"/>
                  </a:solidFill>
                  <a:latin typeface="Roca Two Bold"/>
                  <a:ea typeface="Roca Two Bold"/>
                  <a:cs typeface="Roca Two Bold"/>
                  <a:sym typeface="Roca Two Bold"/>
                </a:rPr>
                <a:t>ect​ 1275 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6954500" y="9496425"/>
            <a:ext cx="7620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6E7A86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57708" y="857388"/>
            <a:ext cx="13028024" cy="1262543"/>
            <a:chOff x="0" y="0"/>
            <a:chExt cx="17370698" cy="1683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370701" cy="1683390"/>
            </a:xfrm>
            <a:custGeom>
              <a:avLst/>
              <a:gdLst/>
              <a:ahLst/>
              <a:cxnLst/>
              <a:rect r="r" b="b" t="t" l="l"/>
              <a:pathLst>
                <a:path h="1683390" w="17370701">
                  <a:moveTo>
                    <a:pt x="0" y="0"/>
                  </a:moveTo>
                  <a:lnTo>
                    <a:pt x="17370701" y="0"/>
                  </a:lnTo>
                  <a:lnTo>
                    <a:pt x="17370701" y="1683390"/>
                  </a:lnTo>
                  <a:lnTo>
                    <a:pt x="0" y="16833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582" r="63917" b="-951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7370698" cy="1692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911"/>
                </a:lnSpc>
              </a:pPr>
              <a:r>
                <a:rPr lang="en-US" sz="5759" spc="-143">
                  <a:solidFill>
                    <a:srgbClr val="16324F"/>
                  </a:solidFill>
                  <a:latin typeface="Roca Two"/>
                  <a:ea typeface="Roca Two"/>
                  <a:cs typeface="Roca Two"/>
                  <a:sym typeface="Roca Two"/>
                </a:rPr>
                <a:t>La</a:t>
              </a:r>
              <a:r>
                <a:rPr lang="en-US" sz="5759" spc="-143">
                  <a:solidFill>
                    <a:srgbClr val="16324F"/>
                  </a:solidFill>
                  <a:latin typeface="Roca Two"/>
                  <a:ea typeface="Roca Two"/>
                  <a:cs typeface="Roca Two"/>
                  <a:sym typeface="Roca Two"/>
                </a:rPr>
                <a:t>bel Application Submission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2481597"/>
            <a:ext cx="16230600" cy="6141881"/>
          </a:xfrm>
          <a:custGeom>
            <a:avLst/>
            <a:gdLst/>
            <a:ahLst/>
            <a:cxnLst/>
            <a:rect r="r" b="b" t="t" l="l"/>
            <a:pathLst>
              <a:path h="6141881" w="16230600">
                <a:moveTo>
                  <a:pt x="0" y="0"/>
                </a:moveTo>
                <a:lnTo>
                  <a:pt x="16230600" y="0"/>
                </a:lnTo>
                <a:lnTo>
                  <a:pt x="16230600" y="6141881"/>
                </a:lnTo>
                <a:lnTo>
                  <a:pt x="0" y="61418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0977" r="0" b="-17621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954500" y="9496425"/>
            <a:ext cx="7620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6E7A86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30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3654202" y="582742"/>
            <a:ext cx="7362595" cy="891916"/>
            <a:chOff x="0" y="0"/>
            <a:chExt cx="9816793" cy="1189222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9816793" cy="1189222"/>
              <a:chOff x="0" y="0"/>
              <a:chExt cx="2829729" cy="34279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829729" cy="342798"/>
              </a:xfrm>
              <a:custGeom>
                <a:avLst/>
                <a:gdLst/>
                <a:ahLst/>
                <a:cxnLst/>
                <a:rect r="r" b="b" t="t" l="l"/>
                <a:pathLst>
                  <a:path h="342798" w="2829729">
                    <a:moveTo>
                      <a:pt x="105152" y="0"/>
                    </a:moveTo>
                    <a:lnTo>
                      <a:pt x="2724577" y="0"/>
                    </a:lnTo>
                    <a:cubicBezTo>
                      <a:pt x="2782651" y="0"/>
                      <a:pt x="2829729" y="47078"/>
                      <a:pt x="2829729" y="105152"/>
                    </a:cubicBezTo>
                    <a:lnTo>
                      <a:pt x="2829729" y="237646"/>
                    </a:lnTo>
                    <a:cubicBezTo>
                      <a:pt x="2829729" y="295720"/>
                      <a:pt x="2782651" y="342798"/>
                      <a:pt x="2724577" y="342798"/>
                    </a:cubicBezTo>
                    <a:lnTo>
                      <a:pt x="105152" y="342798"/>
                    </a:lnTo>
                    <a:cubicBezTo>
                      <a:pt x="47078" y="342798"/>
                      <a:pt x="0" y="295720"/>
                      <a:pt x="0" y="237646"/>
                    </a:cubicBezTo>
                    <a:lnTo>
                      <a:pt x="0" y="105152"/>
                    </a:lnTo>
                    <a:cubicBezTo>
                      <a:pt x="0" y="47078"/>
                      <a:pt x="47078" y="0"/>
                      <a:pt x="1051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57150" cap="rnd">
                <a:solidFill>
                  <a:srgbClr val="034088"/>
                </a:solidFill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66675"/>
                <a:ext cx="2829729" cy="4094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180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571643" y="190484"/>
              <a:ext cx="8673508" cy="741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50"/>
                </a:lnSpc>
                <a:spcBef>
                  <a:spcPct val="0"/>
                </a:spcBef>
              </a:pPr>
              <a:r>
                <a:rPr lang="en-US" b="true" sz="3321">
                  <a:solidFill>
                    <a:srgbClr val="16324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Startup aspect​ 1275 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4623" y="282817"/>
            <a:ext cx="15958754" cy="119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48"/>
              </a:lnSpc>
            </a:pPr>
            <a:r>
              <a:rPr lang="en-US" b="true" sz="8317">
                <a:solidFill>
                  <a:srgbClr val="16324F"/>
                </a:solidFill>
                <a:latin typeface="Roca Two Bold"/>
                <a:ea typeface="Roca Two Bold"/>
                <a:cs typeface="Roca Two Bold"/>
                <a:sym typeface="Roca Two Bold"/>
              </a:rPr>
              <a:t>Add</a:t>
            </a:r>
            <a:r>
              <a:rPr lang="en-US" b="true" sz="8317">
                <a:solidFill>
                  <a:srgbClr val="16324F"/>
                </a:solidFill>
                <a:latin typeface="Roca Two Bold"/>
                <a:ea typeface="Roca Two Bold"/>
                <a:cs typeface="Roca Two Bold"/>
                <a:sym typeface="Roca Two Bold"/>
              </a:rPr>
              <a:t>ed V</a:t>
            </a:r>
            <a:r>
              <a:rPr lang="en-US" b="true" sz="8317">
                <a:solidFill>
                  <a:srgbClr val="16324F"/>
                </a:solidFill>
                <a:latin typeface="Roca Two Bold"/>
                <a:ea typeface="Roca Two Bold"/>
                <a:cs typeface="Roca Two Bold"/>
                <a:sym typeface="Roca Two Bold"/>
              </a:rPr>
              <a:t>alues 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6275076" y="-938693"/>
            <a:ext cx="9403349" cy="12798869"/>
            <a:chOff x="0" y="0"/>
            <a:chExt cx="12537798" cy="17065159"/>
          </a:xfrm>
        </p:grpSpPr>
        <p:grpSp>
          <p:nvGrpSpPr>
            <p:cNvPr name="Group 4" id="4"/>
            <p:cNvGrpSpPr/>
            <p:nvPr/>
          </p:nvGrpSpPr>
          <p:grpSpPr>
            <a:xfrm rot="5400000">
              <a:off x="-2574393" y="2574393"/>
              <a:ext cx="17065159" cy="11916374"/>
              <a:chOff x="0" y="0"/>
              <a:chExt cx="660400" cy="461149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60400" cy="461149"/>
              </a:xfrm>
              <a:custGeom>
                <a:avLst/>
                <a:gdLst/>
                <a:ahLst/>
                <a:cxnLst/>
                <a:rect r="r" b="b" t="t" l="l"/>
                <a:pathLst>
                  <a:path h="461149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0691"/>
                    </a:cubicBezTo>
                    <a:lnTo>
                      <a:pt x="660400" y="461149"/>
                    </a:lnTo>
                    <a:lnTo>
                      <a:pt x="0" y="461149"/>
                    </a:lnTo>
                    <a:lnTo>
                      <a:pt x="0" y="320795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ln w="66675" cap="sq">
                <a:solidFill>
                  <a:srgbClr val="BEC8DA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88900"/>
                <a:ext cx="660400" cy="37224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10423385" y="4526353"/>
              <a:ext cx="1621658" cy="1621658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D6298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10842642" y="6586402"/>
              <a:ext cx="1621658" cy="1621658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489A8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9458486" y="2623191"/>
              <a:ext cx="1621658" cy="1621658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22359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8796812" y="2968327"/>
              <a:ext cx="1878998" cy="9694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5600"/>
                </a:lnSpc>
              </a:pPr>
              <a:r>
                <a:rPr lang="en-US" b="true" sz="5000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01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9847971" y="4871490"/>
              <a:ext cx="1878998" cy="9694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5600"/>
                </a:lnSpc>
              </a:pPr>
              <a:r>
                <a:rPr lang="en-US" b="true" sz="5000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02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0294715" y="6945104"/>
              <a:ext cx="1878998" cy="9694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5600"/>
                </a:lnSpc>
              </a:pPr>
              <a:r>
                <a:rPr lang="en-US" b="true" sz="5000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03</a:t>
              </a:r>
            </a:p>
          </p:txBody>
        </p:sp>
        <p:grpSp>
          <p:nvGrpSpPr>
            <p:cNvPr name="Group 19" id="19"/>
            <p:cNvGrpSpPr/>
            <p:nvPr/>
          </p:nvGrpSpPr>
          <p:grpSpPr>
            <a:xfrm rot="0">
              <a:off x="10916140" y="8759233"/>
              <a:ext cx="1621658" cy="1621658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EC8DA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10294715" y="9039033"/>
              <a:ext cx="1878998" cy="9694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5600"/>
                </a:lnSpc>
              </a:pPr>
              <a:r>
                <a:rPr lang="en-US" b="true" sz="5000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04</a:t>
              </a:r>
            </a:p>
          </p:txBody>
        </p:sp>
        <p:grpSp>
          <p:nvGrpSpPr>
            <p:cNvPr name="Group 23" id="23"/>
            <p:cNvGrpSpPr/>
            <p:nvPr/>
          </p:nvGrpSpPr>
          <p:grpSpPr>
            <a:xfrm rot="0">
              <a:off x="9612556" y="12637789"/>
              <a:ext cx="1621658" cy="1621658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22359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8950882" y="12982925"/>
              <a:ext cx="1878998" cy="9694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5600"/>
                </a:lnSpc>
              </a:pPr>
              <a:r>
                <a:rPr lang="en-US" b="true" sz="5000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06</a:t>
              </a:r>
            </a:p>
          </p:txBody>
        </p:sp>
        <p:grpSp>
          <p:nvGrpSpPr>
            <p:cNvPr name="Group 27" id="27"/>
            <p:cNvGrpSpPr/>
            <p:nvPr/>
          </p:nvGrpSpPr>
          <p:grpSpPr>
            <a:xfrm rot="0">
              <a:off x="10436148" y="10752679"/>
              <a:ext cx="1621658" cy="1621658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D6298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9774474" y="11097815"/>
              <a:ext cx="1878998" cy="9694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5600"/>
                </a:lnSpc>
              </a:pPr>
              <a:r>
                <a:rPr lang="en-US" b="true" sz="5000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05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2373536" y="1343110"/>
            <a:ext cx="15115941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>
                <a:solidFill>
                  <a:srgbClr val="16324F"/>
                </a:solidFill>
                <a:latin typeface="Roca Two Bold"/>
                <a:ea typeface="Roca Two Bold"/>
                <a:cs typeface="Roca Two Bold"/>
                <a:sym typeface="Roca Two Bold"/>
              </a:rPr>
              <a:t>Easy Access to Employment Information:   quick accessto  information about job offers, application steps, required documents, and recruitment procedures.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196440" y="3133003"/>
            <a:ext cx="16374599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>
                <a:solidFill>
                  <a:srgbClr val="16324F"/>
                </a:solidFill>
                <a:latin typeface="Roca Two Bold"/>
                <a:ea typeface="Roca Two Bold"/>
                <a:cs typeface="Roca Two Bold"/>
                <a:sym typeface="Roca Two Bold"/>
              </a:rPr>
              <a:t>Clear Guidance: ask questions and receive direct, simple, and understandable answers.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430662" y="4360922"/>
            <a:ext cx="14692715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>
                <a:solidFill>
                  <a:srgbClr val="16324F"/>
                </a:solidFill>
                <a:latin typeface="Roca Two Bold"/>
                <a:ea typeface="Roca Two Bold"/>
                <a:cs typeface="Roca Two Bold"/>
                <a:sym typeface="Roca Two Bold"/>
              </a:rPr>
              <a:t>Interactive Assistance: ask questions and receive direct, simple, and understandable answers.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128273" y="6090370"/>
            <a:ext cx="12126018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>
                <a:solidFill>
                  <a:srgbClr val="16324F"/>
                </a:solidFill>
                <a:latin typeface="Roca Two Bold"/>
                <a:ea typeface="Roca Two Bold"/>
                <a:cs typeface="Roca Two Bold"/>
                <a:sym typeface="Roca Two Bold"/>
              </a:rPr>
              <a:t>Personalized Job Recommendations: guidance adapted to the user’s profile, skills, and professional goals.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859869" y="7554485"/>
            <a:ext cx="15076063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>
                <a:solidFill>
                  <a:srgbClr val="16324F"/>
                </a:solidFill>
                <a:latin typeface="Roca Two Bold"/>
                <a:ea typeface="Roca Two Bold"/>
                <a:cs typeface="Roca Two Bold"/>
                <a:sym typeface="Roca Two Bold"/>
              </a:rPr>
              <a:t>CV and Profile Improvement:  Helps users identify their strengths and present their skills more clearly.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196440" y="9018600"/>
            <a:ext cx="14696760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>
                <a:solidFill>
                  <a:srgbClr val="16324F"/>
                </a:solidFill>
                <a:latin typeface="Roca Two Bold"/>
                <a:ea typeface="Roca Two Bold"/>
                <a:cs typeface="Roca Two Bold"/>
                <a:sym typeface="Roca Two Bold"/>
              </a:rPr>
              <a:t>Time and Effort Reduction: Reduces the time and effort needed to search for information, procedures, and relevant opportunities.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6954500" y="9496425"/>
            <a:ext cx="7620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6E7A86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31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3654202" y="582742"/>
            <a:ext cx="7362595" cy="891916"/>
            <a:chOff x="0" y="0"/>
            <a:chExt cx="9816793" cy="1189222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9816793" cy="1189222"/>
              <a:chOff x="0" y="0"/>
              <a:chExt cx="2829729" cy="342798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2829729" cy="342798"/>
              </a:xfrm>
              <a:custGeom>
                <a:avLst/>
                <a:gdLst/>
                <a:ahLst/>
                <a:cxnLst/>
                <a:rect r="r" b="b" t="t" l="l"/>
                <a:pathLst>
                  <a:path h="342798" w="2829729">
                    <a:moveTo>
                      <a:pt x="105152" y="0"/>
                    </a:moveTo>
                    <a:lnTo>
                      <a:pt x="2724577" y="0"/>
                    </a:lnTo>
                    <a:cubicBezTo>
                      <a:pt x="2782651" y="0"/>
                      <a:pt x="2829729" y="47078"/>
                      <a:pt x="2829729" y="105152"/>
                    </a:cubicBezTo>
                    <a:lnTo>
                      <a:pt x="2829729" y="237646"/>
                    </a:lnTo>
                    <a:cubicBezTo>
                      <a:pt x="2829729" y="295720"/>
                      <a:pt x="2782651" y="342798"/>
                      <a:pt x="2724577" y="342798"/>
                    </a:cubicBezTo>
                    <a:lnTo>
                      <a:pt x="105152" y="342798"/>
                    </a:lnTo>
                    <a:cubicBezTo>
                      <a:pt x="47078" y="342798"/>
                      <a:pt x="0" y="295720"/>
                      <a:pt x="0" y="237646"/>
                    </a:cubicBezTo>
                    <a:lnTo>
                      <a:pt x="0" y="105152"/>
                    </a:lnTo>
                    <a:cubicBezTo>
                      <a:pt x="0" y="47078"/>
                      <a:pt x="47078" y="0"/>
                      <a:pt x="1051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57150" cap="rnd">
                <a:solidFill>
                  <a:srgbClr val="034088"/>
                </a:solidFill>
                <a:prstDash val="solid"/>
                <a:round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66675"/>
                <a:ext cx="2829729" cy="4094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180"/>
                  </a:lnSpc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571643" y="190484"/>
              <a:ext cx="8673508" cy="741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50"/>
                </a:lnSpc>
                <a:spcBef>
                  <a:spcPct val="0"/>
                </a:spcBef>
              </a:pPr>
              <a:r>
                <a:rPr lang="en-US" b="true" sz="3321">
                  <a:solidFill>
                    <a:srgbClr val="16324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Startup aspect​ 1275 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5323" y="667789"/>
            <a:ext cx="17526000" cy="9395023"/>
            <a:chOff x="0" y="0"/>
            <a:chExt cx="4258875" cy="22830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58875" cy="2283021"/>
            </a:xfrm>
            <a:custGeom>
              <a:avLst/>
              <a:gdLst/>
              <a:ahLst/>
              <a:cxnLst/>
              <a:rect r="r" b="b" t="t" l="l"/>
              <a:pathLst>
                <a:path h="2283021" w="4258875">
                  <a:moveTo>
                    <a:pt x="0" y="0"/>
                  </a:moveTo>
                  <a:lnTo>
                    <a:pt x="4258875" y="0"/>
                  </a:lnTo>
                  <a:lnTo>
                    <a:pt x="4258875" y="2283021"/>
                  </a:lnTo>
                  <a:lnTo>
                    <a:pt x="0" y="2283021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660A3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258875" cy="23401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3690408" y="667789"/>
            <a:ext cx="0" cy="7101039"/>
          </a:xfrm>
          <a:prstGeom prst="line">
            <a:avLst/>
          </a:prstGeom>
          <a:ln cap="flat" w="19050">
            <a:solidFill>
              <a:srgbClr val="4660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H="true">
            <a:off x="245323" y="7768828"/>
            <a:ext cx="17526000" cy="0"/>
          </a:xfrm>
          <a:prstGeom prst="line">
            <a:avLst/>
          </a:prstGeom>
          <a:ln cap="flat" w="19050">
            <a:solidFill>
              <a:srgbClr val="4660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H="true">
            <a:off x="3690408" y="4619625"/>
            <a:ext cx="4735860" cy="0"/>
          </a:xfrm>
          <a:prstGeom prst="line">
            <a:avLst/>
          </a:prstGeom>
          <a:ln cap="flat" w="19050">
            <a:solidFill>
              <a:srgbClr val="4660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H="true">
            <a:off x="11230073" y="4629150"/>
            <a:ext cx="3343640" cy="9525"/>
          </a:xfrm>
          <a:prstGeom prst="line">
            <a:avLst/>
          </a:prstGeom>
          <a:ln cap="flat" w="19050">
            <a:solidFill>
              <a:srgbClr val="4660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H="true" flipV="true">
            <a:off x="9008323" y="7768828"/>
            <a:ext cx="0" cy="2293984"/>
          </a:xfrm>
          <a:prstGeom prst="line">
            <a:avLst/>
          </a:prstGeom>
          <a:ln cap="flat" w="19050">
            <a:solidFill>
              <a:srgbClr val="4660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4036775" y="829194"/>
            <a:ext cx="441688" cy="441136"/>
          </a:xfrm>
          <a:custGeom>
            <a:avLst/>
            <a:gdLst/>
            <a:ahLst/>
            <a:cxnLst/>
            <a:rect r="r" b="b" t="t" l="l"/>
            <a:pathLst>
              <a:path h="441136" w="441688">
                <a:moveTo>
                  <a:pt x="0" y="0"/>
                </a:moveTo>
                <a:lnTo>
                  <a:pt x="441689" y="0"/>
                </a:lnTo>
                <a:lnTo>
                  <a:pt x="441689" y="441136"/>
                </a:lnTo>
                <a:lnTo>
                  <a:pt x="0" y="4411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7135842" y="798884"/>
            <a:ext cx="441688" cy="441136"/>
          </a:xfrm>
          <a:custGeom>
            <a:avLst/>
            <a:gdLst/>
            <a:ahLst/>
            <a:cxnLst/>
            <a:rect r="r" b="b" t="t" l="l"/>
            <a:pathLst>
              <a:path h="441136" w="441688">
                <a:moveTo>
                  <a:pt x="0" y="0"/>
                </a:moveTo>
                <a:lnTo>
                  <a:pt x="441688" y="0"/>
                </a:lnTo>
                <a:lnTo>
                  <a:pt x="441688" y="441136"/>
                </a:lnTo>
                <a:lnTo>
                  <a:pt x="0" y="4411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8478855" y="7884621"/>
            <a:ext cx="441136" cy="441136"/>
          </a:xfrm>
          <a:custGeom>
            <a:avLst/>
            <a:gdLst/>
            <a:ahLst/>
            <a:cxnLst/>
            <a:rect r="r" b="b" t="t" l="l"/>
            <a:pathLst>
              <a:path h="441136" w="441136">
                <a:moveTo>
                  <a:pt x="0" y="0"/>
                </a:moveTo>
                <a:lnTo>
                  <a:pt x="441137" y="0"/>
                </a:lnTo>
                <a:lnTo>
                  <a:pt x="441137" y="441136"/>
                </a:lnTo>
                <a:lnTo>
                  <a:pt x="0" y="4411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3058592" y="859504"/>
            <a:ext cx="442242" cy="441136"/>
          </a:xfrm>
          <a:custGeom>
            <a:avLst/>
            <a:gdLst/>
            <a:ahLst/>
            <a:cxnLst/>
            <a:rect r="r" b="b" t="t" l="l"/>
            <a:pathLst>
              <a:path h="441136" w="442242">
                <a:moveTo>
                  <a:pt x="0" y="0"/>
                </a:moveTo>
                <a:lnTo>
                  <a:pt x="442242" y="0"/>
                </a:lnTo>
                <a:lnTo>
                  <a:pt x="442242" y="441136"/>
                </a:lnTo>
                <a:lnTo>
                  <a:pt x="0" y="4411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741987" y="849057"/>
            <a:ext cx="446156" cy="441136"/>
          </a:xfrm>
          <a:custGeom>
            <a:avLst/>
            <a:gdLst/>
            <a:ahLst/>
            <a:cxnLst/>
            <a:rect r="r" b="b" t="t" l="l"/>
            <a:pathLst>
              <a:path h="441136" w="446156">
                <a:moveTo>
                  <a:pt x="0" y="0"/>
                </a:moveTo>
                <a:lnTo>
                  <a:pt x="446155" y="0"/>
                </a:lnTo>
                <a:lnTo>
                  <a:pt x="446155" y="441136"/>
                </a:lnTo>
                <a:lnTo>
                  <a:pt x="0" y="44113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4036775" y="4752975"/>
            <a:ext cx="441136" cy="441136"/>
          </a:xfrm>
          <a:custGeom>
            <a:avLst/>
            <a:gdLst/>
            <a:ahLst/>
            <a:cxnLst/>
            <a:rect r="r" b="b" t="t" l="l"/>
            <a:pathLst>
              <a:path h="441136" w="441136">
                <a:moveTo>
                  <a:pt x="0" y="0"/>
                </a:moveTo>
                <a:lnTo>
                  <a:pt x="441136" y="0"/>
                </a:lnTo>
                <a:lnTo>
                  <a:pt x="441136" y="441136"/>
                </a:lnTo>
                <a:lnTo>
                  <a:pt x="0" y="44113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0745750" y="849057"/>
            <a:ext cx="441136" cy="441136"/>
          </a:xfrm>
          <a:custGeom>
            <a:avLst/>
            <a:gdLst/>
            <a:ahLst/>
            <a:cxnLst/>
            <a:rect r="r" b="b" t="t" l="l"/>
            <a:pathLst>
              <a:path h="441136" w="441136">
                <a:moveTo>
                  <a:pt x="0" y="0"/>
                </a:moveTo>
                <a:lnTo>
                  <a:pt x="441136" y="0"/>
                </a:lnTo>
                <a:lnTo>
                  <a:pt x="441136" y="441136"/>
                </a:lnTo>
                <a:lnTo>
                  <a:pt x="0" y="44113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17316441" y="7884621"/>
            <a:ext cx="344638" cy="441136"/>
          </a:xfrm>
          <a:custGeom>
            <a:avLst/>
            <a:gdLst/>
            <a:ahLst/>
            <a:cxnLst/>
            <a:rect r="r" b="b" t="t" l="l"/>
            <a:pathLst>
              <a:path h="441136" w="344638">
                <a:moveTo>
                  <a:pt x="0" y="0"/>
                </a:moveTo>
                <a:lnTo>
                  <a:pt x="344638" y="0"/>
                </a:lnTo>
                <a:lnTo>
                  <a:pt x="344638" y="441136"/>
                </a:lnTo>
                <a:lnTo>
                  <a:pt x="0" y="44113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7867374" y="4733925"/>
            <a:ext cx="442797" cy="441136"/>
          </a:xfrm>
          <a:custGeom>
            <a:avLst/>
            <a:gdLst/>
            <a:ahLst/>
            <a:cxnLst/>
            <a:rect r="r" b="b" t="t" l="l"/>
            <a:pathLst>
              <a:path h="441136" w="442797">
                <a:moveTo>
                  <a:pt x="0" y="0"/>
                </a:moveTo>
                <a:lnTo>
                  <a:pt x="442796" y="0"/>
                </a:lnTo>
                <a:lnTo>
                  <a:pt x="442796" y="441136"/>
                </a:lnTo>
                <a:lnTo>
                  <a:pt x="0" y="44113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9" id="19"/>
          <p:cNvSpPr txBox="true"/>
          <p:nvPr/>
        </p:nvSpPr>
        <p:spPr>
          <a:xfrm rot="0">
            <a:off x="381000" y="39198"/>
            <a:ext cx="6610768" cy="62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00"/>
              </a:lnSpc>
            </a:pPr>
            <a:r>
              <a:rPr lang="en-US" b="true" sz="4000">
                <a:solidFill>
                  <a:srgbClr val="1A2733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Business Model Canvas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83122" y="893619"/>
            <a:ext cx="2144689" cy="30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</a:pPr>
            <a:r>
              <a:rPr lang="en-US" b="true" sz="1999">
                <a:solidFill>
                  <a:srgbClr val="1A2733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Key Partners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83122" y="7857598"/>
            <a:ext cx="2144689" cy="30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  <a:spcBef>
                <a:spcPct val="0"/>
              </a:spcBef>
            </a:pPr>
            <a:r>
              <a:rPr lang="en-US" b="true" sz="1999" u="none">
                <a:solidFill>
                  <a:srgbClr val="1A2733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Cost Structure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286375" y="7857598"/>
            <a:ext cx="2144689" cy="30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</a:pPr>
            <a:r>
              <a:rPr lang="en-US" b="true" sz="1999">
                <a:solidFill>
                  <a:srgbClr val="1A2733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Revenue Stream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938058" y="893619"/>
            <a:ext cx="2144689" cy="30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</a:pPr>
            <a:r>
              <a:rPr lang="en-US" b="true" sz="1999">
                <a:solidFill>
                  <a:srgbClr val="1A2733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Key Activities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034365" y="4724637"/>
            <a:ext cx="2144689" cy="30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</a:pPr>
            <a:r>
              <a:rPr lang="en-US" b="true" sz="1999">
                <a:solidFill>
                  <a:srgbClr val="1A2733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Key Resources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430098" y="4797360"/>
            <a:ext cx="2144689" cy="30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</a:pPr>
            <a:r>
              <a:rPr lang="en-US" b="true" sz="1999">
                <a:solidFill>
                  <a:srgbClr val="1A2733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Channel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478855" y="819669"/>
            <a:ext cx="2300457" cy="30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</a:pPr>
            <a:r>
              <a:rPr lang="en-US" b="true" sz="1999">
                <a:solidFill>
                  <a:srgbClr val="1A2733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Value Propositions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301511" y="862319"/>
            <a:ext cx="2956109" cy="30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</a:pPr>
            <a:r>
              <a:rPr lang="en-US" b="true" sz="1999">
                <a:solidFill>
                  <a:srgbClr val="1A2733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Customer Relationship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697539" y="893619"/>
            <a:ext cx="2598596" cy="30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</a:pPr>
            <a:r>
              <a:rPr lang="en-US" b="true" sz="1999">
                <a:solidFill>
                  <a:srgbClr val="1A2733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Customer Segments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45323" y="1867764"/>
            <a:ext cx="3245060" cy="2225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44" indent="-172722" lvl="1">
              <a:lnSpc>
                <a:spcPts val="1952"/>
              </a:lnSpc>
              <a:buFont typeface="Arial"/>
              <a:buChar char="•"/>
            </a:pPr>
            <a:r>
              <a:rPr lang="en-US" sz="1600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ANEM and Wassit Online ecosystem as a potential c</a:t>
            </a:r>
            <a:r>
              <a:rPr lang="en-US" sz="1600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ollaboration environment</a:t>
            </a:r>
          </a:p>
          <a:p>
            <a:pPr algn="l" marL="345444" indent="-172722" lvl="1">
              <a:lnSpc>
                <a:spcPts val="1952"/>
              </a:lnSpc>
              <a:buFont typeface="Arial"/>
              <a:buChar char="•"/>
            </a:pPr>
            <a:r>
              <a:rPr lang="en-US" sz="1600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Local employment agencies and recruitment support services</a:t>
            </a:r>
          </a:p>
          <a:p>
            <a:pPr algn="l" marL="345444" indent="-172722" lvl="1">
              <a:lnSpc>
                <a:spcPts val="1952"/>
              </a:lnSpc>
              <a:buFont typeface="Arial"/>
              <a:buChar char="•"/>
            </a:pPr>
            <a:r>
              <a:rPr lang="en-US" sz="1600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Training centers and professional development organizations</a:t>
            </a:r>
          </a:p>
          <a:p>
            <a:pPr algn="l" marL="345444" indent="-172722" lvl="1">
              <a:lnSpc>
                <a:spcPts val="1952"/>
              </a:lnSpc>
              <a:buFont typeface="Arial"/>
              <a:buChar char="•"/>
            </a:pPr>
            <a:r>
              <a:rPr lang="en-US" sz="1600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Entrepreneurship support programs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690408" y="1385443"/>
            <a:ext cx="4619763" cy="2977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1951"/>
              </a:lnSpc>
              <a:buFont typeface="Arial"/>
              <a:buChar char="•"/>
            </a:pPr>
            <a:r>
              <a:rPr lang="en-US" sz="1599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Development and improvement of the RequAI platform</a:t>
            </a:r>
          </a:p>
          <a:p>
            <a:pPr algn="l" marL="345439" indent="-172720" lvl="1">
              <a:lnSpc>
                <a:spcPts val="1951"/>
              </a:lnSpc>
              <a:buFont typeface="Arial"/>
              <a:buChar char="•"/>
            </a:pPr>
            <a:r>
              <a:rPr lang="en-US" sz="1599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Design and maintenance of the Requi chatbot</a:t>
            </a:r>
          </a:p>
          <a:p>
            <a:pPr algn="l" marL="345439" indent="-172720" lvl="1">
              <a:lnSpc>
                <a:spcPts val="1951"/>
              </a:lnSpc>
              <a:buFont typeface="Arial"/>
              <a:buChar char="•"/>
            </a:pPr>
            <a:r>
              <a:rPr lang="en-US" sz="1599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Recruitment c</a:t>
            </a:r>
            <a:r>
              <a:rPr lang="en-US" sz="1599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ontent preparation and organization</a:t>
            </a:r>
          </a:p>
          <a:p>
            <a:pPr algn="l" marL="345439" indent="-172720" lvl="1">
              <a:lnSpc>
                <a:spcPts val="1951"/>
              </a:lnSpc>
              <a:buFont typeface="Arial"/>
              <a:buChar char="•"/>
            </a:pPr>
            <a:r>
              <a:rPr lang="en-US" sz="1599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Data collection, cleaning, organization, and processing</a:t>
            </a:r>
          </a:p>
          <a:p>
            <a:pPr algn="l" marL="345439" indent="-172720" lvl="1">
              <a:lnSpc>
                <a:spcPts val="1951"/>
              </a:lnSpc>
              <a:buFont typeface="Arial"/>
              <a:buChar char="•"/>
            </a:pPr>
            <a:r>
              <a:rPr lang="en-US" sz="1599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CV support, skill identification, and job matching assistance</a:t>
            </a:r>
          </a:p>
          <a:p>
            <a:pPr algn="l" marL="345439" indent="-172720" lvl="1">
              <a:lnSpc>
                <a:spcPts val="1951"/>
              </a:lnSpc>
              <a:buFont typeface="Arial"/>
              <a:buChar char="•"/>
            </a:pPr>
            <a:r>
              <a:rPr lang="en-US" sz="1599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Prototype testing, validation, and user feedback analysis</a:t>
            </a:r>
          </a:p>
          <a:p>
            <a:pPr algn="l" marL="345439" indent="-172720" lvl="1">
              <a:lnSpc>
                <a:spcPts val="1951"/>
              </a:lnSpc>
              <a:buFont typeface="Arial"/>
              <a:buChar char="•"/>
            </a:pPr>
            <a:r>
              <a:rPr lang="en-US" sz="1599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Partnership and communication management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748456" y="5019852"/>
            <a:ext cx="4619763" cy="2482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1951"/>
              </a:lnSpc>
              <a:buFont typeface="Arial"/>
              <a:buChar char="•"/>
            </a:pPr>
            <a:r>
              <a:rPr lang="en-US" sz="1599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Web-based platform and chatbot interface</a:t>
            </a:r>
          </a:p>
          <a:p>
            <a:pPr algn="l" marL="345439" indent="-172720" lvl="1">
              <a:lnSpc>
                <a:spcPts val="1951"/>
              </a:lnSpc>
              <a:buFont typeface="Arial"/>
              <a:buChar char="•"/>
            </a:pPr>
            <a:r>
              <a:rPr lang="en-US" sz="1599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Recruitment knowledge base and employment guidance content</a:t>
            </a:r>
          </a:p>
          <a:p>
            <a:pPr algn="l" marL="345439" indent="-172720" lvl="1">
              <a:lnSpc>
                <a:spcPts val="1951"/>
              </a:lnSpc>
              <a:buFont typeface="Arial"/>
              <a:buChar char="•"/>
            </a:pPr>
            <a:r>
              <a:rPr lang="en-US" sz="1599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AI/NLP tools and job matching support modules</a:t>
            </a:r>
          </a:p>
          <a:p>
            <a:pPr algn="l" marL="345439" indent="-172720" lvl="1">
              <a:lnSpc>
                <a:spcPts val="1951"/>
              </a:lnSpc>
              <a:buFont typeface="Arial"/>
              <a:buChar char="•"/>
            </a:pPr>
            <a:r>
              <a:rPr lang="en-US" sz="1599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Recruitment-related da</a:t>
            </a:r>
            <a:r>
              <a:rPr lang="en-US" sz="1599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ta and user profile information</a:t>
            </a:r>
          </a:p>
          <a:p>
            <a:pPr algn="l" marL="345439" indent="-172720" lvl="1">
              <a:lnSpc>
                <a:spcPts val="1951"/>
              </a:lnSpc>
              <a:buFont typeface="Arial"/>
              <a:buChar char="•"/>
            </a:pPr>
            <a:r>
              <a:rPr lang="en-US" sz="1599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Skilled team in software engineering, AI, and data processing</a:t>
            </a:r>
          </a:p>
          <a:p>
            <a:pPr algn="l" marL="345439" indent="-172720" lvl="1">
              <a:lnSpc>
                <a:spcPts val="1951"/>
              </a:lnSpc>
              <a:buFont typeface="Arial"/>
              <a:buChar char="•"/>
            </a:pPr>
            <a:r>
              <a:rPr lang="en-US" sz="1599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Practical recruitment insights</a:t>
            </a:r>
          </a:p>
          <a:p>
            <a:pPr algn="l" marL="345439" indent="-172720" lvl="1">
              <a:lnSpc>
                <a:spcPts val="1951"/>
              </a:lnSpc>
              <a:buFont typeface="Arial"/>
              <a:buChar char="•"/>
            </a:pPr>
            <a:r>
              <a:rPr lang="en-US" sz="1599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Financial resources and workspace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57398" y="8200439"/>
            <a:ext cx="7207666" cy="95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4345" indent="-172172" lvl="1">
              <a:lnSpc>
                <a:spcPts val="1945"/>
              </a:lnSpc>
              <a:buFont typeface="Arial"/>
              <a:buChar char="•"/>
            </a:pPr>
            <a:r>
              <a:rPr lang="en-US" sz="1594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Platform development, chatbot design, and maintenance costs</a:t>
            </a:r>
          </a:p>
          <a:p>
            <a:pPr algn="l" marL="344345" indent="-172172" lvl="1">
              <a:lnSpc>
                <a:spcPts val="1945"/>
              </a:lnSpc>
              <a:buFont typeface="Arial"/>
              <a:buChar char="•"/>
            </a:pPr>
            <a:r>
              <a:rPr lang="en-US" sz="1594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Data collection, processing, and recruitment conten</a:t>
            </a:r>
            <a:r>
              <a:rPr lang="en-US" sz="1594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 preparation costs</a:t>
            </a:r>
          </a:p>
          <a:p>
            <a:pPr algn="l" marL="344345" indent="-172172" lvl="1">
              <a:lnSpc>
                <a:spcPts val="1945"/>
              </a:lnSpc>
              <a:buFont typeface="Arial"/>
              <a:buChar char="•"/>
            </a:pPr>
            <a:r>
              <a:rPr lang="en-US" sz="1594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Hosting, domain name, workspace, internet, and techn</a:t>
            </a:r>
            <a:r>
              <a:rPr lang="en-US" sz="1594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ical equipment costs</a:t>
            </a:r>
          </a:p>
          <a:p>
            <a:pPr algn="l" marL="344345" indent="-172172" lvl="1">
              <a:lnSpc>
                <a:spcPts val="1945"/>
              </a:lnSpc>
              <a:buFont typeface="Arial"/>
              <a:buChar char="•"/>
            </a:pPr>
            <a:r>
              <a:rPr lang="en-US" sz="1594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Marketing, legal, administrativ</a:t>
            </a:r>
            <a:r>
              <a:rPr lang="en-US" sz="1594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e, support, and update costs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635817" y="1385443"/>
            <a:ext cx="2394231" cy="5207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1951"/>
              </a:lnSpc>
              <a:buFont typeface="Arial"/>
              <a:buChar char="•"/>
            </a:pPr>
            <a:r>
              <a:rPr lang="en-US" sz="1599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Easy access to employment information</a:t>
            </a:r>
          </a:p>
          <a:p>
            <a:pPr algn="l" marL="345439" indent="-172720" lvl="1">
              <a:lnSpc>
                <a:spcPts val="1951"/>
              </a:lnSpc>
              <a:buFont typeface="Arial"/>
              <a:buChar char="•"/>
            </a:pPr>
            <a:r>
              <a:rPr lang="en-US" sz="1599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Clear guidance for job seekers</a:t>
            </a:r>
          </a:p>
          <a:p>
            <a:pPr algn="l" marL="345439" indent="-172720" lvl="1">
              <a:lnSpc>
                <a:spcPts val="1951"/>
              </a:lnSpc>
              <a:buFont typeface="Arial"/>
              <a:buChar char="•"/>
            </a:pPr>
            <a:r>
              <a:rPr lang="en-US" sz="1599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Interactive assistance through the Requi chatbot</a:t>
            </a:r>
          </a:p>
          <a:p>
            <a:pPr algn="l" marL="345439" indent="-172720" lvl="1">
              <a:lnSpc>
                <a:spcPts val="1951"/>
              </a:lnSpc>
              <a:buFont typeface="Arial"/>
              <a:buChar char="•"/>
            </a:pPr>
            <a:r>
              <a:rPr lang="en-US" sz="1599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Personalized job support based on user profiles and skills</a:t>
            </a:r>
          </a:p>
          <a:p>
            <a:pPr algn="l" marL="345439" indent="-172720" lvl="1">
              <a:lnSpc>
                <a:spcPts val="1951"/>
              </a:lnSpc>
              <a:buFont typeface="Arial"/>
              <a:buChar char="•"/>
            </a:pPr>
            <a:r>
              <a:rPr lang="en-US" sz="1599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CV</a:t>
            </a:r>
            <a:r>
              <a:rPr lang="en-US" sz="1599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and profile improvement support</a:t>
            </a:r>
          </a:p>
          <a:p>
            <a:pPr algn="l" marL="345439" indent="-172720" lvl="1">
              <a:lnSpc>
                <a:spcPts val="1951"/>
              </a:lnSpc>
              <a:buFont typeface="Arial"/>
              <a:buChar char="•"/>
            </a:pPr>
            <a:r>
              <a:rPr lang="en-US" sz="1599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Time and effort reduction during job search</a:t>
            </a:r>
          </a:p>
          <a:p>
            <a:pPr algn="l" marL="345439" indent="-172720" lvl="1">
              <a:lnSpc>
                <a:spcPts val="1951"/>
              </a:lnSpc>
              <a:buFont typeface="Arial"/>
              <a:buChar char="•"/>
            </a:pPr>
            <a:r>
              <a:rPr lang="en-US" sz="1599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User-friendly digital experience</a:t>
            </a:r>
          </a:p>
          <a:p>
            <a:pPr algn="l" marL="345439" indent="-172720" lvl="1">
              <a:lnSpc>
                <a:spcPts val="1951"/>
              </a:lnSpc>
              <a:buFont typeface="Arial"/>
              <a:buChar char="•"/>
            </a:pPr>
            <a:r>
              <a:rPr lang="en-US" sz="1599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Support for employment service digitalization in Algeria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439623" y="1260805"/>
            <a:ext cx="3038840" cy="3338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4345" indent="-172172" lvl="1">
              <a:lnSpc>
                <a:spcPts val="1945"/>
              </a:lnSpc>
              <a:buFont typeface="Arial"/>
              <a:buChar char="•"/>
            </a:pPr>
            <a:r>
              <a:rPr lang="en-US" sz="1594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Self-service assistance through the Requi chatbot</a:t>
            </a:r>
          </a:p>
          <a:p>
            <a:pPr algn="l" marL="344345" indent="-172172" lvl="1">
              <a:lnSpc>
                <a:spcPts val="1945"/>
              </a:lnSpc>
              <a:buFont typeface="Arial"/>
              <a:buChar char="•"/>
            </a:pPr>
            <a:r>
              <a:rPr lang="en-US" sz="1594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Personalized guidance based on user needs</a:t>
            </a:r>
            <a:r>
              <a:rPr lang="en-US" sz="1594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and profiles</a:t>
            </a:r>
          </a:p>
          <a:p>
            <a:pPr algn="l" marL="344345" indent="-172172" lvl="1">
              <a:lnSpc>
                <a:spcPts val="1945"/>
              </a:lnSpc>
              <a:buFont typeface="Arial"/>
              <a:buChar char="•"/>
            </a:pPr>
            <a:r>
              <a:rPr lang="en-US" sz="1594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Continuous support for job search and recruitment procedures</a:t>
            </a:r>
          </a:p>
          <a:p>
            <a:pPr algn="l" marL="344345" indent="-172172" lvl="1">
              <a:lnSpc>
                <a:spcPts val="1945"/>
              </a:lnSpc>
              <a:buFont typeface="Arial"/>
              <a:buChar char="•"/>
            </a:pPr>
            <a:r>
              <a:rPr lang="en-US" sz="1594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Simple answe</a:t>
            </a:r>
            <a:r>
              <a:rPr lang="en-US" sz="1594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rs to employment-related questions</a:t>
            </a:r>
          </a:p>
          <a:p>
            <a:pPr algn="l" marL="344345" indent="-172172" lvl="1">
              <a:lnSpc>
                <a:spcPts val="1945"/>
              </a:lnSpc>
              <a:buFont typeface="Arial"/>
              <a:buChar char="•"/>
            </a:pPr>
            <a:r>
              <a:rPr lang="en-US" sz="1594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Feedback collecti</a:t>
            </a:r>
            <a:r>
              <a:rPr lang="en-US" sz="1594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on to improve the platform</a:t>
            </a:r>
          </a:p>
          <a:p>
            <a:pPr algn="l" marL="344345" indent="-172172" lvl="1">
              <a:lnSpc>
                <a:spcPts val="1945"/>
              </a:lnSpc>
              <a:buFont typeface="Arial"/>
              <a:buChar char="•"/>
            </a:pPr>
            <a:r>
              <a:rPr lang="en-US" sz="1594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Regular updates to improve guidance and recommendations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287223" y="5092576"/>
            <a:ext cx="3038840" cy="2624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4345" indent="-172172" lvl="1">
              <a:lnSpc>
                <a:spcPts val="1945"/>
              </a:lnSpc>
              <a:buFont typeface="Arial"/>
              <a:buChar char="•"/>
            </a:pPr>
            <a:r>
              <a:rPr lang="en-US" sz="1594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Web-based RequAI platform</a:t>
            </a:r>
          </a:p>
          <a:p>
            <a:pPr algn="l" marL="344345" indent="-172172" lvl="1">
              <a:lnSpc>
                <a:spcPts val="1945"/>
              </a:lnSpc>
              <a:buFont typeface="Arial"/>
              <a:buChar char="•"/>
            </a:pPr>
            <a:r>
              <a:rPr lang="en-US" sz="1594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Mobile-friendly chatbot interface</a:t>
            </a:r>
          </a:p>
          <a:p>
            <a:pPr algn="l" marL="344345" indent="-172172" lvl="1">
              <a:lnSpc>
                <a:spcPts val="1945"/>
              </a:lnSpc>
              <a:buFont typeface="Arial"/>
              <a:buChar char="•"/>
            </a:pPr>
            <a:r>
              <a:rPr lang="en-US" sz="1594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Social media and digital communication channels</a:t>
            </a:r>
          </a:p>
          <a:p>
            <a:pPr algn="l" marL="344345" indent="-172172" lvl="1">
              <a:lnSpc>
                <a:spcPts val="1945"/>
              </a:lnSpc>
              <a:buFont typeface="Arial"/>
              <a:buChar char="•"/>
            </a:pPr>
            <a:r>
              <a:rPr lang="en-US" sz="1594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</a:t>
            </a:r>
            <a:r>
              <a:rPr lang="en-US" sz="1594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niversity events, career clubs, and workshops</a:t>
            </a:r>
          </a:p>
          <a:p>
            <a:pPr algn="l" marL="344345" indent="-172172" lvl="1">
              <a:lnSpc>
                <a:spcPts val="1945"/>
              </a:lnSpc>
              <a:buFont typeface="Arial"/>
              <a:buChar char="•"/>
            </a:pPr>
            <a:r>
              <a:rPr lang="en-US" sz="1594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Partnership</a:t>
            </a:r>
            <a:r>
              <a:rPr lang="en-US" sz="1594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 with employment agencies and training centers</a:t>
            </a:r>
          </a:p>
          <a:p>
            <a:pPr algn="l" marL="344345" indent="-172172" lvl="1">
              <a:lnSpc>
                <a:spcPts val="1945"/>
              </a:lnSpc>
              <a:buFont typeface="Arial"/>
              <a:buChar char="•"/>
            </a:pPr>
            <a:r>
              <a:rPr lang="en-US" sz="1594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Future collaborati</a:t>
            </a:r>
            <a:r>
              <a:rPr lang="en-US" sz="1594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on with recruitment institutions</a:t>
            </a:r>
          </a:p>
        </p:txBody>
      </p:sp>
      <p:sp>
        <p:nvSpPr>
          <p:cNvPr name="AutoShape 36" id="36"/>
          <p:cNvSpPr/>
          <p:nvPr/>
        </p:nvSpPr>
        <p:spPr>
          <a:xfrm flipV="true">
            <a:off x="14573714" y="677314"/>
            <a:ext cx="0" cy="7101039"/>
          </a:xfrm>
          <a:prstGeom prst="line">
            <a:avLst/>
          </a:prstGeom>
          <a:ln cap="flat" w="19050">
            <a:solidFill>
              <a:srgbClr val="4660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 flipV="true">
            <a:off x="11220548" y="677314"/>
            <a:ext cx="0" cy="7101039"/>
          </a:xfrm>
          <a:prstGeom prst="line">
            <a:avLst/>
          </a:prstGeom>
          <a:ln cap="flat" w="19050">
            <a:solidFill>
              <a:srgbClr val="4660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 flipV="true">
            <a:off x="8406319" y="667789"/>
            <a:ext cx="0" cy="7101039"/>
          </a:xfrm>
          <a:prstGeom prst="line">
            <a:avLst/>
          </a:prstGeom>
          <a:ln cap="flat" w="19050">
            <a:solidFill>
              <a:srgbClr val="4660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9" id="39"/>
          <p:cNvSpPr txBox="true"/>
          <p:nvPr/>
        </p:nvSpPr>
        <p:spPr>
          <a:xfrm rot="0">
            <a:off x="14573714" y="1425499"/>
            <a:ext cx="3087366" cy="3100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4345" indent="-172172" lvl="1">
              <a:lnSpc>
                <a:spcPts val="1945"/>
              </a:lnSpc>
              <a:buFont typeface="Arial"/>
              <a:buChar char="•"/>
            </a:pPr>
            <a:r>
              <a:rPr lang="en-US" sz="1594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Job seekers in Algeria</a:t>
            </a:r>
          </a:p>
          <a:p>
            <a:pPr algn="l" marL="344345" indent="-172172" lvl="1">
              <a:lnSpc>
                <a:spcPts val="1945"/>
              </a:lnSpc>
              <a:buFont typeface="Arial"/>
              <a:buChar char="•"/>
            </a:pPr>
            <a:r>
              <a:rPr lang="en-US" sz="1594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Young graduates entering the job market</a:t>
            </a:r>
          </a:p>
          <a:p>
            <a:pPr algn="l" marL="344345" indent="-172172" lvl="1">
              <a:lnSpc>
                <a:spcPts val="1945"/>
              </a:lnSpc>
              <a:buFont typeface="Arial"/>
              <a:buChar char="•"/>
            </a:pPr>
            <a:r>
              <a:rPr lang="en-US" sz="1594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First-time job seekers needing guidance</a:t>
            </a:r>
          </a:p>
          <a:p>
            <a:pPr algn="l" marL="344345" indent="-172172" lvl="1">
              <a:lnSpc>
                <a:spcPts val="1945"/>
              </a:lnSpc>
              <a:buFont typeface="Arial"/>
              <a:buChar char="•"/>
            </a:pPr>
            <a:r>
              <a:rPr lang="en-US" sz="1594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Students preparing for professional i</a:t>
            </a:r>
            <a:r>
              <a:rPr lang="en-US" sz="1594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ntegration</a:t>
            </a:r>
          </a:p>
          <a:p>
            <a:pPr algn="l" marL="344345" indent="-172172" lvl="1">
              <a:lnSpc>
                <a:spcPts val="1945"/>
              </a:lnSpc>
              <a:buFont typeface="Arial"/>
              <a:buChar char="•"/>
            </a:pPr>
            <a:r>
              <a:rPr lang="en-US" sz="1594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Career clubs and training center</a:t>
            </a:r>
            <a:r>
              <a:rPr lang="en-US" sz="1594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</a:t>
            </a:r>
          </a:p>
          <a:p>
            <a:pPr algn="l" marL="344345" indent="-172172" lvl="1">
              <a:lnSpc>
                <a:spcPts val="1945"/>
              </a:lnSpc>
              <a:buFont typeface="Arial"/>
              <a:buChar char="•"/>
            </a:pPr>
            <a:r>
              <a:rPr lang="en-US" sz="1594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Employment agencies and recruitment support services</a:t>
            </a:r>
          </a:p>
          <a:p>
            <a:pPr algn="l" marL="344345" indent="-172172" lvl="1">
              <a:lnSpc>
                <a:spcPts val="1945"/>
              </a:lnSpc>
              <a:buFont typeface="Arial"/>
              <a:buChar char="•"/>
            </a:pPr>
            <a:r>
              <a:rPr lang="en-US" sz="1594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Employers and c</a:t>
            </a:r>
            <a:r>
              <a:rPr lang="en-US" sz="1594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ompanies in future versions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286375" y="8152814"/>
            <a:ext cx="7849466" cy="1671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4345" indent="-172172" lvl="1">
              <a:lnSpc>
                <a:spcPts val="1945"/>
              </a:lnSpc>
              <a:buFont typeface="Arial"/>
              <a:buChar char="•"/>
            </a:pPr>
            <a:r>
              <a:rPr lang="en-US" sz="1594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Free basic access for job seekers with paid advanced features</a:t>
            </a:r>
          </a:p>
          <a:p>
            <a:pPr algn="l" marL="344345" indent="-172172" lvl="1">
              <a:lnSpc>
                <a:spcPts val="1945"/>
              </a:lnSpc>
              <a:buFont typeface="Arial"/>
              <a:buChar char="•"/>
            </a:pPr>
            <a:r>
              <a:rPr lang="en-US" sz="1594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Premium subscription for personalized job seeker support</a:t>
            </a:r>
          </a:p>
          <a:p>
            <a:pPr algn="l" marL="344345" indent="-172172" lvl="1">
              <a:lnSpc>
                <a:spcPts val="1945"/>
              </a:lnSpc>
              <a:buFont typeface="Arial"/>
              <a:buChar char="•"/>
            </a:pPr>
            <a:r>
              <a:rPr lang="en-US" sz="1594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Paid CV and profile improvement services</a:t>
            </a:r>
          </a:p>
          <a:p>
            <a:pPr algn="l" marL="344345" indent="-172172" lvl="1">
              <a:lnSpc>
                <a:spcPts val="1945"/>
              </a:lnSpc>
              <a:buFont typeface="Arial"/>
              <a:buChar char="•"/>
            </a:pPr>
            <a:r>
              <a:rPr lang="en-US" sz="1594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Institutional subscriptions for training centers and recruitment suppor</a:t>
            </a:r>
            <a:r>
              <a:rPr lang="en-US" sz="1594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 services</a:t>
            </a:r>
          </a:p>
          <a:p>
            <a:pPr algn="l" marL="344345" indent="-172172" lvl="1">
              <a:lnSpc>
                <a:spcPts val="1945"/>
              </a:lnSpc>
              <a:buFont typeface="Arial"/>
              <a:buChar char="•"/>
            </a:pPr>
            <a:r>
              <a:rPr lang="en-US" sz="1594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Training and workshops related to job search and platform use</a:t>
            </a:r>
          </a:p>
          <a:p>
            <a:pPr algn="l" marL="344345" indent="-172172" lvl="1">
              <a:lnSpc>
                <a:spcPts val="1945"/>
              </a:lnSpc>
              <a:buFont typeface="Arial"/>
              <a:buChar char="•"/>
            </a:pPr>
            <a:r>
              <a:rPr lang="en-US" sz="1594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Custom</a:t>
            </a:r>
            <a:r>
              <a:rPr lang="en-US" sz="1594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support or integration for partner organizations</a:t>
            </a:r>
          </a:p>
          <a:p>
            <a:pPr algn="l" marL="344345" indent="-172172" lvl="1">
              <a:lnSpc>
                <a:spcPts val="1945"/>
              </a:lnSpc>
              <a:buFont typeface="Arial"/>
              <a:buChar char="•"/>
            </a:pPr>
            <a:r>
              <a:rPr lang="en-US" sz="1594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Futur</a:t>
            </a:r>
            <a:r>
              <a:rPr lang="en-US" sz="1594">
                <a:solidFill>
                  <a:srgbClr val="1A27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 employer-side service packages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3574787" y="-93033"/>
            <a:ext cx="7362595" cy="891916"/>
            <a:chOff x="0" y="0"/>
            <a:chExt cx="9816793" cy="1189222"/>
          </a:xfrm>
        </p:grpSpPr>
        <p:grpSp>
          <p:nvGrpSpPr>
            <p:cNvPr name="Group 42" id="42"/>
            <p:cNvGrpSpPr/>
            <p:nvPr/>
          </p:nvGrpSpPr>
          <p:grpSpPr>
            <a:xfrm rot="0">
              <a:off x="0" y="0"/>
              <a:ext cx="9816793" cy="1189222"/>
              <a:chOff x="0" y="0"/>
              <a:chExt cx="2829729" cy="342798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2829729" cy="342798"/>
              </a:xfrm>
              <a:custGeom>
                <a:avLst/>
                <a:gdLst/>
                <a:ahLst/>
                <a:cxnLst/>
                <a:rect r="r" b="b" t="t" l="l"/>
                <a:pathLst>
                  <a:path h="342798" w="2829729">
                    <a:moveTo>
                      <a:pt x="105152" y="0"/>
                    </a:moveTo>
                    <a:lnTo>
                      <a:pt x="2724577" y="0"/>
                    </a:lnTo>
                    <a:cubicBezTo>
                      <a:pt x="2782651" y="0"/>
                      <a:pt x="2829729" y="47078"/>
                      <a:pt x="2829729" y="105152"/>
                    </a:cubicBezTo>
                    <a:lnTo>
                      <a:pt x="2829729" y="237646"/>
                    </a:lnTo>
                    <a:cubicBezTo>
                      <a:pt x="2829729" y="295720"/>
                      <a:pt x="2782651" y="342798"/>
                      <a:pt x="2724577" y="342798"/>
                    </a:cubicBezTo>
                    <a:lnTo>
                      <a:pt x="105152" y="342798"/>
                    </a:lnTo>
                    <a:cubicBezTo>
                      <a:pt x="47078" y="342798"/>
                      <a:pt x="0" y="295720"/>
                      <a:pt x="0" y="237646"/>
                    </a:cubicBezTo>
                    <a:lnTo>
                      <a:pt x="0" y="105152"/>
                    </a:lnTo>
                    <a:cubicBezTo>
                      <a:pt x="0" y="47078"/>
                      <a:pt x="47078" y="0"/>
                      <a:pt x="1051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57150" cap="rnd">
                <a:solidFill>
                  <a:srgbClr val="034088"/>
                </a:solidFill>
                <a:prstDash val="solid"/>
                <a:round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66675"/>
                <a:ext cx="2829729" cy="4094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180"/>
                  </a:lnSpc>
                </a:pPr>
              </a:p>
            </p:txBody>
          </p:sp>
        </p:grpSp>
        <p:sp>
          <p:nvSpPr>
            <p:cNvPr name="TextBox 45" id="45"/>
            <p:cNvSpPr txBox="true"/>
            <p:nvPr/>
          </p:nvSpPr>
          <p:spPr>
            <a:xfrm rot="0">
              <a:off x="571643" y="190484"/>
              <a:ext cx="8673508" cy="741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50"/>
                </a:lnSpc>
                <a:spcBef>
                  <a:spcPct val="0"/>
                </a:spcBef>
              </a:pPr>
              <a:r>
                <a:rPr lang="en-US" b="true" sz="3321">
                  <a:solidFill>
                    <a:srgbClr val="16324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Startup aspect​ 1275 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6954500" y="9496425"/>
            <a:ext cx="7620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6E7A86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7153" y="2658123"/>
            <a:ext cx="16405635" cy="793693"/>
            <a:chOff x="1500000" y="4145832"/>
            <a:chExt cx="26249998" cy="127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-3" y="6"/>
              <a:ext cx="26249995" cy="1270000"/>
            </a:xfrm>
            <a:custGeom>
              <a:avLst/>
              <a:gdLst/>
              <a:ahLst/>
              <a:cxnLst/>
              <a:rect r="r" b="b" t="t" l="l"/>
              <a:pathLst>
                <a:path h="1270000" w="26249995">
                  <a:moveTo>
                    <a:pt x="26249995" y="0"/>
                  </a:moveTo>
                  <a:lnTo>
                    <a:pt x="26249995" y="1270000"/>
                  </a:lnTo>
                  <a:lnTo>
                    <a:pt x="0" y="1270000"/>
                  </a:lnTo>
                  <a:lnTo>
                    <a:pt x="0" y="0"/>
                  </a:lnTo>
                  <a:lnTo>
                    <a:pt x="26249995" y="0"/>
                  </a:lnTo>
                  <a:close/>
                </a:path>
              </a:pathLst>
            </a:custGeom>
            <a:solidFill>
              <a:srgbClr val="16324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37153" y="3451816"/>
            <a:ext cx="16405635" cy="1984233"/>
            <a:chOff x="1500000" y="5415832"/>
            <a:chExt cx="26249998" cy="3175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-3" y="6"/>
              <a:ext cx="26249995" cy="3175000"/>
            </a:xfrm>
            <a:custGeom>
              <a:avLst/>
              <a:gdLst/>
              <a:ahLst/>
              <a:cxnLst/>
              <a:rect r="r" b="b" t="t" l="l"/>
              <a:pathLst>
                <a:path h="3175000" w="26249995">
                  <a:moveTo>
                    <a:pt x="26249995" y="0"/>
                  </a:moveTo>
                  <a:lnTo>
                    <a:pt x="26249995" y="3175000"/>
                  </a:lnTo>
                  <a:lnTo>
                    <a:pt x="0" y="3175000"/>
                  </a:lnTo>
                  <a:lnTo>
                    <a:pt x="0" y="0"/>
                  </a:lnTo>
                  <a:lnTo>
                    <a:pt x="26249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37153" y="7420281"/>
            <a:ext cx="16405635" cy="1587386"/>
            <a:chOff x="1500000" y="11765832"/>
            <a:chExt cx="26249998" cy="254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-3" y="6"/>
              <a:ext cx="26249995" cy="2540000"/>
            </a:xfrm>
            <a:custGeom>
              <a:avLst/>
              <a:gdLst/>
              <a:ahLst/>
              <a:cxnLst/>
              <a:rect r="r" b="b" t="t" l="l"/>
              <a:pathLst>
                <a:path h="2540000" w="26249995">
                  <a:moveTo>
                    <a:pt x="26249995" y="0"/>
                  </a:moveTo>
                  <a:lnTo>
                    <a:pt x="26249995" y="2540000"/>
                  </a:lnTo>
                  <a:lnTo>
                    <a:pt x="0" y="2540000"/>
                  </a:lnTo>
                  <a:lnTo>
                    <a:pt x="0" y="0"/>
                  </a:lnTo>
                  <a:lnTo>
                    <a:pt x="26249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2564373" y="2797262"/>
            <a:ext cx="1461933" cy="10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5"/>
              </a:lnSpc>
            </a:pPr>
            <a:r>
              <a:rPr lang="en-US" b="true" sz="3103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Category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33437" y="2797262"/>
            <a:ext cx="1855605" cy="10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5"/>
              </a:lnSpc>
            </a:pPr>
            <a:r>
              <a:rPr lang="en-US" b="true" sz="3103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Description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202728" y="2797262"/>
            <a:ext cx="3152685" cy="530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5"/>
              </a:lnSpc>
            </a:pPr>
            <a:r>
              <a:rPr lang="en-US" b="true" sz="3103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Total Cost (DA)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1999" y="4194435"/>
            <a:ext cx="3562169" cy="1029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3"/>
              </a:lnSpc>
            </a:pPr>
            <a:r>
              <a:rPr lang="en-US" sz="2973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Initial Costs and Burdens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1999" y="6018345"/>
            <a:ext cx="3775895" cy="94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5"/>
              </a:lnSpc>
            </a:pPr>
            <a:r>
              <a:rPr lang="en-US" sz="2973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Additional Initial Costs and Burdens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1999" y="7804154"/>
            <a:ext cx="4096027" cy="94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5"/>
              </a:lnSpc>
            </a:pPr>
            <a:r>
              <a:rPr lang="en-US" sz="2973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T</a:t>
            </a:r>
            <a:r>
              <a:rPr lang="en-US" sz="2973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otal Initial Investment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889153" y="3637266"/>
            <a:ext cx="7997549" cy="2376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5"/>
              </a:lnSpc>
            </a:pPr>
            <a:r>
              <a:rPr lang="en-US" sz="2973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Ad</a:t>
            </a:r>
            <a:r>
              <a:rPr lang="en-US" sz="2973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ministrative/legal setup, name and logo protection, domiciliation, internet, domain name, hosting, UI/UX design, tools, data preparation, testing, and contingency expenses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889153" y="5734696"/>
            <a:ext cx="7480036" cy="1900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5"/>
              </a:lnSpc>
            </a:pPr>
            <a:r>
              <a:rPr lang="en-US" sz="2973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Legal consultation, communication materials, branding, technical equipment, office equipment, content review, training, transport, and field meetings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003279" y="4069090"/>
            <a:ext cx="2352134" cy="505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3"/>
              </a:lnSpc>
            </a:pPr>
            <a:r>
              <a:rPr lang="en-US" sz="2973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26</a:t>
            </a:r>
            <a:r>
              <a:rPr lang="en-US" sz="2973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3,000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003279" y="6178668"/>
            <a:ext cx="2137738" cy="505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3"/>
              </a:lnSpc>
            </a:pPr>
            <a:r>
              <a:rPr lang="en-US" sz="2973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4</a:t>
            </a:r>
            <a:r>
              <a:rPr lang="en-US" sz="2973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95,500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003279" y="7977416"/>
            <a:ext cx="2137738" cy="505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3"/>
              </a:lnSpc>
            </a:pPr>
            <a:r>
              <a:rPr lang="en-US" sz="2973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744,5</a:t>
            </a:r>
            <a:r>
              <a:rPr lang="en-US" sz="2973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00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37153" y="1015668"/>
            <a:ext cx="8688017" cy="1265225"/>
            <a:chOff x="0" y="0"/>
            <a:chExt cx="3880904" cy="56517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880909" cy="565171"/>
            </a:xfrm>
            <a:custGeom>
              <a:avLst/>
              <a:gdLst/>
              <a:ahLst/>
              <a:cxnLst/>
              <a:rect r="r" b="b" t="t" l="l"/>
              <a:pathLst>
                <a:path h="565171" w="3880909">
                  <a:moveTo>
                    <a:pt x="0" y="0"/>
                  </a:moveTo>
                  <a:lnTo>
                    <a:pt x="3880909" y="0"/>
                  </a:lnTo>
                  <a:lnTo>
                    <a:pt x="3880909" y="565171"/>
                  </a:lnTo>
                  <a:lnTo>
                    <a:pt x="0" y="56517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8902" r="-138423" b="-32911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3880904" cy="5651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959"/>
                </a:lnSpc>
              </a:pPr>
              <a:r>
                <a:rPr lang="en-US" b="true" sz="5799" spc="-144">
                  <a:solidFill>
                    <a:srgbClr val="16324F"/>
                  </a:solidFill>
                  <a:latin typeface="Roca Two Bold"/>
                  <a:ea typeface="Roca Two Bold"/>
                  <a:cs typeface="Roca Two Bold"/>
                  <a:sym typeface="Roca Two Bold"/>
                </a:rPr>
                <a:t>Summary of Project Cost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654202" y="582742"/>
            <a:ext cx="7362595" cy="891916"/>
            <a:chOff x="0" y="0"/>
            <a:chExt cx="9816793" cy="1189222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9816793" cy="1189222"/>
              <a:chOff x="0" y="0"/>
              <a:chExt cx="2829729" cy="342798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2829729" cy="342798"/>
              </a:xfrm>
              <a:custGeom>
                <a:avLst/>
                <a:gdLst/>
                <a:ahLst/>
                <a:cxnLst/>
                <a:rect r="r" b="b" t="t" l="l"/>
                <a:pathLst>
                  <a:path h="342798" w="2829729">
                    <a:moveTo>
                      <a:pt x="105152" y="0"/>
                    </a:moveTo>
                    <a:lnTo>
                      <a:pt x="2724577" y="0"/>
                    </a:lnTo>
                    <a:cubicBezTo>
                      <a:pt x="2782651" y="0"/>
                      <a:pt x="2829729" y="47078"/>
                      <a:pt x="2829729" y="105152"/>
                    </a:cubicBezTo>
                    <a:lnTo>
                      <a:pt x="2829729" y="237646"/>
                    </a:lnTo>
                    <a:cubicBezTo>
                      <a:pt x="2829729" y="295720"/>
                      <a:pt x="2782651" y="342798"/>
                      <a:pt x="2724577" y="342798"/>
                    </a:cubicBezTo>
                    <a:lnTo>
                      <a:pt x="105152" y="342798"/>
                    </a:lnTo>
                    <a:cubicBezTo>
                      <a:pt x="47078" y="342798"/>
                      <a:pt x="0" y="295720"/>
                      <a:pt x="0" y="237646"/>
                    </a:cubicBezTo>
                    <a:lnTo>
                      <a:pt x="0" y="105152"/>
                    </a:lnTo>
                    <a:cubicBezTo>
                      <a:pt x="0" y="47078"/>
                      <a:pt x="47078" y="0"/>
                      <a:pt x="1051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57150" cap="rnd">
                <a:solidFill>
                  <a:srgbClr val="034088"/>
                </a:solidFill>
                <a:prstDash val="solid"/>
                <a:round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66675"/>
                <a:ext cx="2829729" cy="4094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180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571643" y="190484"/>
              <a:ext cx="8673508" cy="741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50"/>
                </a:lnSpc>
                <a:spcBef>
                  <a:spcPct val="0"/>
                </a:spcBef>
              </a:pPr>
              <a:r>
                <a:rPr lang="en-US" b="true" sz="3321">
                  <a:solidFill>
                    <a:srgbClr val="16324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Startup aspect​ 1275 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6954500" y="9505950"/>
            <a:ext cx="76200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6E7A86"/>
                </a:solidFill>
                <a:latin typeface="Roca Two Bold"/>
                <a:ea typeface="Roca Two Bold"/>
                <a:cs typeface="Roca Two Bold"/>
                <a:sym typeface="Roca Two Bold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7153" y="1015668"/>
            <a:ext cx="8688017" cy="1265225"/>
            <a:chOff x="0" y="0"/>
            <a:chExt cx="3880904" cy="5651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80909" cy="565171"/>
            </a:xfrm>
            <a:custGeom>
              <a:avLst/>
              <a:gdLst/>
              <a:ahLst/>
              <a:cxnLst/>
              <a:rect r="r" b="b" t="t" l="l"/>
              <a:pathLst>
                <a:path h="565171" w="3880909">
                  <a:moveTo>
                    <a:pt x="0" y="0"/>
                  </a:moveTo>
                  <a:lnTo>
                    <a:pt x="3880909" y="0"/>
                  </a:lnTo>
                  <a:lnTo>
                    <a:pt x="3880909" y="565171"/>
                  </a:lnTo>
                  <a:lnTo>
                    <a:pt x="0" y="56517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8902" r="-138423" b="-32911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3880904" cy="5651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959"/>
                </a:lnSpc>
              </a:pPr>
              <a:r>
                <a:rPr lang="en-US" b="true" sz="5799" spc="-144">
                  <a:solidFill>
                    <a:srgbClr val="16324F"/>
                  </a:solidFill>
                  <a:latin typeface="Roca Two Bold"/>
                  <a:ea typeface="Roca Two Bold"/>
                  <a:cs typeface="Roca Two Bold"/>
                  <a:sym typeface="Roca Two Bold"/>
                </a:rPr>
                <a:t>REVENUE ESTIMATION</a:t>
              </a:r>
            </a:p>
          </p:txBody>
        </p:sp>
      </p:grpSp>
      <p:graphicFrame>
        <p:nvGraphicFramePr>
          <p:cNvPr name="Object 5" id="5"/>
          <p:cNvGraphicFramePr/>
          <p:nvPr/>
        </p:nvGraphicFramePr>
        <p:xfrm>
          <a:off x="937153" y="2646217"/>
          <a:ext cx="5086532" cy="8575426"/>
        </p:xfrm>
        <a:graphic>
          <a:graphicData uri="http://schemas.openxmlformats.org/presentationml/2006/ole">
            <p:oleObj imgW="6794500" imgH="102870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pSp>
        <p:nvGrpSpPr>
          <p:cNvPr name="Group 6" id="6"/>
          <p:cNvGrpSpPr/>
          <p:nvPr/>
        </p:nvGrpSpPr>
        <p:grpSpPr>
          <a:xfrm rot="0">
            <a:off x="13661714" y="582742"/>
            <a:ext cx="7362595" cy="891916"/>
            <a:chOff x="0" y="0"/>
            <a:chExt cx="9816793" cy="1189222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9816793" cy="1189222"/>
              <a:chOff x="0" y="0"/>
              <a:chExt cx="2829729" cy="342798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829729" cy="342798"/>
              </a:xfrm>
              <a:custGeom>
                <a:avLst/>
                <a:gdLst/>
                <a:ahLst/>
                <a:cxnLst/>
                <a:rect r="r" b="b" t="t" l="l"/>
                <a:pathLst>
                  <a:path h="342798" w="2829729">
                    <a:moveTo>
                      <a:pt x="105152" y="0"/>
                    </a:moveTo>
                    <a:lnTo>
                      <a:pt x="2724577" y="0"/>
                    </a:lnTo>
                    <a:cubicBezTo>
                      <a:pt x="2782651" y="0"/>
                      <a:pt x="2829729" y="47078"/>
                      <a:pt x="2829729" y="105152"/>
                    </a:cubicBezTo>
                    <a:lnTo>
                      <a:pt x="2829729" y="237646"/>
                    </a:lnTo>
                    <a:cubicBezTo>
                      <a:pt x="2829729" y="295720"/>
                      <a:pt x="2782651" y="342798"/>
                      <a:pt x="2724577" y="342798"/>
                    </a:cubicBezTo>
                    <a:lnTo>
                      <a:pt x="105152" y="342798"/>
                    </a:lnTo>
                    <a:cubicBezTo>
                      <a:pt x="47078" y="342798"/>
                      <a:pt x="0" y="295720"/>
                      <a:pt x="0" y="237646"/>
                    </a:cubicBezTo>
                    <a:lnTo>
                      <a:pt x="0" y="105152"/>
                    </a:lnTo>
                    <a:cubicBezTo>
                      <a:pt x="0" y="47078"/>
                      <a:pt x="47078" y="0"/>
                      <a:pt x="1051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57150" cap="rnd">
                <a:solidFill>
                  <a:srgbClr val="034088"/>
                </a:solidFill>
                <a:prstDash val="solid"/>
                <a:round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66675"/>
                <a:ext cx="2829729" cy="4094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180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571643" y="190484"/>
              <a:ext cx="8673508" cy="741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50"/>
                </a:lnSpc>
                <a:spcBef>
                  <a:spcPct val="0"/>
                </a:spcBef>
              </a:pPr>
              <a:r>
                <a:rPr lang="en-US" b="true" sz="3321">
                  <a:solidFill>
                    <a:srgbClr val="16324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Startup aspect​ 1275 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6954500" y="9496425"/>
            <a:ext cx="7620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6E7A86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640308" y="3204909"/>
            <a:ext cx="7007385" cy="3877182"/>
            <a:chOff x="0" y="0"/>
            <a:chExt cx="3042458" cy="16833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042463" cy="1683390"/>
            </a:xfrm>
            <a:custGeom>
              <a:avLst/>
              <a:gdLst/>
              <a:ahLst/>
              <a:cxnLst/>
              <a:rect r="r" b="b" t="t" l="l"/>
              <a:pathLst>
                <a:path h="1683390" w="3042463">
                  <a:moveTo>
                    <a:pt x="0" y="0"/>
                  </a:moveTo>
                  <a:lnTo>
                    <a:pt x="3042463" y="0"/>
                  </a:lnTo>
                  <a:lnTo>
                    <a:pt x="3042463" y="1683390"/>
                  </a:lnTo>
                  <a:lnTo>
                    <a:pt x="0" y="16833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135" r="-204129" b="-4406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3042458" cy="1683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551"/>
                </a:lnSpc>
              </a:pPr>
              <a:r>
                <a:rPr lang="en-US" b="true" sz="10459" spc="-261">
                  <a:solidFill>
                    <a:srgbClr val="16324F"/>
                  </a:solidFill>
                  <a:latin typeface="Roca Two Bold"/>
                  <a:ea typeface="Roca Two Bold"/>
                  <a:cs typeface="Roca Two Bold"/>
                  <a:sym typeface="Roca Two Bold"/>
                </a:rPr>
                <a:t>Conclusion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6954500" y="9496425"/>
            <a:ext cx="7620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6E7A86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33715" y="796233"/>
            <a:ext cx="11212887" cy="1262543"/>
            <a:chOff x="0" y="0"/>
            <a:chExt cx="14950516" cy="16833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950520" cy="1683390"/>
            </a:xfrm>
            <a:custGeom>
              <a:avLst/>
              <a:gdLst/>
              <a:ahLst/>
              <a:cxnLst/>
              <a:rect r="r" b="b" t="t" l="l"/>
              <a:pathLst>
                <a:path h="1683390" w="14950520">
                  <a:moveTo>
                    <a:pt x="0" y="0"/>
                  </a:moveTo>
                  <a:lnTo>
                    <a:pt x="14950520" y="0"/>
                  </a:lnTo>
                  <a:lnTo>
                    <a:pt x="14950520" y="1683390"/>
                  </a:lnTo>
                  <a:lnTo>
                    <a:pt x="0" y="16833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6083" r="0" b="-11001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4950516" cy="1692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911"/>
                </a:lnSpc>
              </a:pPr>
              <a:r>
                <a:rPr lang="en-US" b="true" sz="5759" spc="-143">
                  <a:solidFill>
                    <a:srgbClr val="16324F"/>
                  </a:solidFill>
                  <a:latin typeface="Roca Two Bold"/>
                  <a:ea typeface="Roca Two Bold"/>
                  <a:cs typeface="Roca Two Bold"/>
                  <a:sym typeface="Roca Two Bold"/>
                </a:rPr>
                <a:t>Limitations &amp; Future Work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97156" y="2360114"/>
            <a:ext cx="3143374" cy="536432"/>
            <a:chOff x="0" y="0"/>
            <a:chExt cx="4191165" cy="71524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191160" cy="715243"/>
            </a:xfrm>
            <a:custGeom>
              <a:avLst/>
              <a:gdLst/>
              <a:ahLst/>
              <a:cxnLst/>
              <a:rect r="r" b="b" t="t" l="l"/>
              <a:pathLst>
                <a:path h="715243" w="4191160">
                  <a:moveTo>
                    <a:pt x="0" y="0"/>
                  </a:moveTo>
                  <a:lnTo>
                    <a:pt x="4191160" y="0"/>
                  </a:lnTo>
                  <a:lnTo>
                    <a:pt x="4191160" y="715243"/>
                  </a:lnTo>
                  <a:lnTo>
                    <a:pt x="0" y="715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216" r="0" b="-4613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4191165" cy="7152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51"/>
                </a:lnSpc>
              </a:pPr>
              <a:r>
                <a:rPr lang="en-US" sz="2459" spc="614">
                  <a:solidFill>
                    <a:srgbClr val="6E7A86"/>
                  </a:solidFill>
                  <a:latin typeface="Roca Two"/>
                  <a:ea typeface="Roca Two"/>
                  <a:cs typeface="Roca Two"/>
                  <a:sym typeface="Roca Two"/>
                </a:rPr>
                <a:t>LIMITATIONS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98052" y="3155156"/>
            <a:ext cx="180975" cy="180975"/>
            <a:chOff x="0" y="0"/>
            <a:chExt cx="241300" cy="2413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1300" cy="241300"/>
            </a:xfrm>
            <a:custGeom>
              <a:avLst/>
              <a:gdLst/>
              <a:ahLst/>
              <a:cxnLst/>
              <a:rect r="r" b="b" t="t" l="l"/>
              <a:pathLst>
                <a:path h="241300" w="241300">
                  <a:moveTo>
                    <a:pt x="0" y="120650"/>
                  </a:moveTo>
                  <a:cubicBezTo>
                    <a:pt x="0" y="53975"/>
                    <a:pt x="53975" y="0"/>
                    <a:pt x="120650" y="0"/>
                  </a:cubicBezTo>
                  <a:cubicBezTo>
                    <a:pt x="187325" y="0"/>
                    <a:pt x="241300" y="53975"/>
                    <a:pt x="241300" y="120650"/>
                  </a:cubicBezTo>
                  <a:cubicBezTo>
                    <a:pt x="241300" y="187325"/>
                    <a:pt x="187325" y="241300"/>
                    <a:pt x="120650" y="241300"/>
                  </a:cubicBezTo>
                  <a:cubicBezTo>
                    <a:pt x="53975" y="241300"/>
                    <a:pt x="0" y="187325"/>
                    <a:pt x="0" y="120650"/>
                  </a:cubicBezTo>
                  <a:close/>
                </a:path>
              </a:pathLst>
            </a:custGeom>
            <a:solidFill>
              <a:srgbClr val="E8743B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535906" y="3003794"/>
            <a:ext cx="7420543" cy="105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3"/>
              </a:lnSpc>
            </a:pPr>
            <a:r>
              <a:rPr lang="en-US" sz="3099">
                <a:solidFill>
                  <a:srgbClr val="1A2733"/>
                </a:solidFill>
                <a:latin typeface="Roca Two"/>
                <a:ea typeface="Roca Two"/>
                <a:cs typeface="Roca Two"/>
                <a:sym typeface="Roca Two"/>
              </a:rPr>
              <a:t>P</a:t>
            </a:r>
            <a:r>
              <a:rPr lang="en-US" sz="3099">
                <a:solidFill>
                  <a:srgbClr val="1A2733"/>
                </a:solidFill>
                <a:latin typeface="Roca Two"/>
                <a:ea typeface="Roca Two"/>
                <a:cs typeface="Roca Two"/>
                <a:sym typeface="Roca Two"/>
              </a:rPr>
              <a:t>artly synthetic data: may not fully represent real user behavior.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98052" y="4403084"/>
            <a:ext cx="180975" cy="180975"/>
            <a:chOff x="0" y="0"/>
            <a:chExt cx="241300" cy="2413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1300" cy="241300"/>
            </a:xfrm>
            <a:custGeom>
              <a:avLst/>
              <a:gdLst/>
              <a:ahLst/>
              <a:cxnLst/>
              <a:rect r="r" b="b" t="t" l="l"/>
              <a:pathLst>
                <a:path h="241300" w="241300">
                  <a:moveTo>
                    <a:pt x="0" y="120650"/>
                  </a:moveTo>
                  <a:cubicBezTo>
                    <a:pt x="0" y="53975"/>
                    <a:pt x="53975" y="0"/>
                    <a:pt x="120650" y="0"/>
                  </a:cubicBezTo>
                  <a:cubicBezTo>
                    <a:pt x="187325" y="0"/>
                    <a:pt x="241300" y="53975"/>
                    <a:pt x="241300" y="120650"/>
                  </a:cubicBezTo>
                  <a:cubicBezTo>
                    <a:pt x="241300" y="187325"/>
                    <a:pt x="187325" y="241300"/>
                    <a:pt x="120650" y="241300"/>
                  </a:cubicBezTo>
                  <a:cubicBezTo>
                    <a:pt x="53975" y="241300"/>
                    <a:pt x="0" y="187325"/>
                    <a:pt x="0" y="120650"/>
                  </a:cubicBezTo>
                  <a:close/>
                </a:path>
              </a:pathLst>
            </a:custGeom>
            <a:solidFill>
              <a:srgbClr val="E8743B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535906" y="4251722"/>
            <a:ext cx="7420543" cy="105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3"/>
              </a:lnSpc>
            </a:pPr>
            <a:r>
              <a:rPr lang="en-US" sz="3099">
                <a:solidFill>
                  <a:srgbClr val="1A2733"/>
                </a:solidFill>
                <a:latin typeface="Roca Two"/>
                <a:ea typeface="Roca Two"/>
                <a:cs typeface="Roca Two"/>
                <a:sym typeface="Roca Two"/>
              </a:rPr>
              <a:t>Limit</a:t>
            </a:r>
            <a:r>
              <a:rPr lang="en-US" sz="3099">
                <a:solidFill>
                  <a:srgbClr val="1A2733"/>
                </a:solidFill>
                <a:latin typeface="Roca Two"/>
                <a:ea typeface="Roca Two"/>
                <a:cs typeface="Roca Two"/>
                <a:sym typeface="Roca Two"/>
              </a:rPr>
              <a:t>ed evaluation: needs further testing with real users and specialists.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98052" y="5651002"/>
            <a:ext cx="180975" cy="180975"/>
            <a:chOff x="0" y="0"/>
            <a:chExt cx="241300" cy="2413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1300" cy="241300"/>
            </a:xfrm>
            <a:custGeom>
              <a:avLst/>
              <a:gdLst/>
              <a:ahLst/>
              <a:cxnLst/>
              <a:rect r="r" b="b" t="t" l="l"/>
              <a:pathLst>
                <a:path h="241300" w="241300">
                  <a:moveTo>
                    <a:pt x="0" y="120650"/>
                  </a:moveTo>
                  <a:cubicBezTo>
                    <a:pt x="0" y="53975"/>
                    <a:pt x="53975" y="0"/>
                    <a:pt x="120650" y="0"/>
                  </a:cubicBezTo>
                  <a:cubicBezTo>
                    <a:pt x="187325" y="0"/>
                    <a:pt x="241300" y="53975"/>
                    <a:pt x="241300" y="120650"/>
                  </a:cubicBezTo>
                  <a:cubicBezTo>
                    <a:pt x="241300" y="187325"/>
                    <a:pt x="187325" y="241300"/>
                    <a:pt x="120650" y="241300"/>
                  </a:cubicBezTo>
                  <a:cubicBezTo>
                    <a:pt x="53975" y="241300"/>
                    <a:pt x="0" y="187325"/>
                    <a:pt x="0" y="120650"/>
                  </a:cubicBezTo>
                  <a:close/>
                </a:path>
              </a:pathLst>
            </a:custGeom>
            <a:solidFill>
              <a:srgbClr val="E8743B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535906" y="5499649"/>
            <a:ext cx="7608094" cy="1587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3"/>
              </a:lnSpc>
            </a:pPr>
            <a:r>
              <a:rPr lang="en-US" sz="3099">
                <a:solidFill>
                  <a:srgbClr val="1A2733"/>
                </a:solidFill>
                <a:latin typeface="Roca Two"/>
                <a:ea typeface="Roca Two"/>
                <a:cs typeface="Roca Two"/>
                <a:sym typeface="Roca Two"/>
              </a:rPr>
              <a:t>Limit</a:t>
            </a:r>
            <a:r>
              <a:rPr lang="en-US" sz="3099">
                <a:solidFill>
                  <a:srgbClr val="1A2733"/>
                </a:solidFill>
                <a:latin typeface="Roca Two"/>
                <a:ea typeface="Roca Two"/>
                <a:cs typeface="Roca Two"/>
                <a:sym typeface="Roca Two"/>
              </a:rPr>
              <a:t>ed live data access: the prototype is not connected to real-time Wassit Online or ANEM databases.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509674" y="2360114"/>
            <a:ext cx="3477501" cy="536432"/>
            <a:chOff x="0" y="0"/>
            <a:chExt cx="4636668" cy="71524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636672" cy="715243"/>
            </a:xfrm>
            <a:custGeom>
              <a:avLst/>
              <a:gdLst/>
              <a:ahLst/>
              <a:cxnLst/>
              <a:rect r="r" b="b" t="t" l="l"/>
              <a:pathLst>
                <a:path h="715243" w="4636672">
                  <a:moveTo>
                    <a:pt x="0" y="0"/>
                  </a:moveTo>
                  <a:lnTo>
                    <a:pt x="4636672" y="0"/>
                  </a:lnTo>
                  <a:lnTo>
                    <a:pt x="4636672" y="715243"/>
                  </a:lnTo>
                  <a:lnTo>
                    <a:pt x="0" y="715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4353" r="0" b="-5827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4636668" cy="7152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51"/>
                </a:lnSpc>
              </a:pPr>
              <a:r>
                <a:rPr lang="en-US" sz="2459" spc="614">
                  <a:solidFill>
                    <a:srgbClr val="6E7A86"/>
                  </a:solidFill>
                  <a:latin typeface="Roca Two"/>
                  <a:ea typeface="Roca Two"/>
                  <a:cs typeface="Roca Two"/>
                  <a:sym typeface="Roca Two"/>
                </a:rPr>
                <a:t>FUTURE WORK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601048" y="3155156"/>
            <a:ext cx="180975" cy="180975"/>
            <a:chOff x="0" y="0"/>
            <a:chExt cx="241300" cy="2413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41300" cy="241300"/>
            </a:xfrm>
            <a:custGeom>
              <a:avLst/>
              <a:gdLst/>
              <a:ahLst/>
              <a:cxnLst/>
              <a:rect r="r" b="b" t="t" l="l"/>
              <a:pathLst>
                <a:path h="241300" w="241300">
                  <a:moveTo>
                    <a:pt x="0" y="120650"/>
                  </a:moveTo>
                  <a:cubicBezTo>
                    <a:pt x="0" y="53975"/>
                    <a:pt x="53975" y="0"/>
                    <a:pt x="120650" y="0"/>
                  </a:cubicBezTo>
                  <a:cubicBezTo>
                    <a:pt x="187325" y="0"/>
                    <a:pt x="241300" y="53975"/>
                    <a:pt x="241300" y="120650"/>
                  </a:cubicBezTo>
                  <a:cubicBezTo>
                    <a:pt x="241300" y="187325"/>
                    <a:pt x="187325" y="241300"/>
                    <a:pt x="120650" y="241300"/>
                  </a:cubicBezTo>
                  <a:cubicBezTo>
                    <a:pt x="53975" y="241300"/>
                    <a:pt x="0" y="187325"/>
                    <a:pt x="0" y="120650"/>
                  </a:cubicBezTo>
                  <a:close/>
                </a:path>
              </a:pathLst>
            </a:custGeom>
            <a:solidFill>
              <a:srgbClr val="2A9D8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0029673" y="3041508"/>
            <a:ext cx="8469702" cy="3010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7"/>
              </a:lnSpc>
            </a:pPr>
            <a:r>
              <a:rPr lang="en-US" sz="2935">
                <a:solidFill>
                  <a:srgbClr val="1A2733"/>
                </a:solidFill>
                <a:latin typeface="Roca Two"/>
                <a:ea typeface="Roca Two"/>
                <a:cs typeface="Roca Two"/>
                <a:sym typeface="Roca Two"/>
              </a:rPr>
              <a:t>ext</a:t>
            </a:r>
            <a:r>
              <a:rPr lang="en-US" sz="2935">
                <a:solidFill>
                  <a:srgbClr val="1A2733"/>
                </a:solidFill>
                <a:latin typeface="Roca Two"/>
                <a:ea typeface="Roca Two"/>
                <a:cs typeface="Roca Two"/>
                <a:sym typeface="Roca Two"/>
              </a:rPr>
              <a:t>end the hosted RequAI platform toward Wassit/ANEM integration and real user testing.</a:t>
            </a:r>
          </a:p>
          <a:p>
            <a:pPr algn="l">
              <a:lnSpc>
                <a:spcPts val="4045"/>
              </a:lnSpc>
            </a:pPr>
          </a:p>
          <a:p>
            <a:pPr algn="l">
              <a:lnSpc>
                <a:spcPts val="4045"/>
              </a:lnSpc>
            </a:pPr>
          </a:p>
          <a:p>
            <a:pPr algn="l">
              <a:lnSpc>
                <a:spcPts val="4045"/>
              </a:lnSpc>
            </a:pPr>
          </a:p>
          <a:p>
            <a:pPr algn="l">
              <a:lnSpc>
                <a:spcPts val="4045"/>
              </a:lnSpc>
            </a:pPr>
          </a:p>
        </p:txBody>
      </p:sp>
      <p:grpSp>
        <p:nvGrpSpPr>
          <p:cNvPr name="Group 25" id="25"/>
          <p:cNvGrpSpPr/>
          <p:nvPr/>
        </p:nvGrpSpPr>
        <p:grpSpPr>
          <a:xfrm rot="0">
            <a:off x="9601048" y="4512764"/>
            <a:ext cx="180975" cy="180975"/>
            <a:chOff x="0" y="0"/>
            <a:chExt cx="241300" cy="2413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41300" cy="241300"/>
            </a:xfrm>
            <a:custGeom>
              <a:avLst/>
              <a:gdLst/>
              <a:ahLst/>
              <a:cxnLst/>
              <a:rect r="r" b="b" t="t" l="l"/>
              <a:pathLst>
                <a:path h="241300" w="241300">
                  <a:moveTo>
                    <a:pt x="0" y="120650"/>
                  </a:moveTo>
                  <a:cubicBezTo>
                    <a:pt x="0" y="53975"/>
                    <a:pt x="53975" y="0"/>
                    <a:pt x="120650" y="0"/>
                  </a:cubicBezTo>
                  <a:cubicBezTo>
                    <a:pt x="187325" y="0"/>
                    <a:pt x="241300" y="53975"/>
                    <a:pt x="241300" y="120650"/>
                  </a:cubicBezTo>
                  <a:cubicBezTo>
                    <a:pt x="241300" y="187325"/>
                    <a:pt x="187325" y="241300"/>
                    <a:pt x="120650" y="241300"/>
                  </a:cubicBezTo>
                  <a:cubicBezTo>
                    <a:pt x="53975" y="241300"/>
                    <a:pt x="0" y="187325"/>
                    <a:pt x="0" y="120650"/>
                  </a:cubicBezTo>
                  <a:close/>
                </a:path>
              </a:pathLst>
            </a:custGeom>
            <a:solidFill>
              <a:srgbClr val="2A9D8F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0029673" y="4493571"/>
            <a:ext cx="7894958" cy="105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3"/>
              </a:lnSpc>
            </a:pPr>
            <a:r>
              <a:rPr lang="en-US" sz="3099">
                <a:solidFill>
                  <a:srgbClr val="1A2733"/>
                </a:solidFill>
                <a:latin typeface="Roca Two"/>
                <a:ea typeface="Roca Two"/>
                <a:cs typeface="Roca Two"/>
                <a:sym typeface="Roca Two"/>
              </a:rPr>
              <a:t>Voice input and broader Darija dialect</a:t>
            </a:r>
          </a:p>
          <a:p>
            <a:pPr algn="l">
              <a:lnSpc>
                <a:spcPts val="4273"/>
              </a:lnSpc>
            </a:pPr>
            <a:r>
              <a:rPr lang="en-US" sz="3099">
                <a:solidFill>
                  <a:srgbClr val="1A2733"/>
                </a:solidFill>
                <a:latin typeface="Roca Two"/>
                <a:ea typeface="Roca Two"/>
                <a:cs typeface="Roca Two"/>
                <a:sym typeface="Roca Two"/>
              </a:rPr>
              <a:t>coverage.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954500" y="9505950"/>
            <a:ext cx="76200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6E7A86"/>
                </a:solidFill>
                <a:latin typeface="Roca Two Bold"/>
                <a:ea typeface="Roca Two Bold"/>
                <a:cs typeface="Roca Two Bold"/>
                <a:sym typeface="Roca Two Bold"/>
              </a:rPr>
              <a:t>36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601048" y="5770064"/>
            <a:ext cx="180975" cy="180975"/>
            <a:chOff x="0" y="0"/>
            <a:chExt cx="241300" cy="2413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41300" cy="241300"/>
            </a:xfrm>
            <a:custGeom>
              <a:avLst/>
              <a:gdLst/>
              <a:ahLst/>
              <a:cxnLst/>
              <a:rect r="r" b="b" t="t" l="l"/>
              <a:pathLst>
                <a:path h="241300" w="241300">
                  <a:moveTo>
                    <a:pt x="0" y="120650"/>
                  </a:moveTo>
                  <a:cubicBezTo>
                    <a:pt x="0" y="53975"/>
                    <a:pt x="53975" y="0"/>
                    <a:pt x="120650" y="0"/>
                  </a:cubicBezTo>
                  <a:cubicBezTo>
                    <a:pt x="187325" y="0"/>
                    <a:pt x="241300" y="53975"/>
                    <a:pt x="241300" y="120650"/>
                  </a:cubicBezTo>
                  <a:cubicBezTo>
                    <a:pt x="241300" y="187325"/>
                    <a:pt x="187325" y="241300"/>
                    <a:pt x="120650" y="241300"/>
                  </a:cubicBezTo>
                  <a:cubicBezTo>
                    <a:pt x="53975" y="241300"/>
                    <a:pt x="0" y="187325"/>
                    <a:pt x="0" y="120650"/>
                  </a:cubicBezTo>
                  <a:close/>
                </a:path>
              </a:pathLst>
            </a:custGeom>
            <a:solidFill>
              <a:srgbClr val="2A9D8F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0162092" y="5655764"/>
            <a:ext cx="7677598" cy="105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3"/>
              </a:lnSpc>
            </a:pPr>
            <a:r>
              <a:rPr lang="en-US" sz="3099">
                <a:solidFill>
                  <a:srgbClr val="1A2733"/>
                </a:solidFill>
                <a:latin typeface="Roca Two"/>
                <a:ea typeface="Roca Two"/>
                <a:cs typeface="Roca Two"/>
                <a:sym typeface="Roca Two"/>
              </a:rPr>
              <a:t>Impr</a:t>
            </a:r>
            <a:r>
              <a:rPr lang="en-US" sz="3099">
                <a:solidFill>
                  <a:srgbClr val="1A2733"/>
                </a:solidFill>
                <a:latin typeface="Roca Two"/>
                <a:ea typeface="Roca Two"/>
                <a:cs typeface="Roca Two"/>
                <a:sym typeface="Roca Two"/>
              </a:rPr>
              <a:t>ove job matching by considering soft skills and user preferences.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601048" y="7027364"/>
            <a:ext cx="180975" cy="180975"/>
            <a:chOff x="0" y="0"/>
            <a:chExt cx="241300" cy="2413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41300" cy="241300"/>
            </a:xfrm>
            <a:custGeom>
              <a:avLst/>
              <a:gdLst/>
              <a:ahLst/>
              <a:cxnLst/>
              <a:rect r="r" b="b" t="t" l="l"/>
              <a:pathLst>
                <a:path h="241300" w="241300">
                  <a:moveTo>
                    <a:pt x="0" y="120650"/>
                  </a:moveTo>
                  <a:cubicBezTo>
                    <a:pt x="0" y="53975"/>
                    <a:pt x="53975" y="0"/>
                    <a:pt x="120650" y="0"/>
                  </a:cubicBezTo>
                  <a:cubicBezTo>
                    <a:pt x="187325" y="0"/>
                    <a:pt x="241300" y="53975"/>
                    <a:pt x="241300" y="120650"/>
                  </a:cubicBezTo>
                  <a:cubicBezTo>
                    <a:pt x="241300" y="187325"/>
                    <a:pt x="187325" y="241300"/>
                    <a:pt x="120650" y="241300"/>
                  </a:cubicBezTo>
                  <a:cubicBezTo>
                    <a:pt x="53975" y="241300"/>
                    <a:pt x="0" y="187325"/>
                    <a:pt x="0" y="120650"/>
                  </a:cubicBezTo>
                  <a:close/>
                </a:path>
              </a:pathLst>
            </a:custGeom>
            <a:solidFill>
              <a:srgbClr val="2A9D8F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0165775" y="6907313"/>
            <a:ext cx="7677598" cy="3720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3"/>
              </a:lnSpc>
            </a:pPr>
            <a:r>
              <a:rPr lang="en-US" sz="3099">
                <a:solidFill>
                  <a:srgbClr val="1A2733"/>
                </a:solidFill>
                <a:latin typeface="Roca Two"/>
                <a:ea typeface="Roca Two"/>
                <a:cs typeface="Roca Two"/>
                <a:sym typeface="Roca Two"/>
              </a:rPr>
              <a:t>Add empl</a:t>
            </a:r>
            <a:r>
              <a:rPr lang="en-US" sz="3099">
                <a:solidFill>
                  <a:srgbClr val="1A2733"/>
                </a:solidFill>
                <a:latin typeface="Roca Two"/>
                <a:ea typeface="Roca Two"/>
                <a:cs typeface="Roca Two"/>
                <a:sym typeface="Roca Two"/>
              </a:rPr>
              <a:t>oyer-side features such as publishing offers and managing applications.</a:t>
            </a:r>
          </a:p>
          <a:p>
            <a:pPr algn="l">
              <a:lnSpc>
                <a:spcPts val="4271"/>
              </a:lnSpc>
            </a:pPr>
          </a:p>
          <a:p>
            <a:pPr algn="l">
              <a:lnSpc>
                <a:spcPts val="4271"/>
              </a:lnSpc>
            </a:pPr>
          </a:p>
          <a:p>
            <a:pPr algn="l">
              <a:lnSpc>
                <a:spcPts val="4271"/>
              </a:lnSpc>
            </a:pPr>
          </a:p>
          <a:p>
            <a:pPr algn="l">
              <a:lnSpc>
                <a:spcPts val="4271"/>
              </a:lnSpc>
            </a:pP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6324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192250" y="7418596"/>
            <a:ext cx="5524500" cy="5524500"/>
            <a:chOff x="0" y="0"/>
            <a:chExt cx="7366000" cy="736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366000" cy="7366000"/>
            </a:xfrm>
            <a:custGeom>
              <a:avLst/>
              <a:gdLst/>
              <a:ahLst/>
              <a:cxnLst/>
              <a:rect r="r" b="b" t="t" l="l"/>
              <a:pathLst>
                <a:path h="7366000" w="7366000">
                  <a:moveTo>
                    <a:pt x="0" y="3683000"/>
                  </a:moveTo>
                  <a:cubicBezTo>
                    <a:pt x="0" y="1648968"/>
                    <a:pt x="1648968" y="0"/>
                    <a:pt x="3683000" y="0"/>
                  </a:cubicBezTo>
                  <a:cubicBezTo>
                    <a:pt x="5717032" y="0"/>
                    <a:pt x="7366000" y="1648968"/>
                    <a:pt x="7366000" y="3683000"/>
                  </a:cubicBezTo>
                  <a:cubicBezTo>
                    <a:pt x="7366000" y="5717032"/>
                    <a:pt x="5717032" y="7366000"/>
                    <a:pt x="3683000" y="7366000"/>
                  </a:cubicBezTo>
                  <a:cubicBezTo>
                    <a:pt x="1648968" y="7366000"/>
                    <a:pt x="0" y="5717032"/>
                    <a:pt x="0" y="3683000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893574" y="427545"/>
            <a:ext cx="8998299" cy="1290975"/>
            <a:chOff x="0" y="0"/>
            <a:chExt cx="11997732" cy="172129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997735" cy="1721301"/>
            </a:xfrm>
            <a:custGeom>
              <a:avLst/>
              <a:gdLst/>
              <a:ahLst/>
              <a:cxnLst/>
              <a:rect r="r" b="b" t="t" l="l"/>
              <a:pathLst>
                <a:path h="1721301" w="11997735">
                  <a:moveTo>
                    <a:pt x="0" y="0"/>
                  </a:moveTo>
                  <a:lnTo>
                    <a:pt x="11997735" y="0"/>
                  </a:lnTo>
                  <a:lnTo>
                    <a:pt x="11997735" y="1721301"/>
                  </a:lnTo>
                  <a:lnTo>
                    <a:pt x="0" y="17213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033" r="60665" b="3219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9525"/>
              <a:ext cx="11997732" cy="17117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079"/>
                </a:lnSpc>
              </a:pPr>
              <a:r>
                <a:rPr lang="en-US" b="true" sz="5899" spc="1775">
                  <a:solidFill>
                    <a:srgbClr val="E8743B"/>
                  </a:solidFill>
                  <a:latin typeface="Roca Two Bold"/>
                  <a:ea typeface="Roca Two Bold"/>
                  <a:cs typeface="Roca Two Bold"/>
                  <a:sym typeface="Roca Two Bold"/>
                </a:rPr>
                <a:t>CONCLUSION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92406" y="2064391"/>
            <a:ext cx="12779273" cy="1444036"/>
            <a:chOff x="0" y="0"/>
            <a:chExt cx="17039031" cy="192538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039034" cy="1925382"/>
            </a:xfrm>
            <a:custGeom>
              <a:avLst/>
              <a:gdLst/>
              <a:ahLst/>
              <a:cxnLst/>
              <a:rect r="r" b="b" t="t" l="l"/>
              <a:pathLst>
                <a:path h="1925382" w="17039034">
                  <a:moveTo>
                    <a:pt x="0" y="0"/>
                  </a:moveTo>
                  <a:lnTo>
                    <a:pt x="17039034" y="0"/>
                  </a:lnTo>
                  <a:lnTo>
                    <a:pt x="17039034" y="1925382"/>
                  </a:lnTo>
                  <a:lnTo>
                    <a:pt x="0" y="19253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5168" r="0" b="-10970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7039031" cy="1925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944"/>
                </a:lnSpc>
              </a:pPr>
              <a:r>
                <a:rPr lang="en-US" sz="6620">
                  <a:solidFill>
                    <a:srgbClr val="FFFFFF"/>
                  </a:solidFill>
                  <a:latin typeface="Roca Two"/>
                  <a:ea typeface="Roca Two"/>
                  <a:cs typeface="Roca Two"/>
                  <a:sym typeface="Roca Two"/>
                </a:rPr>
                <a:t>RequAI brings semantic,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92406" y="2933852"/>
            <a:ext cx="12801524" cy="1444036"/>
            <a:chOff x="0" y="0"/>
            <a:chExt cx="17068698" cy="192538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068701" cy="1925382"/>
            </a:xfrm>
            <a:custGeom>
              <a:avLst/>
              <a:gdLst/>
              <a:ahLst/>
              <a:cxnLst/>
              <a:rect r="r" b="b" t="t" l="l"/>
              <a:pathLst>
                <a:path h="1925382" w="17068701">
                  <a:moveTo>
                    <a:pt x="0" y="0"/>
                  </a:moveTo>
                  <a:lnTo>
                    <a:pt x="17068701" y="0"/>
                  </a:lnTo>
                  <a:lnTo>
                    <a:pt x="17068701" y="1925382"/>
                  </a:lnTo>
                  <a:lnTo>
                    <a:pt x="0" y="19253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5468" r="0" b="-11000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17068698" cy="1925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944"/>
                </a:lnSpc>
              </a:pPr>
              <a:r>
                <a:rPr lang="en-US" sz="6620">
                  <a:solidFill>
                    <a:srgbClr val="FFFFFF"/>
                  </a:solidFill>
                  <a:latin typeface="Roca Two"/>
                  <a:ea typeface="Roca Two"/>
                  <a:cs typeface="Roca Two"/>
                  <a:sym typeface="Roca Two"/>
                </a:rPr>
                <a:t>multilingual recruitment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92406" y="3819677"/>
            <a:ext cx="14835159" cy="1444036"/>
            <a:chOff x="0" y="0"/>
            <a:chExt cx="19780212" cy="192538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80211" cy="1925382"/>
            </a:xfrm>
            <a:custGeom>
              <a:avLst/>
              <a:gdLst/>
              <a:ahLst/>
              <a:cxnLst/>
              <a:rect r="r" b="b" t="t" l="l"/>
              <a:pathLst>
                <a:path h="1925382" w="19780211">
                  <a:moveTo>
                    <a:pt x="0" y="0"/>
                  </a:moveTo>
                  <a:lnTo>
                    <a:pt x="19780211" y="0"/>
                  </a:lnTo>
                  <a:lnTo>
                    <a:pt x="19780211" y="1925382"/>
                  </a:lnTo>
                  <a:lnTo>
                    <a:pt x="0" y="19253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2909" r="0" b="-13744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80212" cy="1925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944"/>
                </a:lnSpc>
              </a:pPr>
              <a:r>
                <a:rPr lang="en-US" sz="6620">
                  <a:solidFill>
                    <a:srgbClr val="FFFFFF"/>
                  </a:solidFill>
                  <a:latin typeface="Roca Two"/>
                  <a:ea typeface="Roca Two"/>
                  <a:cs typeface="Roca Two"/>
                  <a:sym typeface="Roca Two"/>
                </a:rPr>
                <a:t>assistance to Wassit Online.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6954500" y="9496425"/>
            <a:ext cx="7620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6E7A86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6324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17224" y="0"/>
            <a:ext cx="18288000" cy="10287000"/>
            <a:chOff x="0" y="0"/>
            <a:chExt cx="2438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608512" y="7524750"/>
            <a:ext cx="5524500" cy="5524500"/>
            <a:chOff x="0" y="0"/>
            <a:chExt cx="7366000" cy="736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366000" cy="7366000"/>
            </a:xfrm>
            <a:custGeom>
              <a:avLst/>
              <a:gdLst/>
              <a:ahLst/>
              <a:cxnLst/>
              <a:rect r="r" b="b" t="t" l="l"/>
              <a:pathLst>
                <a:path h="7366000" w="7366000">
                  <a:moveTo>
                    <a:pt x="0" y="3683000"/>
                  </a:moveTo>
                  <a:cubicBezTo>
                    <a:pt x="0" y="1648968"/>
                    <a:pt x="1648968" y="0"/>
                    <a:pt x="3683000" y="0"/>
                  </a:cubicBezTo>
                  <a:cubicBezTo>
                    <a:pt x="5717032" y="0"/>
                    <a:pt x="7366000" y="1648968"/>
                    <a:pt x="7366000" y="3683000"/>
                  </a:cubicBezTo>
                  <a:cubicBezTo>
                    <a:pt x="7366000" y="5717032"/>
                    <a:pt x="5717032" y="7366000"/>
                    <a:pt x="3683000" y="7366000"/>
                  </a:cubicBezTo>
                  <a:cubicBezTo>
                    <a:pt x="1648968" y="7366000"/>
                    <a:pt x="0" y="5717032"/>
                    <a:pt x="0" y="3683000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4270076" y="1755666"/>
            <a:ext cx="8998299" cy="1965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89"/>
              </a:lnSpc>
              <a:spcBef>
                <a:spcPct val="0"/>
              </a:spcBef>
            </a:pPr>
            <a:r>
              <a:rPr lang="en-US" b="true" sz="11598">
                <a:solidFill>
                  <a:srgbClr val="E8743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Thank You!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905052" y="4387688"/>
            <a:ext cx="8363323" cy="755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5"/>
              </a:lnSpc>
              <a:spcBef>
                <a:spcPct val="0"/>
              </a:spcBef>
            </a:pPr>
            <a:r>
              <a:rPr lang="en-US" sz="4472">
                <a:solidFill>
                  <a:srgbClr val="F9F9FB"/>
                </a:solidFill>
                <a:latin typeface="IBM Plex Sans"/>
                <a:ea typeface="IBM Plex Sans"/>
                <a:cs typeface="IBM Plex Sans"/>
                <a:sym typeface="IBM Plex Sans"/>
              </a:rPr>
              <a:t>Questions? Discussion Welcome.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83995" y="6771913"/>
            <a:ext cx="12205437" cy="1620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7"/>
              </a:lnSpc>
              <a:spcBef>
                <a:spcPct val="0"/>
              </a:spcBef>
            </a:pPr>
            <a:r>
              <a:rPr lang="en-US" sz="314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RequAl: Smart Recruitment Assistant </a:t>
            </a:r>
          </a:p>
          <a:p>
            <a:pPr algn="ctr">
              <a:lnSpc>
                <a:spcPts val="4327"/>
              </a:lnSpc>
              <a:spcBef>
                <a:spcPct val="0"/>
              </a:spcBef>
            </a:pPr>
            <a:r>
              <a:rPr lang="en-US" sz="314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Benameur Khaoula &amp; Nedjem Mohamed Anis </a:t>
            </a:r>
          </a:p>
          <a:p>
            <a:pPr algn="ctr">
              <a:lnSpc>
                <a:spcPts val="4329"/>
              </a:lnSpc>
              <a:spcBef>
                <a:spcPct val="0"/>
              </a:spcBef>
            </a:pPr>
            <a:r>
              <a:rPr lang="en-US" sz="314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University Constantine 2 - Abdelhamid Mehri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954500" y="9496425"/>
            <a:ext cx="7620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6E7A86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38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DAHMGMCrzVY</dc:identifier>
  <dcterms:modified xsi:type="dcterms:W3CDTF">2011-08-01T06:04:30Z</dcterms:modified>
  <cp:revision>1</cp:revision>
  <dc:title>PFE</dc:title>
</cp:coreProperties>
</file>